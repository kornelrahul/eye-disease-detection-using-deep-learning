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5"/>
  </p:notesMasterIdLst>
  <p:handoutMasterIdLst>
    <p:handoutMasterId r:id="rId16"/>
  </p:handoutMasterIdLst>
  <p:sldIdLst>
    <p:sldId id="256" r:id="rId2"/>
    <p:sldId id="287" r:id="rId3"/>
    <p:sldId id="288" r:id="rId4"/>
    <p:sldId id="296" r:id="rId5"/>
    <p:sldId id="311" r:id="rId6"/>
    <p:sldId id="301" r:id="rId7"/>
    <p:sldId id="298" r:id="rId8"/>
    <p:sldId id="310" r:id="rId9"/>
    <p:sldId id="305" r:id="rId10"/>
    <p:sldId id="314" r:id="rId11"/>
    <p:sldId id="302" r:id="rId12"/>
    <p:sldId id="295" r:id="rId13"/>
    <p:sldId id="31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C000"/>
    <a:srgbClr val="454486"/>
    <a:srgbClr val="FAA41A"/>
    <a:srgbClr val="00A0E3"/>
    <a:srgbClr val="C81E8A"/>
    <a:srgbClr val="286A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59" autoAdjust="0"/>
    <p:restoredTop sz="94061" autoAdjust="0"/>
  </p:normalViewPr>
  <p:slideViewPr>
    <p:cSldViewPr snapToGrid="0">
      <p:cViewPr varScale="1">
        <p:scale>
          <a:sx n="81" d="100"/>
          <a:sy n="81" d="100"/>
        </p:scale>
        <p:origin x="658" y="48"/>
      </p:cViewPr>
      <p:guideLst>
        <p:guide orient="horz" pos="2160"/>
        <p:guide pos="3840"/>
        <p:guide pos="7296"/>
        <p:guide orient="horz" pos="4128"/>
      </p:guideLst>
    </p:cSldViewPr>
  </p:slideViewPr>
  <p:outlineViewPr>
    <p:cViewPr>
      <p:scale>
        <a:sx n="33" d="100"/>
        <a:sy n="33" d="100"/>
      </p:scale>
      <p:origin x="0" y="0"/>
    </p:cViewPr>
  </p:outlineViewPr>
  <p:notesTextViewPr>
    <p:cViewPr>
      <p:scale>
        <a:sx n="3" d="2"/>
        <a:sy n="3" d="2"/>
      </p:scale>
      <p:origin x="0" y="0"/>
    </p:cViewPr>
  </p:notesTextViewPr>
  <p:notesViewPr>
    <p:cSldViewPr snapToGrid="0" showGuides="1">
      <p:cViewPr varScale="1">
        <p:scale>
          <a:sx n="76" d="100"/>
          <a:sy n="76" d="100"/>
        </p:scale>
        <p:origin x="253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8796EA6-6F25-4F19-87BA-7ADCC16DAEFF}" type="datetimeFigureOut">
              <a:rPr lang="en-US" smtClean="0"/>
              <a:pPr/>
              <a:t>9/24/2024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64E50CC-F33A-4EF4-9F12-93EC4A21A0CF}" type="slidenum">
              <a:rPr lang="en-US" smtClean="0"/>
              <a:pPr/>
              <a:t>‹#›</a:t>
            </a:fld>
            <a:endParaRPr lang="en-US" dirty="0"/>
          </a:p>
        </p:txBody>
      </p:sp>
    </p:spTree>
    <p:extLst>
      <p:ext uri="{BB962C8B-B14F-4D97-AF65-F5344CB8AC3E}">
        <p14:creationId xmlns:p14="http://schemas.microsoft.com/office/powerpoint/2010/main" val="1323295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9C172E-A8B5-46F6-B05C-DFA3E2E0F207}" type="datetimeFigureOut">
              <a:rPr lang="en-US" smtClean="0"/>
              <a:pPr/>
              <a:t>9/24/2024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674CE4-FBD8-4481-AEFB-CA53E599A745}" type="slidenum">
              <a:rPr lang="en-US" smtClean="0"/>
              <a:pPr/>
              <a:t>‹#›</a:t>
            </a:fld>
            <a:endParaRPr lang="en-US" dirty="0"/>
          </a:p>
        </p:txBody>
      </p:sp>
    </p:spTree>
    <p:extLst>
      <p:ext uri="{BB962C8B-B14F-4D97-AF65-F5344CB8AC3E}">
        <p14:creationId xmlns:p14="http://schemas.microsoft.com/office/powerpoint/2010/main" val="1273268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F2FD335-6D8E-486A-8F5F-DFC7325903FF}" type="slidenum">
              <a:rPr lang="en-US" smtClean="0"/>
              <a:pPr/>
              <a:t>2</a:t>
            </a:fld>
            <a:endParaRPr lang="en-US" dirty="0"/>
          </a:p>
        </p:txBody>
      </p:sp>
    </p:spTree>
    <p:extLst>
      <p:ext uri="{BB962C8B-B14F-4D97-AF65-F5344CB8AC3E}">
        <p14:creationId xmlns:p14="http://schemas.microsoft.com/office/powerpoint/2010/main" val="16789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F2FD335-6D8E-486A-8F5F-DFC7325903FF}" type="slidenum">
              <a:rPr lang="en-US" smtClean="0"/>
              <a:pPr/>
              <a:t>3</a:t>
            </a:fld>
            <a:endParaRPr lang="en-US" dirty="0"/>
          </a:p>
        </p:txBody>
      </p:sp>
    </p:spTree>
    <p:extLst>
      <p:ext uri="{BB962C8B-B14F-4D97-AF65-F5344CB8AC3E}">
        <p14:creationId xmlns:p14="http://schemas.microsoft.com/office/powerpoint/2010/main" val="237949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F2FD335-6D8E-486A-8F5F-DFC7325903FF}" type="slidenum">
              <a:rPr lang="en-US" smtClean="0"/>
              <a:pPr/>
              <a:t>4</a:t>
            </a:fld>
            <a:endParaRPr lang="en-US" dirty="0"/>
          </a:p>
        </p:txBody>
      </p:sp>
    </p:spTree>
    <p:extLst>
      <p:ext uri="{BB962C8B-B14F-4D97-AF65-F5344CB8AC3E}">
        <p14:creationId xmlns:p14="http://schemas.microsoft.com/office/powerpoint/2010/main" val="874910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F2FD335-6D8E-486A-8F5F-DFC7325903FF}" type="slidenum">
              <a:rPr lang="en-US" smtClean="0"/>
              <a:pPr/>
              <a:t>5</a:t>
            </a:fld>
            <a:endParaRPr lang="en-US" dirty="0"/>
          </a:p>
        </p:txBody>
      </p:sp>
    </p:spTree>
    <p:extLst>
      <p:ext uri="{BB962C8B-B14F-4D97-AF65-F5344CB8AC3E}">
        <p14:creationId xmlns:p14="http://schemas.microsoft.com/office/powerpoint/2010/main" val="4140922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F2FD335-6D8E-486A-8F5F-DFC7325903FF}" type="slidenum">
              <a:rPr lang="en-US" smtClean="0"/>
              <a:pPr/>
              <a:t>6</a:t>
            </a:fld>
            <a:endParaRPr lang="en-US" dirty="0"/>
          </a:p>
        </p:txBody>
      </p:sp>
    </p:spTree>
    <p:extLst>
      <p:ext uri="{BB962C8B-B14F-4D97-AF65-F5344CB8AC3E}">
        <p14:creationId xmlns:p14="http://schemas.microsoft.com/office/powerpoint/2010/main" val="3970669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F2FD335-6D8E-486A-8F5F-DFC7325903FF}" type="slidenum">
              <a:rPr lang="en-US" smtClean="0"/>
              <a:pPr/>
              <a:t>7</a:t>
            </a:fld>
            <a:endParaRPr lang="en-US" dirty="0"/>
          </a:p>
        </p:txBody>
      </p:sp>
    </p:spTree>
    <p:extLst>
      <p:ext uri="{BB962C8B-B14F-4D97-AF65-F5344CB8AC3E}">
        <p14:creationId xmlns:p14="http://schemas.microsoft.com/office/powerpoint/2010/main" val="1621073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F2FD335-6D8E-486A-8F5F-DFC7325903FF}" type="slidenum">
              <a:rPr lang="en-US" smtClean="0"/>
              <a:pPr/>
              <a:t>8</a:t>
            </a:fld>
            <a:endParaRPr lang="en-US" dirty="0"/>
          </a:p>
        </p:txBody>
      </p:sp>
    </p:spTree>
    <p:extLst>
      <p:ext uri="{BB962C8B-B14F-4D97-AF65-F5344CB8AC3E}">
        <p14:creationId xmlns:p14="http://schemas.microsoft.com/office/powerpoint/2010/main" val="650347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F2FD335-6D8E-486A-8F5F-DFC7325903FF}" type="slidenum">
              <a:rPr lang="en-US" smtClean="0"/>
              <a:pPr/>
              <a:t>9</a:t>
            </a:fld>
            <a:endParaRPr lang="en-US" dirty="0"/>
          </a:p>
        </p:txBody>
      </p:sp>
    </p:spTree>
    <p:extLst>
      <p:ext uri="{BB962C8B-B14F-4D97-AF65-F5344CB8AC3E}">
        <p14:creationId xmlns:p14="http://schemas.microsoft.com/office/powerpoint/2010/main" val="3888054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F2FD335-6D8E-486A-8F5F-DFC7325903FF}" type="slidenum">
              <a:rPr lang="en-US" smtClean="0"/>
              <a:pPr/>
              <a:t>10</a:t>
            </a:fld>
            <a:endParaRPr lang="en-US" dirty="0"/>
          </a:p>
        </p:txBody>
      </p:sp>
    </p:spTree>
    <p:extLst>
      <p:ext uri="{BB962C8B-B14F-4D97-AF65-F5344CB8AC3E}">
        <p14:creationId xmlns:p14="http://schemas.microsoft.com/office/powerpoint/2010/main" val="3122782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F2FD335-6D8E-486A-8F5F-DFC7325903FF}" type="slidenum">
              <a:rPr lang="en-US" smtClean="0"/>
              <a:pPr/>
              <a:t>11</a:t>
            </a:fld>
            <a:endParaRPr lang="en-US" dirty="0"/>
          </a:p>
        </p:txBody>
      </p:sp>
    </p:spTree>
    <p:extLst>
      <p:ext uri="{BB962C8B-B14F-4D97-AF65-F5344CB8AC3E}">
        <p14:creationId xmlns:p14="http://schemas.microsoft.com/office/powerpoint/2010/main" val="3455064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F2FD335-6D8E-486A-8F5F-DFC7325903FF}" type="slidenum">
              <a:rPr lang="en-US" smtClean="0"/>
              <a:pPr/>
              <a:t>12</a:t>
            </a:fld>
            <a:endParaRPr lang="en-US" dirty="0"/>
          </a:p>
        </p:txBody>
      </p:sp>
    </p:spTree>
    <p:extLst>
      <p:ext uri="{BB962C8B-B14F-4D97-AF65-F5344CB8AC3E}">
        <p14:creationId xmlns:p14="http://schemas.microsoft.com/office/powerpoint/2010/main" val="16799097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D4AC7-F558-FBC6-C32E-EF26A5E3D8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ABAFF-2F1A-F80F-4E80-902EEEA42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7827D4-5A78-6FA7-412C-9C4BE3233872}"/>
              </a:ext>
            </a:extLst>
          </p:cNvPr>
          <p:cNvSpPr>
            <a:spLocks noGrp="1"/>
          </p:cNvSpPr>
          <p:nvPr>
            <p:ph type="body" idx="1"/>
          </p:nvPr>
        </p:nvSpPr>
        <p:spPr/>
        <p:txBody>
          <a:bodyPr/>
          <a:lstStyle/>
          <a:p>
            <a:pPr marL="171450" indent="-17145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12E06C3F-B6F6-3B4D-993F-F47F35F11A37}"/>
              </a:ext>
            </a:extLst>
          </p:cNvPr>
          <p:cNvSpPr>
            <a:spLocks noGrp="1"/>
          </p:cNvSpPr>
          <p:nvPr>
            <p:ph type="sldNum" sz="quarter" idx="10"/>
          </p:nvPr>
        </p:nvSpPr>
        <p:spPr/>
        <p:txBody>
          <a:bodyPr/>
          <a:lstStyle/>
          <a:p>
            <a:fld id="{CF2FD335-6D8E-486A-8F5F-DFC7325903FF}" type="slidenum">
              <a:rPr lang="en-US" smtClean="0"/>
              <a:pPr/>
              <a:t>13</a:t>
            </a:fld>
            <a:endParaRPr lang="en-US" dirty="0"/>
          </a:p>
        </p:txBody>
      </p:sp>
    </p:spTree>
    <p:extLst>
      <p:ext uri="{BB962C8B-B14F-4D97-AF65-F5344CB8AC3E}">
        <p14:creationId xmlns:p14="http://schemas.microsoft.com/office/powerpoint/2010/main" val="25193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9" name="Rectangle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3" name="Rectangle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4" name="Rectangle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5" name="Rectangle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6" name="Rectangle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7" name="Rectangle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useBgFill="1">
        <p:nvSpPr>
          <p:cNvPr id="30" name="Rounded Rectangle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useBgFill="1">
        <p:nvSpPr>
          <p:cNvPr id="31" name="Rounded Rectangle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7" name="Rectangle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0" name="Rectangle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1" name="Rectangle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8" name="Title 7"/>
          <p:cNvSpPr>
            <a:spLocks noGrp="1"/>
          </p:cNvSpPr>
          <p:nvPr>
            <p:ph type="ctrTitle"/>
          </p:nvPr>
        </p:nvSpPr>
        <p:spPr>
          <a:xfrm>
            <a:off x="609600" y="2389009"/>
            <a:ext cx="112776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dirty="0"/>
          </a:p>
        </p:txBody>
      </p:sp>
      <p:sp>
        <p:nvSpPr>
          <p:cNvPr id="17" name="Footer Placeholder 16"/>
          <p:cNvSpPr>
            <a:spLocks noGrp="1"/>
          </p:cNvSpPr>
          <p:nvPr>
            <p:ph type="ftr" sz="quarter" idx="11"/>
          </p:nvPr>
        </p:nvSpPr>
        <p:spPr>
          <a:xfrm>
            <a:off x="7265116" y="4205288"/>
            <a:ext cx="1727200" cy="457200"/>
          </a:xfrm>
        </p:spPr>
        <p:txBody>
          <a:bodyPr/>
          <a:lstStyle>
            <a:lvl1pPr>
              <a:defRPr>
                <a:solidFill>
                  <a:schemeClr val="accent2">
                    <a:lumMod val="75000"/>
                  </a:schemeClr>
                </a:solidFill>
              </a:defRPr>
            </a:lvl1pPr>
          </a:lstStyle>
          <a:p>
            <a:r>
              <a:rPr lang="en-US"/>
              <a:t>Add a footer</a:t>
            </a:r>
            <a:endParaRPr lang="en-US" dirty="0"/>
          </a:p>
        </p:txBody>
      </p:sp>
      <p:sp>
        <p:nvSpPr>
          <p:cNvPr id="28" name="Date Placeholder 27"/>
          <p:cNvSpPr>
            <a:spLocks noGrp="1"/>
          </p:cNvSpPr>
          <p:nvPr>
            <p:ph type="dt" sz="half" idx="10"/>
          </p:nvPr>
        </p:nvSpPr>
        <p:spPr>
          <a:xfrm>
            <a:off x="9043832" y="4206240"/>
            <a:ext cx="1280160" cy="457200"/>
          </a:xfrm>
        </p:spPr>
        <p:txBody>
          <a:bodyPr/>
          <a:lstStyle>
            <a:lvl1pPr>
              <a:defRPr>
                <a:solidFill>
                  <a:schemeClr val="accent2">
                    <a:lumMod val="75000"/>
                  </a:schemeClr>
                </a:solidFill>
              </a:defRPr>
            </a:lvl1pPr>
          </a:lstStyle>
          <a:p>
            <a:r>
              <a:rPr lang="en-US"/>
              <a:t>30 March 2021</a:t>
            </a:r>
            <a:endParaRPr lang="en-US" dirty="0"/>
          </a:p>
        </p:txBody>
      </p:sp>
      <p:sp>
        <p:nvSpPr>
          <p:cNvPr id="29" name="Slide Number Placehold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401CF334-2D5C-4859-84A6-CA7E6E43FAEB}" type="slidenum">
              <a:rPr lang="en-US" smtClean="0"/>
              <a:pPr/>
              <a:t>‹#›</a:t>
            </a:fld>
            <a:endParaRPr lang="en-US" dirty="0"/>
          </a:p>
        </p:txBody>
      </p:sp>
    </p:spTree>
    <p:extLst>
      <p:ext uri="{BB962C8B-B14F-4D97-AF65-F5344CB8AC3E}">
        <p14:creationId xmlns:p14="http://schemas.microsoft.com/office/powerpoint/2010/main" val="36011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lvl1pPr>
              <a:defRPr/>
            </a:lvl1pPr>
            <a:lvl5pPr>
              <a:defRPr/>
            </a:lvl5pPr>
            <a:lvl6pPr>
              <a:defRPr/>
            </a:lvl6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r>
              <a:rPr lang="en-US"/>
              <a:t>30 March 2021</a:t>
            </a:r>
            <a:endParaRPr lang="en-US" dirty="0"/>
          </a:p>
        </p:txBody>
      </p:sp>
      <p:sp>
        <p:nvSpPr>
          <p:cNvPr id="6" name="Slide Number Placeholder 5"/>
          <p:cNvSpPr>
            <a:spLocks noGrp="1"/>
          </p:cNvSpPr>
          <p:nvPr>
            <p:ph type="sldNum" sz="quarter" idx="12"/>
          </p:nvPr>
        </p:nvSpPr>
        <p:spPr/>
        <p:txBody>
          <a:bodyPr/>
          <a:lstStyle/>
          <a:p>
            <a:fld id="{401CF334-2D5C-4859-84A6-CA7E6E43FAEB}" type="slidenum">
              <a:rPr lang="en-US" smtClean="0"/>
              <a:pPr/>
              <a:t>‹#›</a:t>
            </a:fld>
            <a:endParaRPr lang="en-US" dirty="0"/>
          </a:p>
        </p:txBody>
      </p:sp>
    </p:spTree>
    <p:extLst>
      <p:ext uri="{BB962C8B-B14F-4D97-AF65-F5344CB8AC3E}">
        <p14:creationId xmlns:p14="http://schemas.microsoft.com/office/powerpoint/2010/main" val="359430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68322"/>
            <a:ext cx="10363200" cy="1362075"/>
          </a:xfrm>
        </p:spPr>
        <p:txBody>
          <a:bodyPr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r>
              <a:rPr kumimoji="0" lang="en-US"/>
              <a:t>Click to edit Master title style</a:t>
            </a:r>
            <a:endParaRPr kumimoji="0" lang="en-US" dirty="0"/>
          </a:p>
        </p:txBody>
      </p:sp>
      <p:sp>
        <p:nvSpPr>
          <p:cNvPr id="3" name="Text Placehold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r>
              <a:rPr lang="en-US"/>
              <a:t>30 March 2021</a:t>
            </a:r>
            <a:endParaRPr lang="en-US" dirty="0"/>
          </a:p>
        </p:txBody>
      </p:sp>
      <p:sp>
        <p:nvSpPr>
          <p:cNvPr id="6" name="Slide Number Placeholder 5"/>
          <p:cNvSpPr>
            <a:spLocks noGrp="1"/>
          </p:cNvSpPr>
          <p:nvPr>
            <p:ph type="sldNum" sz="quarter" idx="12"/>
          </p:nvPr>
        </p:nvSpPr>
        <p:spPr/>
        <p:txBody>
          <a:bodyPr/>
          <a:lstStyle/>
          <a:p>
            <a:fld id="{401CF334-2D5C-4859-84A6-CA7E6E43FAEB}" type="slidenum">
              <a:rPr lang="en-US" smtClean="0"/>
              <a:pPr/>
              <a:t>‹#›</a:t>
            </a:fld>
            <a:endParaRPr lang="en-US" dirty="0"/>
          </a:p>
        </p:txBody>
      </p:sp>
    </p:spTree>
    <p:extLst>
      <p:ext uri="{BB962C8B-B14F-4D97-AF65-F5344CB8AC3E}">
        <p14:creationId xmlns:p14="http://schemas.microsoft.com/office/powerpoint/2010/main" val="270512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609600" y="2249425"/>
            <a:ext cx="5384800" cy="4341875"/>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Content Placeholder 3"/>
          <p:cNvSpPr>
            <a:spLocks noGrp="1"/>
          </p:cNvSpPr>
          <p:nvPr>
            <p:ph sz="half" idx="2"/>
          </p:nvPr>
        </p:nvSpPr>
        <p:spPr>
          <a:xfrm>
            <a:off x="6197600" y="2249425"/>
            <a:ext cx="5384800" cy="4341875"/>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r>
              <a:rPr lang="en-US"/>
              <a:t>30 March 2021</a:t>
            </a:r>
            <a:endParaRPr lang="en-US" dirty="0"/>
          </a:p>
        </p:txBody>
      </p:sp>
      <p:sp>
        <p:nvSpPr>
          <p:cNvPr id="7" name="Slide Number Placeholder 6"/>
          <p:cNvSpPr>
            <a:spLocks noGrp="1"/>
          </p:cNvSpPr>
          <p:nvPr>
            <p:ph type="sldNum" sz="quarter" idx="12"/>
          </p:nvPr>
        </p:nvSpPr>
        <p:spPr/>
        <p:txBody>
          <a:bodyPr/>
          <a:lstStyle/>
          <a:p>
            <a:fld id="{401CF334-2D5C-4859-84A6-CA7E6E43FAEB}" type="slidenum">
              <a:rPr lang="en-US" smtClean="0"/>
              <a:pPr/>
              <a:t>‹#›</a:t>
            </a:fld>
            <a:endParaRPr lang="en-US" dirty="0"/>
          </a:p>
        </p:txBody>
      </p:sp>
    </p:spTree>
    <p:extLst>
      <p:ext uri="{BB962C8B-B14F-4D97-AF65-F5344CB8AC3E}">
        <p14:creationId xmlns:p14="http://schemas.microsoft.com/office/powerpoint/2010/main" val="344644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1143000"/>
            <a:ext cx="11176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508000" y="2244970"/>
            <a:ext cx="5388864" cy="457200"/>
          </a:xfrm>
          <a:solidFill>
            <a:schemeClr val="accent2">
              <a:lumMod val="60000"/>
              <a:lumOff val="4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Text Placeholder 3"/>
          <p:cNvSpPr>
            <a:spLocks noGrp="1"/>
          </p:cNvSpPr>
          <p:nvPr>
            <p:ph type="body" sz="half" idx="3"/>
          </p:nvPr>
        </p:nvSpPr>
        <p:spPr>
          <a:xfrm>
            <a:off x="6294968" y="2244970"/>
            <a:ext cx="5389033" cy="457200"/>
          </a:xfrm>
          <a:solidFill>
            <a:schemeClr val="accent2">
              <a:lumMod val="60000"/>
              <a:lumOff val="4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28" name="Footer Placeholder 27"/>
          <p:cNvSpPr>
            <a:spLocks noGrp="1"/>
          </p:cNvSpPr>
          <p:nvPr>
            <p:ph type="ftr" sz="quarter" idx="12"/>
          </p:nvPr>
        </p:nvSpPr>
        <p:spPr/>
        <p:txBody>
          <a:bodyPr rtlCol="0"/>
          <a:lstStyle/>
          <a:p>
            <a:r>
              <a:rPr lang="en-US" dirty="0"/>
              <a:t>Add a footer</a:t>
            </a:r>
          </a:p>
        </p:txBody>
      </p:sp>
      <p:sp>
        <p:nvSpPr>
          <p:cNvPr id="26" name="Date Placeholder 25"/>
          <p:cNvSpPr>
            <a:spLocks noGrp="1"/>
          </p:cNvSpPr>
          <p:nvPr>
            <p:ph type="dt" sz="half" idx="10"/>
          </p:nvPr>
        </p:nvSpPr>
        <p:spPr/>
        <p:txBody>
          <a:bodyPr rtlCol="0"/>
          <a:lstStyle/>
          <a:p>
            <a:r>
              <a:rPr lang="en-US"/>
              <a:t>30 March 2021</a:t>
            </a:r>
            <a:endParaRPr lang="en-US" dirty="0"/>
          </a:p>
        </p:txBody>
      </p:sp>
      <p:sp>
        <p:nvSpPr>
          <p:cNvPr id="27" name="Slide Number Placeholder 26"/>
          <p:cNvSpPr>
            <a:spLocks noGrp="1"/>
          </p:cNvSpPr>
          <p:nvPr>
            <p:ph type="sldNum" sz="quarter" idx="11"/>
          </p:nvPr>
        </p:nvSpPr>
        <p:spPr/>
        <p:txBody>
          <a:bodyPr rtlCol="0"/>
          <a:lstStyle/>
          <a:p>
            <a:fld id="{401CF334-2D5C-4859-84A6-CA7E6E43FAEB}" type="slidenum">
              <a:rPr lang="en-US" smtClean="0"/>
              <a:pPr/>
              <a:t>‹#›</a:t>
            </a:fld>
            <a:endParaRPr lang="en-US" dirty="0"/>
          </a:p>
        </p:txBody>
      </p:sp>
    </p:spTree>
    <p:extLst>
      <p:ext uri="{BB962C8B-B14F-4D97-AF65-F5344CB8AC3E}">
        <p14:creationId xmlns:p14="http://schemas.microsoft.com/office/powerpoint/2010/main" val="37071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en-US"/>
              <a:t>Click to edit Master title style</a:t>
            </a:r>
          </a:p>
        </p:txBody>
      </p:sp>
      <p:sp>
        <p:nvSpPr>
          <p:cNvPr id="4" name="Footer Placeholder 3"/>
          <p:cNvSpPr>
            <a:spLocks noGrp="1"/>
          </p:cNvSpPr>
          <p:nvPr>
            <p:ph type="ftr" sz="quarter" idx="11"/>
          </p:nvPr>
        </p:nvSpPr>
        <p:spPr>
          <a:xfrm>
            <a:off x="7010400" y="612648"/>
            <a:ext cx="1767840" cy="457200"/>
          </a:xfrm>
        </p:spPr>
        <p:txBody>
          <a:bodyPr/>
          <a:lstStyle/>
          <a:p>
            <a:r>
              <a:rPr lang="en-US" dirty="0"/>
              <a:t>Add a footer</a:t>
            </a:r>
          </a:p>
        </p:txBody>
      </p:sp>
      <p:sp>
        <p:nvSpPr>
          <p:cNvPr id="3" name="Date Placeholder 2"/>
          <p:cNvSpPr>
            <a:spLocks noGrp="1"/>
          </p:cNvSpPr>
          <p:nvPr>
            <p:ph type="dt" sz="half" idx="10"/>
          </p:nvPr>
        </p:nvSpPr>
        <p:spPr>
          <a:xfrm>
            <a:off x="8778240" y="612648"/>
            <a:ext cx="1276352" cy="457200"/>
          </a:xfrm>
        </p:spPr>
        <p:txBody>
          <a:bodyPr/>
          <a:lstStyle/>
          <a:p>
            <a:r>
              <a:rPr lang="en-US"/>
              <a:t>30 March 2021</a:t>
            </a:r>
            <a:endParaRPr lang="en-US" dirty="0"/>
          </a:p>
        </p:txBody>
      </p:sp>
      <p:sp>
        <p:nvSpPr>
          <p:cNvPr id="5" name="Slide Number Placeholder 4"/>
          <p:cNvSpPr>
            <a:spLocks noGrp="1"/>
          </p:cNvSpPr>
          <p:nvPr>
            <p:ph type="sldNum" sz="quarter" idx="12"/>
          </p:nvPr>
        </p:nvSpPr>
        <p:spPr>
          <a:xfrm>
            <a:off x="10899648" y="2272"/>
            <a:ext cx="1016000" cy="365760"/>
          </a:xfrm>
        </p:spPr>
        <p:txBody>
          <a:bodyPr/>
          <a:lstStyle/>
          <a:p>
            <a:fld id="{401CF334-2D5C-4859-84A6-CA7E6E43FAEB}" type="slidenum">
              <a:rPr lang="en-US" smtClean="0"/>
              <a:pPr/>
              <a:t>‹#›</a:t>
            </a:fld>
            <a:endParaRPr lang="en-US" dirty="0"/>
          </a:p>
        </p:txBody>
      </p:sp>
    </p:spTree>
    <p:extLst>
      <p:ext uri="{BB962C8B-B14F-4D97-AF65-F5344CB8AC3E}">
        <p14:creationId xmlns:p14="http://schemas.microsoft.com/office/powerpoint/2010/main" val="382195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r>
              <a:rPr lang="en-US"/>
              <a:t>30 March 2021</a:t>
            </a:r>
            <a:endParaRPr lang="en-US" dirty="0"/>
          </a:p>
        </p:txBody>
      </p:sp>
      <p:sp>
        <p:nvSpPr>
          <p:cNvPr id="4" name="Slide Number Placeholder 3"/>
          <p:cNvSpPr>
            <a:spLocks noGrp="1"/>
          </p:cNvSpPr>
          <p:nvPr>
            <p:ph type="sldNum" sz="quarter" idx="12"/>
          </p:nvPr>
        </p:nvSpPr>
        <p:spPr/>
        <p:txBody>
          <a:bodyPr/>
          <a:lstStyle/>
          <a:p>
            <a:fld id="{401CF334-2D5C-4859-84A6-CA7E6E43FAEB}" type="slidenum">
              <a:rPr lang="en-US" smtClean="0"/>
              <a:pPr/>
              <a:t>‹#›</a:t>
            </a:fld>
            <a:endParaRPr lang="en-US" dirty="0"/>
          </a:p>
        </p:txBody>
      </p:sp>
    </p:spTree>
    <p:extLst>
      <p:ext uri="{BB962C8B-B14F-4D97-AF65-F5344CB8AC3E}">
        <p14:creationId xmlns:p14="http://schemas.microsoft.com/office/powerpoint/2010/main" val="113569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37995" y="1101970"/>
            <a:ext cx="4511040" cy="877824"/>
          </a:xfrm>
        </p:spPr>
        <p:txBody>
          <a:bodyPr anchor="b"/>
          <a:lstStyle>
            <a:lvl1pPr algn="l">
              <a:buNone/>
              <a:defRPr sz="1800" b="1"/>
            </a:lvl1pPr>
          </a:lstStyle>
          <a:p>
            <a:r>
              <a:rPr kumimoji="0" lang="en-US" dirty="0"/>
              <a:t>Edit Master title style</a:t>
            </a:r>
          </a:p>
        </p:txBody>
      </p:sp>
      <p:sp>
        <p:nvSpPr>
          <p:cNvPr id="4" name="Content Placeholder 3"/>
          <p:cNvSpPr>
            <a:spLocks noGrp="1"/>
          </p:cNvSpPr>
          <p:nvPr>
            <p:ph sz="half" idx="1"/>
          </p:nvPr>
        </p:nvSpPr>
        <p:spPr>
          <a:xfrm>
            <a:off x="203200" y="776287"/>
            <a:ext cx="6803136" cy="580508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3" name="Text Placeholder 2"/>
          <p:cNvSpPr>
            <a:spLocks noGrp="1"/>
          </p:cNvSpPr>
          <p:nvPr>
            <p:ph type="body" idx="2"/>
          </p:nvPr>
        </p:nvSpPr>
        <p:spPr>
          <a:xfrm>
            <a:off x="7137995" y="2010727"/>
            <a:ext cx="4511040" cy="4580573"/>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r>
              <a:rPr lang="en-US"/>
              <a:t>30 March 2021</a:t>
            </a:r>
            <a:endParaRPr lang="en-US" dirty="0"/>
          </a:p>
        </p:txBody>
      </p:sp>
      <p:sp>
        <p:nvSpPr>
          <p:cNvPr id="7" name="Slide Number Placeholder 6"/>
          <p:cNvSpPr>
            <a:spLocks noGrp="1"/>
          </p:cNvSpPr>
          <p:nvPr>
            <p:ph type="sldNum" sz="quarter" idx="12"/>
          </p:nvPr>
        </p:nvSpPr>
        <p:spPr/>
        <p:txBody>
          <a:bodyPr/>
          <a:lstStyle/>
          <a:p>
            <a:fld id="{401CF334-2D5C-4859-84A6-CA7E6E43FAEB}" type="slidenum">
              <a:rPr lang="en-US" smtClean="0"/>
              <a:pPr/>
              <a:t>‹#›</a:t>
            </a:fld>
            <a:endParaRPr lang="en-US" dirty="0"/>
          </a:p>
        </p:txBody>
      </p:sp>
    </p:spTree>
    <p:extLst>
      <p:ext uri="{BB962C8B-B14F-4D97-AF65-F5344CB8AC3E}">
        <p14:creationId xmlns:p14="http://schemas.microsoft.com/office/powerpoint/2010/main" val="49868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r>
              <a:rPr lang="en-US"/>
              <a:t>30 March 2021</a:t>
            </a:r>
            <a:endParaRPr lang="en-US" dirty="0"/>
          </a:p>
        </p:txBody>
      </p:sp>
      <p:sp>
        <p:nvSpPr>
          <p:cNvPr id="7" name="Slide Number Placeholder 6"/>
          <p:cNvSpPr>
            <a:spLocks noGrp="1"/>
          </p:cNvSpPr>
          <p:nvPr>
            <p:ph type="sldNum" sz="quarter" idx="12"/>
          </p:nvPr>
        </p:nvSpPr>
        <p:spPr/>
        <p:txBody>
          <a:bodyPr/>
          <a:lstStyle/>
          <a:p>
            <a:fld id="{401CF334-2D5C-4859-84A6-CA7E6E43FAEB}" type="slidenum">
              <a:rPr lang="en-US" smtClean="0"/>
              <a:pPr/>
              <a:t>‹#›</a:t>
            </a:fld>
            <a:endParaRPr lang="en-US" dirty="0"/>
          </a:p>
        </p:txBody>
      </p:sp>
    </p:spTree>
    <p:extLst>
      <p:ext uri="{BB962C8B-B14F-4D97-AF65-F5344CB8AC3E}">
        <p14:creationId xmlns:p14="http://schemas.microsoft.com/office/powerpoint/2010/main" val="188361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lvl1pPr>
              <a:defRPr/>
            </a:lvl1pPr>
            <a:lvl5pPr>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r>
              <a:rPr lang="en-US"/>
              <a:t>30 March 2021</a:t>
            </a:r>
            <a:endParaRPr lang="en-US" dirty="0"/>
          </a:p>
        </p:txBody>
      </p:sp>
      <p:sp>
        <p:nvSpPr>
          <p:cNvPr id="6" name="Slide Number Placeholder 5"/>
          <p:cNvSpPr>
            <a:spLocks noGrp="1"/>
          </p:cNvSpPr>
          <p:nvPr>
            <p:ph type="sldNum" sz="quarter" idx="12"/>
          </p:nvPr>
        </p:nvSpPr>
        <p:spPr/>
        <p:txBody>
          <a:bodyPr/>
          <a:lstStyle/>
          <a:p>
            <a:fld id="{401CF334-2D5C-4859-84A6-CA7E6E43FAEB}" type="slidenum">
              <a:rPr lang="en-US" smtClean="0"/>
              <a:pPr/>
              <a:t>‹#›</a:t>
            </a:fld>
            <a:endParaRPr lang="en-US" dirty="0"/>
          </a:p>
        </p:txBody>
      </p:sp>
    </p:spTree>
    <p:extLst>
      <p:ext uri="{BB962C8B-B14F-4D97-AF65-F5344CB8AC3E}">
        <p14:creationId xmlns:p14="http://schemas.microsoft.com/office/powerpoint/2010/main" val="346784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9042400" y="1143000"/>
            <a:ext cx="2540000" cy="5448300"/>
          </a:xfrm>
        </p:spPr>
        <p:txBody>
          <a:bodyPr vert="eaVert"/>
          <a:lstStyle>
            <a:lvl1pPr>
              <a:defRPr/>
            </a:lvl1pPr>
          </a:lstStyle>
          <a:p>
            <a:r>
              <a:rPr kumimoji="0" lang="en-US" dirty="0"/>
              <a:t>Edit Master title style</a:t>
            </a:r>
          </a:p>
        </p:txBody>
      </p:sp>
      <p:sp>
        <p:nvSpPr>
          <p:cNvPr id="3" name="Vertical Text Placeholder 2"/>
          <p:cNvSpPr>
            <a:spLocks noGrp="1"/>
          </p:cNvSpPr>
          <p:nvPr>
            <p:ph type="body" orient="vert" idx="1" hasCustomPrompt="1"/>
          </p:nvPr>
        </p:nvSpPr>
        <p:spPr>
          <a:xfrm>
            <a:off x="609600" y="1143000"/>
            <a:ext cx="8331200" cy="5448300"/>
          </a:xfrm>
        </p:spPr>
        <p:txBody>
          <a:bodyPr vert="eaVert"/>
          <a:lstStyle>
            <a:lvl5pPr>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r>
              <a:rPr lang="en-US"/>
              <a:t>30 March 2021</a:t>
            </a:r>
            <a:endParaRPr lang="en-US" dirty="0"/>
          </a:p>
        </p:txBody>
      </p:sp>
      <p:sp>
        <p:nvSpPr>
          <p:cNvPr id="6" name="Slide Number Placeholder 5"/>
          <p:cNvSpPr>
            <a:spLocks noGrp="1"/>
          </p:cNvSpPr>
          <p:nvPr>
            <p:ph type="sldNum" sz="quarter" idx="12"/>
          </p:nvPr>
        </p:nvSpPr>
        <p:spPr/>
        <p:txBody>
          <a:bodyPr/>
          <a:lstStyle/>
          <a:p>
            <a:fld id="{401CF334-2D5C-4859-84A6-CA7E6E43FAEB}" type="slidenum">
              <a:rPr lang="en-US" smtClean="0"/>
              <a:pPr/>
              <a:t>‹#›</a:t>
            </a:fld>
            <a:endParaRPr lang="en-US" dirty="0"/>
          </a:p>
        </p:txBody>
      </p:sp>
    </p:spTree>
    <p:extLst>
      <p:ext uri="{BB962C8B-B14F-4D97-AF65-F5344CB8AC3E}">
        <p14:creationId xmlns:p14="http://schemas.microsoft.com/office/powerpoint/2010/main" val="297808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9" name="Rectangle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0" name="Rectangle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1" name="Rectangle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2" name="Rectangle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useBgFill="1">
        <p:nvSpPr>
          <p:cNvPr id="33" name="Rounded Rectangle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useBgFill="1">
        <p:nvSpPr>
          <p:cNvPr id="34" name="Rounded Rectangle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5" name="Rectangle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6" name="Rectangle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7" name="Rectangle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8" name="Rectangle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9" name="Rectangle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40" name="Rectangle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2" name="Title Placeholder 21"/>
          <p:cNvSpPr>
            <a:spLocks noGrp="1"/>
          </p:cNvSpPr>
          <p:nvPr>
            <p:ph type="title"/>
          </p:nvPr>
        </p:nvSpPr>
        <p:spPr>
          <a:xfrm>
            <a:off x="609600" y="1143000"/>
            <a:ext cx="10972800" cy="1066800"/>
          </a:xfrm>
          <a:prstGeom prst="rect">
            <a:avLst/>
          </a:prstGeom>
        </p:spPr>
        <p:txBody>
          <a:bodyPr vert="horz" anchor="ctr">
            <a:normAutofit/>
          </a:bodyPr>
          <a:lstStyle/>
          <a:p>
            <a:r>
              <a:rPr kumimoji="0" lang="en-US"/>
              <a:t>Click to edit Master title style</a:t>
            </a:r>
            <a:endParaRPr kumimoji="0" lang="en-US" dirty="0"/>
          </a:p>
        </p:txBody>
      </p:sp>
      <p:sp>
        <p:nvSpPr>
          <p:cNvPr id="13" name="Text Placeholder 12"/>
          <p:cNvSpPr>
            <a:spLocks noGrp="1"/>
          </p:cNvSpPr>
          <p:nvPr>
            <p:ph type="body" idx="1"/>
          </p:nvPr>
        </p:nvSpPr>
        <p:spPr>
          <a:xfrm>
            <a:off x="609600" y="2249424"/>
            <a:ext cx="10972800" cy="4325112"/>
          </a:xfrm>
          <a:prstGeom prst="rect">
            <a:avLst/>
          </a:prstGeom>
        </p:spPr>
        <p:txBody>
          <a:bodyPr vert="horz">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1100">
                <a:solidFill>
                  <a:schemeClr val="accent2">
                    <a:lumMod val="75000"/>
                  </a:schemeClr>
                </a:solidFill>
              </a:defRPr>
            </a:lvl1pPr>
          </a:lstStyle>
          <a:p>
            <a:r>
              <a:rPr lang="en-US"/>
              <a:t>Add a footer</a:t>
            </a:r>
            <a:endParaRPr lang="en-US" dirty="0"/>
          </a:p>
        </p:txBody>
      </p:sp>
      <p:sp>
        <p:nvSpPr>
          <p:cNvPr id="14" name="Date Placehold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1100">
                <a:solidFill>
                  <a:schemeClr val="accent2">
                    <a:lumMod val="75000"/>
                  </a:schemeClr>
                </a:solidFill>
              </a:defRPr>
            </a:lvl1pPr>
          </a:lstStyle>
          <a:p>
            <a:r>
              <a:rPr lang="en-US"/>
              <a:t>30 March 2021</a:t>
            </a:r>
            <a:endParaRPr lang="en-US" dirty="0"/>
          </a:p>
        </p:txBody>
      </p:sp>
      <p:sp>
        <p:nvSpPr>
          <p:cNvPr id="23" name="Slide Number Placehold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fld id="{401CF334-2D5C-4859-84A6-CA7E6E43FAEB}" type="slidenum">
              <a:rPr lang="en-US" smtClean="0"/>
              <a:pPr/>
              <a:t>‹#›</a:t>
            </a:fld>
            <a:endParaRPr lang="en-US" dirty="0"/>
          </a:p>
        </p:txBody>
      </p:sp>
    </p:spTree>
    <p:extLst>
      <p:ext uri="{BB962C8B-B14F-4D97-AF65-F5344CB8AC3E}">
        <p14:creationId xmlns:p14="http://schemas.microsoft.com/office/powerpoint/2010/main" val="21321717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lumMod val="75000"/>
          </a:schemeClr>
        </a:buClr>
        <a:buFont typeface="Georgia"/>
        <a:buChar char="•"/>
        <a:defRPr kumimoji="0" sz="2800" kern="1200">
          <a:solidFill>
            <a:schemeClr val="tx2"/>
          </a:solidFill>
          <a:latin typeface="+mn-lt"/>
          <a:ea typeface="+mn-ea"/>
          <a:cs typeface="+mn-cs"/>
        </a:defRPr>
      </a:lvl1pPr>
      <a:lvl2pPr marL="658368" indent="-246888" algn="l" rtl="0" eaLnBrk="1" latinLnBrk="0" hangingPunct="1">
        <a:spcBef>
          <a:spcPts val="300"/>
        </a:spcBef>
        <a:buClr>
          <a:schemeClr val="accent2">
            <a:lumMod val="75000"/>
          </a:schemeClr>
        </a:buClr>
        <a:buFont typeface="Georgia"/>
        <a:buChar char="▫"/>
        <a:defRPr kumimoji="0" sz="2600" kern="1200">
          <a:solidFill>
            <a:schemeClr val="tx2"/>
          </a:solidFill>
          <a:latin typeface="+mn-lt"/>
          <a:ea typeface="+mn-ea"/>
          <a:cs typeface="+mn-cs"/>
        </a:defRPr>
      </a:lvl2pPr>
      <a:lvl3pPr marL="923544" indent="-219456"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576" indent="-201168"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89888"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344"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29968"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orient="horz" pos="4152"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0.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image" Target="../media/image20.png"/><Relationship Id="rId4" Type="http://schemas.openxmlformats.org/officeDocument/2006/relationships/image" Target="../media/image11.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39469714-8E3D-B880-07E6-6653E3811608}"/>
              </a:ext>
            </a:extLst>
          </p:cNvPr>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tretch>
            <a:fillRect/>
          </a:stretch>
        </p:blipFill>
        <p:spPr>
          <a:xfrm>
            <a:off x="1" y="0"/>
            <a:ext cx="12191998" cy="6858000"/>
          </a:xfrm>
          <a:prstGeom prst="rect">
            <a:avLst/>
          </a:prstGeom>
        </p:spPr>
      </p:pic>
      <p:sp>
        <p:nvSpPr>
          <p:cNvPr id="3" name="Freeform 3"/>
          <p:cNvSpPr>
            <a:spLocks noGrp="1" noRot="1" noMove="1" noResize="1" noEditPoints="1" noAdjustHandles="1" noChangeArrowheads="1" noChangeShapeType="1"/>
          </p:cNvSpPr>
          <p:nvPr/>
        </p:nvSpPr>
        <p:spPr>
          <a:xfrm>
            <a:off x="-2278152" y="4473477"/>
            <a:ext cx="12022716" cy="4328702"/>
          </a:xfrm>
          <a:custGeom>
            <a:avLst/>
            <a:gdLst/>
            <a:ahLst/>
            <a:cxnLst/>
            <a:rect l="l" t="t" r="r" b="b"/>
            <a:pathLst>
              <a:path w="1128752" h="406400">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gradFill flip="none" rotWithShape="1">
            <a:gsLst>
              <a:gs pos="0">
                <a:srgbClr val="FFC000">
                  <a:tint val="66000"/>
                  <a:satMod val="160000"/>
                  <a:alpha val="50000"/>
                </a:srgbClr>
              </a:gs>
              <a:gs pos="50000">
                <a:srgbClr val="FFC000">
                  <a:tint val="44500"/>
                  <a:satMod val="160000"/>
                  <a:alpha val="50000"/>
                </a:srgbClr>
              </a:gs>
              <a:gs pos="99000">
                <a:srgbClr val="FFC000">
                  <a:tint val="23500"/>
                  <a:satMod val="160000"/>
                  <a:alpha val="50000"/>
                </a:srgbClr>
              </a:gs>
            </a:gsLst>
            <a:lin ang="16200000" scaled="1"/>
            <a:tileRect/>
          </a:gradFill>
        </p:spPr>
        <p:txBody>
          <a:bodyPr/>
          <a:lstStyle/>
          <a:p>
            <a:endParaRPr lang="en-US" sz="1200"/>
          </a:p>
        </p:txBody>
      </p:sp>
      <p:sp>
        <p:nvSpPr>
          <p:cNvPr id="18" name="Freeform 5">
            <a:extLst>
              <a:ext uri="{FF2B5EF4-FFF2-40B4-BE49-F238E27FC236}">
                <a16:creationId xmlns:a16="http://schemas.microsoft.com/office/drawing/2014/main" id="{955EEA55-CBB0-9819-77D7-A383AD592218}"/>
              </a:ext>
            </a:extLst>
          </p:cNvPr>
          <p:cNvSpPr>
            <a:spLocks noGrp="1" noRot="1" noMove="1" noResize="1" noEditPoints="1" noAdjustHandles="1" noChangeArrowheads="1" noChangeShapeType="1"/>
          </p:cNvSpPr>
          <p:nvPr/>
        </p:nvSpPr>
        <p:spPr>
          <a:xfrm>
            <a:off x="11041273" y="6014553"/>
            <a:ext cx="630587" cy="157647"/>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20" name="AutoShape 5">
            <a:extLst>
              <a:ext uri="{FF2B5EF4-FFF2-40B4-BE49-F238E27FC236}">
                <a16:creationId xmlns:a16="http://schemas.microsoft.com/office/drawing/2014/main" id="{25C60911-8721-C876-F3B7-F30583B50E61}"/>
              </a:ext>
            </a:extLst>
          </p:cNvPr>
          <p:cNvSpPr>
            <a:spLocks noGrp="1" noRot="1" noMove="1" noResize="1" noEditPoints="1" noAdjustHandles="1" noChangeArrowheads="1" noChangeShapeType="1"/>
          </p:cNvSpPr>
          <p:nvPr/>
        </p:nvSpPr>
        <p:spPr>
          <a:xfrm>
            <a:off x="208372" y="4350123"/>
            <a:ext cx="11244902" cy="0"/>
          </a:xfrm>
          <a:prstGeom prst="line">
            <a:avLst/>
          </a:prstGeom>
          <a:ln w="38100" cap="flat">
            <a:solidFill>
              <a:srgbClr val="17726D"/>
            </a:solidFill>
            <a:prstDash val="solid"/>
            <a:headEnd type="none" w="sm" len="sm"/>
            <a:tailEnd type="none" w="sm" len="sm"/>
          </a:ln>
        </p:spPr>
        <p:txBody>
          <a:bodyPr/>
          <a:lstStyle/>
          <a:p>
            <a:endParaRPr lang="en-US"/>
          </a:p>
        </p:txBody>
      </p:sp>
      <p:grpSp>
        <p:nvGrpSpPr>
          <p:cNvPr id="21" name="Group 20">
            <a:extLst>
              <a:ext uri="{FF2B5EF4-FFF2-40B4-BE49-F238E27FC236}">
                <a16:creationId xmlns:a16="http://schemas.microsoft.com/office/drawing/2014/main" id="{3D801C05-9BDF-1C3C-CF6A-19A01A735767}"/>
              </a:ext>
            </a:extLst>
          </p:cNvPr>
          <p:cNvGrpSpPr>
            <a:grpSpLocks noGrp="1" noUngrp="1" noRot="1" noMove="1" noResize="1"/>
          </p:cNvGrpSpPr>
          <p:nvPr/>
        </p:nvGrpSpPr>
        <p:grpSpPr>
          <a:xfrm>
            <a:off x="0" y="0"/>
            <a:ext cx="12192000" cy="625651"/>
            <a:chOff x="0" y="0"/>
            <a:chExt cx="12192000" cy="625651"/>
          </a:xfrm>
        </p:grpSpPr>
        <p:sp>
          <p:nvSpPr>
            <p:cNvPr id="22" name="Flowchart: Process 21">
              <a:extLst>
                <a:ext uri="{FF2B5EF4-FFF2-40B4-BE49-F238E27FC236}">
                  <a16:creationId xmlns:a16="http://schemas.microsoft.com/office/drawing/2014/main" id="{2BACE5DC-8689-EC2D-4CE4-8E173E7566E4}"/>
                </a:ext>
              </a:extLst>
            </p:cNvPr>
            <p:cNvSpPr>
              <a:spLocks noGrp="1" noRot="1" noMove="1" noResize="1" noEditPoints="1" noAdjustHandles="1" noChangeArrowheads="1" noChangeShapeType="1"/>
            </p:cNvSpPr>
            <p:nvPr/>
          </p:nvSpPr>
          <p:spPr>
            <a:xfrm>
              <a:off x="0" y="0"/>
              <a:ext cx="12192000" cy="441885"/>
            </a:xfrm>
            <a:prstGeom prst="flowChartProcess">
              <a:avLst/>
            </a:prstGeom>
            <a:solidFill>
              <a:srgbClr val="FAA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Process 22">
              <a:extLst>
                <a:ext uri="{FF2B5EF4-FFF2-40B4-BE49-F238E27FC236}">
                  <a16:creationId xmlns:a16="http://schemas.microsoft.com/office/drawing/2014/main" id="{C1611C6D-11C4-B6F2-4086-A5A27FBC5E4F}"/>
                </a:ext>
              </a:extLst>
            </p:cNvPr>
            <p:cNvSpPr>
              <a:spLocks noGrp="1" noRot="1" noMove="1" noResize="1" noEditPoints="1" noAdjustHandles="1" noChangeArrowheads="1" noChangeShapeType="1"/>
            </p:cNvSpPr>
            <p:nvPr/>
          </p:nvSpPr>
          <p:spPr>
            <a:xfrm>
              <a:off x="7199086" y="441885"/>
              <a:ext cx="4992913" cy="183766"/>
            </a:xfrm>
            <a:prstGeom prst="flowChartProcess">
              <a:avLst/>
            </a:prstGeom>
            <a:solidFill>
              <a:srgbClr val="4544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7" name="Picture 26">
            <a:extLst>
              <a:ext uri="{FF2B5EF4-FFF2-40B4-BE49-F238E27FC236}">
                <a16:creationId xmlns:a16="http://schemas.microsoft.com/office/drawing/2014/main" id="{4DCFF666-11C7-6A44-EA7D-FF3285909D12}"/>
              </a:ext>
            </a:extLst>
          </p:cNvPr>
          <p:cNvPicPr>
            <a:picLocks noGrp="1" noRot="1" noChangeAspec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tretch>
            <a:fillRect/>
          </a:stretch>
        </p:blipFill>
        <p:spPr>
          <a:xfrm>
            <a:off x="299267" y="4652664"/>
            <a:ext cx="1700983" cy="1700983"/>
          </a:xfrm>
          <a:prstGeom prst="rect">
            <a:avLst/>
          </a:prstGeom>
        </p:spPr>
      </p:pic>
      <p:sp>
        <p:nvSpPr>
          <p:cNvPr id="28" name="Subtitle 2"/>
          <p:cNvSpPr txBox="1">
            <a:spLocks/>
          </p:cNvSpPr>
          <p:nvPr/>
        </p:nvSpPr>
        <p:spPr>
          <a:xfrm>
            <a:off x="2327448" y="4805804"/>
            <a:ext cx="7627718" cy="1832024"/>
          </a:xfrm>
          <a:prstGeom prst="rect">
            <a:avLst/>
          </a:prstGeom>
        </p:spPr>
        <p:txBody>
          <a:bodyPr>
            <a:noAutofit/>
          </a:bodyPr>
          <a:lstStyle>
            <a:lvl1pPr marL="365760" indent="-256032" algn="l" rtl="0" eaLnBrk="1" latinLnBrk="0" hangingPunct="1">
              <a:spcBef>
                <a:spcPts val="300"/>
              </a:spcBef>
              <a:buClr>
                <a:schemeClr val="accent3">
                  <a:lumMod val="75000"/>
                </a:schemeClr>
              </a:buClr>
              <a:buFont typeface="Georgia"/>
              <a:buChar char="•"/>
              <a:defRPr kumimoji="0" sz="2800" kern="1200">
                <a:solidFill>
                  <a:schemeClr val="tx2"/>
                </a:solidFill>
                <a:latin typeface="+mn-lt"/>
                <a:ea typeface="+mn-ea"/>
                <a:cs typeface="+mn-cs"/>
              </a:defRPr>
            </a:lvl1pPr>
            <a:lvl2pPr marL="658368" indent="-246888" algn="l" rtl="0" eaLnBrk="1" latinLnBrk="0" hangingPunct="1">
              <a:spcBef>
                <a:spcPts val="300"/>
              </a:spcBef>
              <a:buClr>
                <a:schemeClr val="accent2">
                  <a:lumMod val="75000"/>
                </a:schemeClr>
              </a:buClr>
              <a:buFont typeface="Georgia"/>
              <a:buChar char="▫"/>
              <a:defRPr kumimoji="0" sz="2600" kern="1200">
                <a:solidFill>
                  <a:schemeClr val="tx2"/>
                </a:solidFill>
                <a:latin typeface="+mn-lt"/>
                <a:ea typeface="+mn-ea"/>
                <a:cs typeface="+mn-cs"/>
              </a:defRPr>
            </a:lvl2pPr>
            <a:lvl3pPr marL="923544" indent="-219456"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576" indent="-201168"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89888"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344"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29968"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a:lstStyle>
          <a:p>
            <a:pPr marL="109728" indent="0">
              <a:lnSpc>
                <a:spcPct val="114000"/>
              </a:lnSpc>
              <a:buNone/>
            </a:pPr>
            <a:r>
              <a:rPr lang="en-US" sz="2200" b="1" dirty="0">
                <a:solidFill>
                  <a:srgbClr val="000000"/>
                </a:solidFill>
                <a:latin typeface="Garamond" pitchFamily="18" charset="0"/>
              </a:rPr>
              <a:t>Md AL Emran</a:t>
            </a:r>
            <a:br>
              <a:rPr lang="en-US" sz="2200" b="1" dirty="0">
                <a:solidFill>
                  <a:srgbClr val="000000"/>
                </a:solidFill>
                <a:latin typeface="Garamond" pitchFamily="18" charset="0"/>
              </a:rPr>
            </a:br>
            <a:r>
              <a:rPr lang="en-US" sz="2200" b="1" dirty="0">
                <a:solidFill>
                  <a:srgbClr val="000000"/>
                </a:solidFill>
                <a:latin typeface="Garamond" pitchFamily="18" charset="0"/>
              </a:rPr>
              <a:t>Department  of EEE</a:t>
            </a:r>
          </a:p>
          <a:p>
            <a:pPr marL="109728" indent="0">
              <a:lnSpc>
                <a:spcPct val="114000"/>
              </a:lnSpc>
              <a:buNone/>
            </a:pPr>
            <a:r>
              <a:rPr lang="en-US" sz="2200" b="1" dirty="0">
                <a:solidFill>
                  <a:srgbClr val="000000"/>
                </a:solidFill>
                <a:latin typeface="Garamond" pitchFamily="18" charset="0"/>
              </a:rPr>
              <a:t>Pabna University of Science and Technology</a:t>
            </a:r>
          </a:p>
          <a:p>
            <a:pPr marL="109728" indent="0">
              <a:lnSpc>
                <a:spcPct val="114000"/>
              </a:lnSpc>
              <a:buNone/>
            </a:pPr>
            <a:r>
              <a:rPr lang="en-US" sz="2200" b="1" dirty="0">
                <a:solidFill>
                  <a:srgbClr val="000000"/>
                </a:solidFill>
                <a:latin typeface="Garamond" pitchFamily="18" charset="0"/>
              </a:rPr>
              <a:t>Pabna, Bangladesh </a:t>
            </a:r>
          </a:p>
        </p:txBody>
      </p:sp>
      <p:sp>
        <p:nvSpPr>
          <p:cNvPr id="29" name="Title 1"/>
          <p:cNvSpPr txBox="1">
            <a:spLocks noGrp="1" noRot="1" noMove="1" noResize="1" noEditPoints="1" noAdjustHandles="1" noChangeArrowheads="1" noChangeShapeType="1"/>
          </p:cNvSpPr>
          <p:nvPr/>
        </p:nvSpPr>
        <p:spPr>
          <a:xfrm>
            <a:off x="140567" y="3548290"/>
            <a:ext cx="1364384" cy="621320"/>
          </a:xfrm>
          <a:prstGeom prst="rect">
            <a:avLst/>
          </a:prstGeom>
        </p:spPr>
        <p:txBody>
          <a:bodyPr>
            <a:normAutofit fontScale="90000"/>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sz="3600" b="1" dirty="0">
                <a:solidFill>
                  <a:srgbClr val="002060"/>
                </a:solidFill>
                <a:latin typeface="Garamond" pitchFamily="18" charset="0"/>
              </a:rPr>
              <a:t>Topic:</a:t>
            </a:r>
            <a:endParaRPr lang="en-US" b="1" dirty="0">
              <a:solidFill>
                <a:srgbClr val="002060"/>
              </a:solidFill>
              <a:latin typeface="Baskerville Old Face" pitchFamily="18" charset="0"/>
            </a:endParaRPr>
          </a:p>
        </p:txBody>
      </p:sp>
      <p:sp>
        <p:nvSpPr>
          <p:cNvPr id="30" name="TextBox 29">
            <a:extLst>
              <a:ext uri="{FF2B5EF4-FFF2-40B4-BE49-F238E27FC236}">
                <a16:creationId xmlns:a16="http://schemas.microsoft.com/office/drawing/2014/main" id="{6C723717-82FC-4CCE-FF24-8E793EF50806}"/>
              </a:ext>
            </a:extLst>
          </p:cNvPr>
          <p:cNvSpPr txBox="1">
            <a:spLocks noGrp="1" noRot="1" noMove="1" noResize="1" noEditPoints="1" noAdjustHandles="1" noChangeArrowheads="1" noChangeShapeType="1"/>
          </p:cNvSpPr>
          <p:nvPr/>
        </p:nvSpPr>
        <p:spPr>
          <a:xfrm>
            <a:off x="140566" y="3009534"/>
            <a:ext cx="1859684" cy="584775"/>
          </a:xfrm>
          <a:prstGeom prst="rect">
            <a:avLst/>
          </a:prstGeom>
          <a:noFill/>
        </p:spPr>
        <p:txBody>
          <a:bodyPr wrap="square">
            <a:spAutoFit/>
          </a:bodyPr>
          <a:lstStyle/>
          <a:p>
            <a:r>
              <a:rPr lang="en-US" sz="3200" b="1" dirty="0">
                <a:solidFill>
                  <a:srgbClr val="002060"/>
                </a:solidFill>
                <a:latin typeface="Garamond" pitchFamily="18" charset="0"/>
              </a:rPr>
              <a:t>Paper ID:</a:t>
            </a:r>
            <a:endParaRPr lang="en-US" sz="3200" dirty="0"/>
          </a:p>
        </p:txBody>
      </p:sp>
      <p:pic>
        <p:nvPicPr>
          <p:cNvPr id="34" name="Picture 33">
            <a:extLst>
              <a:ext uri="{FF2B5EF4-FFF2-40B4-BE49-F238E27FC236}">
                <a16:creationId xmlns:a16="http://schemas.microsoft.com/office/drawing/2014/main" id="{88F6735D-CBE3-943E-409A-6DC92994E96D}"/>
              </a:ext>
            </a:extLst>
          </p:cNvPr>
          <p:cNvPicPr>
            <a:picLocks noGrp="1" noRot="1" noChangeAspect="1" noMove="1" noResize="1" noEditPoints="1" noAdjustHandles="1" noChangeArrowheads="1" noChangeShapeType="1" noCrop="1"/>
          </p:cNvPicPr>
          <p:nvPr/>
        </p:nvPicPr>
        <p:blipFill>
          <a:blip r:embed="rId6" cstate="print">
            <a:extLst>
              <a:ext uri="{28A0092B-C50C-407E-A947-70E740481C1C}">
                <a14:useLocalDpi xmlns:a14="http://schemas.microsoft.com/office/drawing/2010/main" val="0"/>
              </a:ext>
            </a:extLst>
          </a:blip>
          <a:stretch>
            <a:fillRect/>
          </a:stretch>
        </p:blipFill>
        <p:spPr>
          <a:xfrm>
            <a:off x="202034" y="619597"/>
            <a:ext cx="1474366" cy="1364193"/>
          </a:xfrm>
          <a:prstGeom prst="rect">
            <a:avLst/>
          </a:prstGeom>
        </p:spPr>
      </p:pic>
      <p:pic>
        <p:nvPicPr>
          <p:cNvPr id="36" name="Picture 35">
            <a:extLst>
              <a:ext uri="{FF2B5EF4-FFF2-40B4-BE49-F238E27FC236}">
                <a16:creationId xmlns:a16="http://schemas.microsoft.com/office/drawing/2014/main" id="{B2A9F14B-158E-A713-935C-C186A9DDAC5E}"/>
              </a:ext>
            </a:extLst>
          </p:cNvPr>
          <p:cNvPicPr>
            <a:picLocks noGrp="1" noRot="1" noChangeAspect="1" noMove="1" noResize="1" noEditPoints="1" noAdjustHandles="1" noChangeArrowheads="1" noChangeShapeType="1" noCrop="1"/>
          </p:cNvPicPr>
          <p:nvPr/>
        </p:nvPicPr>
        <p:blipFill>
          <a:blip r:embed="rId7" cstate="print">
            <a:extLst>
              <a:ext uri="{28A0092B-C50C-407E-A947-70E740481C1C}">
                <a14:useLocalDpi xmlns:a14="http://schemas.microsoft.com/office/drawing/2010/main" val="0"/>
              </a:ext>
            </a:extLst>
          </a:blip>
          <a:stretch>
            <a:fillRect/>
          </a:stretch>
        </p:blipFill>
        <p:spPr>
          <a:xfrm>
            <a:off x="9744566" y="661793"/>
            <a:ext cx="2297145" cy="1022948"/>
          </a:xfrm>
          <a:prstGeom prst="rect">
            <a:avLst/>
          </a:prstGeom>
        </p:spPr>
      </p:pic>
      <p:sp>
        <p:nvSpPr>
          <p:cNvPr id="40" name="TextBox 39">
            <a:extLst>
              <a:ext uri="{FF2B5EF4-FFF2-40B4-BE49-F238E27FC236}">
                <a16:creationId xmlns:a16="http://schemas.microsoft.com/office/drawing/2014/main" id="{8FF75EB1-B75A-7055-AEB4-E2666B879C32}"/>
              </a:ext>
            </a:extLst>
          </p:cNvPr>
          <p:cNvSpPr txBox="1">
            <a:spLocks noGrp="1" noRot="1" noMove="1" noResize="1" noEditPoints="1" noAdjustHandles="1" noChangeArrowheads="1" noChangeShapeType="1"/>
          </p:cNvSpPr>
          <p:nvPr/>
        </p:nvSpPr>
        <p:spPr>
          <a:xfrm>
            <a:off x="2001012" y="1083670"/>
            <a:ext cx="7533241" cy="954107"/>
          </a:xfrm>
          <a:prstGeom prst="rect">
            <a:avLst/>
          </a:prstGeom>
          <a:noFill/>
        </p:spPr>
        <p:txBody>
          <a:bodyPr wrap="square">
            <a:spAutoFit/>
          </a:bodyPr>
          <a:lstStyle/>
          <a:p>
            <a:pPr algn="ctr"/>
            <a:r>
              <a:rPr lang="en-GB" sz="2800" b="1" dirty="0">
                <a:solidFill>
                  <a:srgbClr val="002060"/>
                </a:solidFill>
                <a:latin typeface="Poppins" panose="00000500000000000000" pitchFamily="2" charset="0"/>
                <a:cs typeface="Poppins" panose="00000500000000000000" pitchFamily="2" charset="0"/>
              </a:rPr>
              <a:t>2024 IEEE CONFERENCE ON COMPUTING,</a:t>
            </a:r>
          </a:p>
          <a:p>
            <a:pPr algn="ctr"/>
            <a:r>
              <a:rPr lang="en-GB" sz="2850" b="1" dirty="0">
                <a:solidFill>
                  <a:srgbClr val="002060"/>
                </a:solidFill>
                <a:latin typeface="Poppins" panose="00000500000000000000" pitchFamily="2" charset="0"/>
                <a:cs typeface="Poppins" panose="00000500000000000000" pitchFamily="2" charset="0"/>
              </a:rPr>
              <a:t>APPLICATION AND SYSTEMS (COMPAS)</a:t>
            </a:r>
            <a:endParaRPr lang="en-US" sz="2850" b="1" dirty="0">
              <a:solidFill>
                <a:srgbClr val="002060"/>
              </a:solidFill>
              <a:latin typeface="Poppins" panose="00000500000000000000" pitchFamily="2" charset="0"/>
              <a:cs typeface="Poppins" panose="00000500000000000000" pitchFamily="2" charset="0"/>
            </a:endParaRPr>
          </a:p>
        </p:txBody>
      </p:sp>
      <p:sp>
        <p:nvSpPr>
          <p:cNvPr id="42" name="TextBox 41">
            <a:extLst>
              <a:ext uri="{FF2B5EF4-FFF2-40B4-BE49-F238E27FC236}">
                <a16:creationId xmlns:a16="http://schemas.microsoft.com/office/drawing/2014/main" id="{DF64755C-015B-0675-D16D-F3CE1708D0FD}"/>
              </a:ext>
            </a:extLst>
          </p:cNvPr>
          <p:cNvSpPr txBox="1">
            <a:spLocks/>
          </p:cNvSpPr>
          <p:nvPr/>
        </p:nvSpPr>
        <p:spPr>
          <a:xfrm>
            <a:off x="1998627" y="2100967"/>
            <a:ext cx="7239000" cy="646331"/>
          </a:xfrm>
          <a:prstGeom prst="rect">
            <a:avLst/>
          </a:prstGeom>
          <a:noFill/>
        </p:spPr>
        <p:txBody>
          <a:bodyPr wrap="square">
            <a:spAutoFit/>
          </a:bodyPr>
          <a:lstStyle/>
          <a:p>
            <a:pPr algn="ctr"/>
            <a:r>
              <a:rPr lang="en-GB" sz="1800" dirty="0">
                <a:latin typeface="Bahnschrift" panose="020B0502040204020203" pitchFamily="34" charset="0"/>
                <a:cs typeface="Poppins" panose="00000500000000000000" pitchFamily="2" charset="0"/>
              </a:rPr>
              <a:t>CUET IT Business Incubator, Chattogram, Bangladesh</a:t>
            </a:r>
          </a:p>
          <a:p>
            <a:pPr algn="ctr"/>
            <a:r>
              <a:rPr lang="en-GB" dirty="0">
                <a:latin typeface="Bahnschrift" panose="020B0502040204020203" pitchFamily="34" charset="0"/>
                <a:cs typeface="Poppins" panose="00000500000000000000" pitchFamily="2" charset="0"/>
              </a:rPr>
              <a:t>25</a:t>
            </a:r>
            <a:r>
              <a:rPr lang="en-GB" baseline="30000" dirty="0">
                <a:latin typeface="Bahnschrift" panose="020B0502040204020203" pitchFamily="34" charset="0"/>
                <a:cs typeface="Poppins" panose="00000500000000000000" pitchFamily="2" charset="0"/>
              </a:rPr>
              <a:t>th</a:t>
            </a:r>
            <a:r>
              <a:rPr lang="en-GB" dirty="0">
                <a:latin typeface="Bahnschrift" panose="020B0502040204020203" pitchFamily="34" charset="0"/>
                <a:cs typeface="Poppins" panose="00000500000000000000" pitchFamily="2" charset="0"/>
              </a:rPr>
              <a:t> &amp; 26</a:t>
            </a:r>
            <a:r>
              <a:rPr lang="en-GB" baseline="30000" dirty="0">
                <a:latin typeface="Bahnschrift" panose="020B0502040204020203" pitchFamily="34" charset="0"/>
                <a:cs typeface="Poppins" panose="00000500000000000000" pitchFamily="2" charset="0"/>
              </a:rPr>
              <a:t>th</a:t>
            </a:r>
            <a:r>
              <a:rPr lang="en-GB" dirty="0">
                <a:latin typeface="Bahnschrift" panose="020B0502040204020203" pitchFamily="34" charset="0"/>
                <a:cs typeface="Poppins" panose="00000500000000000000" pitchFamily="2" charset="0"/>
              </a:rPr>
              <a:t> September 2024</a:t>
            </a:r>
            <a:endParaRPr lang="en-US" sz="1800" dirty="0">
              <a:latin typeface="Bahnschrift" panose="020B0502040204020203" pitchFamily="34" charset="0"/>
              <a:cs typeface="Poppins" panose="00000500000000000000" pitchFamily="2" charset="0"/>
            </a:endParaRPr>
          </a:p>
        </p:txBody>
      </p:sp>
      <p:pic>
        <p:nvPicPr>
          <p:cNvPr id="44" name="Picture 43">
            <a:extLst>
              <a:ext uri="{FF2B5EF4-FFF2-40B4-BE49-F238E27FC236}">
                <a16:creationId xmlns:a16="http://schemas.microsoft.com/office/drawing/2014/main" id="{F3F79D6A-57C7-B0D8-5F94-C8BEE8F10079}"/>
              </a:ext>
            </a:extLst>
          </p:cNvPr>
          <p:cNvPicPr>
            <a:picLocks noGrp="1" noRot="1" noChangeAspect="1" noMove="1" noResize="1" noEditPoints="1" noAdjustHandles="1" noChangeArrowheads="1" noChangeShapeType="1" noCrop="1"/>
          </p:cNvPicPr>
          <p:nvPr/>
        </p:nvPicPr>
        <p:blipFill>
          <a:blip r:embed="rId8"/>
          <a:srcRect t="8680" r="8371" b="9357"/>
          <a:stretch/>
        </p:blipFill>
        <p:spPr>
          <a:xfrm>
            <a:off x="0" y="3063521"/>
            <a:ext cx="1998627" cy="1163248"/>
          </a:xfrm>
          <a:prstGeom prst="rect">
            <a:avLst/>
          </a:prstGeom>
        </p:spPr>
      </p:pic>
      <p:sp>
        <p:nvSpPr>
          <p:cNvPr id="31" name="TextBox 30">
            <a:extLst>
              <a:ext uri="{FF2B5EF4-FFF2-40B4-BE49-F238E27FC236}">
                <a16:creationId xmlns:a16="http://schemas.microsoft.com/office/drawing/2014/main" id="{0AB2E8D1-7F04-8869-F69E-F91CAEEFFB7C}"/>
              </a:ext>
            </a:extLst>
          </p:cNvPr>
          <p:cNvSpPr txBox="1"/>
          <p:nvPr/>
        </p:nvSpPr>
        <p:spPr>
          <a:xfrm>
            <a:off x="2026516" y="3001615"/>
            <a:ext cx="2602634" cy="584775"/>
          </a:xfrm>
          <a:prstGeom prst="rect">
            <a:avLst/>
          </a:prstGeom>
          <a:noFill/>
        </p:spPr>
        <p:txBody>
          <a:bodyPr wrap="square">
            <a:spAutoFit/>
          </a:bodyPr>
          <a:lstStyle/>
          <a:p>
            <a:r>
              <a:rPr lang="en-US" sz="3200" b="1" dirty="0">
                <a:solidFill>
                  <a:srgbClr val="002060"/>
                </a:solidFill>
                <a:latin typeface="Garamond" pitchFamily="18" charset="0"/>
              </a:rPr>
              <a:t>256</a:t>
            </a:r>
            <a:endParaRPr lang="en-US" sz="3200" dirty="0"/>
          </a:p>
        </p:txBody>
      </p:sp>
      <p:sp>
        <p:nvSpPr>
          <p:cNvPr id="32" name="Title 1">
            <a:extLst>
              <a:ext uri="{FF2B5EF4-FFF2-40B4-BE49-F238E27FC236}">
                <a16:creationId xmlns:a16="http://schemas.microsoft.com/office/drawing/2014/main" id="{45951AEC-3C41-58F7-03F4-F7EF708A2621}"/>
              </a:ext>
            </a:extLst>
          </p:cNvPr>
          <p:cNvSpPr txBox="1">
            <a:spLocks/>
          </p:cNvSpPr>
          <p:nvPr/>
        </p:nvSpPr>
        <p:spPr>
          <a:xfrm>
            <a:off x="1466851" y="3463447"/>
            <a:ext cx="10115549" cy="621320"/>
          </a:xfrm>
          <a:prstGeom prst="rect">
            <a:avLst/>
          </a:prstGeom>
        </p:spPr>
        <p:txBody>
          <a:bodyPr vert="horz" anchor="b">
            <a:normAutofit fontScale="97500"/>
          </a:bodyPr>
          <a:lstStyle>
            <a:lvl1pPr algn="l" rtl="0" eaLnBrk="1" latinLnBrk="0" hangingPunct="1">
              <a:spcBef>
                <a:spcPct val="0"/>
              </a:spcBef>
              <a:buNone/>
              <a:defRPr kumimoji="0" sz="4400" kern="1200">
                <a:solidFill>
                  <a:schemeClr val="bg1"/>
                </a:solidFill>
                <a:latin typeface="+mj-lt"/>
                <a:ea typeface="+mj-ea"/>
                <a:cs typeface="+mj-cs"/>
              </a:defRPr>
            </a:lvl1pPr>
          </a:lstStyle>
          <a:p>
            <a:r>
              <a:rPr lang="en-US" sz="2000" b="1" dirty="0">
                <a:solidFill>
                  <a:srgbClr val="002060"/>
                </a:solidFill>
                <a:latin typeface="Garamond" pitchFamily="18" charset="0"/>
              </a:rPr>
              <a:t>Eye Disease Detection And Classification Using Deep Learning: A </a:t>
            </a:r>
            <a:r>
              <a:rPr lang="en-US" sz="2000" b="1" dirty="0" err="1">
                <a:solidFill>
                  <a:srgbClr val="002060"/>
                </a:solidFill>
                <a:latin typeface="Garamond" pitchFamily="18" charset="0"/>
              </a:rPr>
              <a:t>Comperative</a:t>
            </a:r>
            <a:r>
              <a:rPr lang="en-US" sz="2000" b="1" dirty="0">
                <a:solidFill>
                  <a:srgbClr val="002060"/>
                </a:solidFill>
                <a:latin typeface="Garamond" pitchFamily="18" charset="0"/>
              </a:rPr>
              <a:t> Study</a:t>
            </a:r>
            <a:endParaRPr lang="en-US" sz="2000" b="1" dirty="0">
              <a:solidFill>
                <a:srgbClr val="002060"/>
              </a:solidFill>
              <a:latin typeface="Baskerville Old Face" pitchFamily="18" charset="0"/>
            </a:endParaRPr>
          </a:p>
        </p:txBody>
      </p:sp>
      <p:pic>
        <p:nvPicPr>
          <p:cNvPr id="48" name="Picture 47">
            <a:extLst>
              <a:ext uri="{FF2B5EF4-FFF2-40B4-BE49-F238E27FC236}">
                <a16:creationId xmlns:a16="http://schemas.microsoft.com/office/drawing/2014/main" id="{CC4DCA41-88C6-9C9F-CE4B-AD2E40C80997}"/>
              </a:ext>
            </a:extLst>
          </p:cNvPr>
          <p:cNvPicPr>
            <a:picLocks noGrp="1" noRot="1" noChangeAspect="1" noMove="1" noResize="1" noEditPoints="1" noAdjustHandles="1" noChangeArrowheads="1" noChangeShapeType="1" noCrop="1"/>
          </p:cNvPicPr>
          <p:nvPr/>
        </p:nvPicPr>
        <p:blipFill>
          <a:blip r:embed="rId9"/>
          <a:stretch>
            <a:fillRect/>
          </a:stretch>
        </p:blipFill>
        <p:spPr>
          <a:xfrm>
            <a:off x="2232660" y="1144065"/>
            <a:ext cx="7132320" cy="161570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911B2614-D4C2-686D-3950-22E3A6180EC4}"/>
              </a:ext>
            </a:extLst>
          </p:cNvPr>
          <p:cNvGrpSpPr>
            <a:grpSpLocks noGrp="1" noUngrp="1" noRot="1" noMove="1" noResize="1"/>
          </p:cNvGrpSpPr>
          <p:nvPr/>
        </p:nvGrpSpPr>
        <p:grpSpPr>
          <a:xfrm>
            <a:off x="0" y="0"/>
            <a:ext cx="12192000" cy="625651"/>
            <a:chOff x="0" y="0"/>
            <a:chExt cx="12192000" cy="625651"/>
          </a:xfrm>
        </p:grpSpPr>
        <p:sp>
          <p:nvSpPr>
            <p:cNvPr id="9" name="Flowchart: Process 8">
              <a:extLst>
                <a:ext uri="{FF2B5EF4-FFF2-40B4-BE49-F238E27FC236}">
                  <a16:creationId xmlns:a16="http://schemas.microsoft.com/office/drawing/2014/main" id="{658B064F-BF5A-80C9-5B05-F0939E640B9B}"/>
                </a:ext>
              </a:extLst>
            </p:cNvPr>
            <p:cNvSpPr>
              <a:spLocks noGrp="1" noRot="1" noMove="1" noResize="1" noEditPoints="1" noAdjustHandles="1" noChangeArrowheads="1" noChangeShapeType="1"/>
            </p:cNvSpPr>
            <p:nvPr/>
          </p:nvSpPr>
          <p:spPr>
            <a:xfrm>
              <a:off x="0" y="0"/>
              <a:ext cx="12192000" cy="441885"/>
            </a:xfrm>
            <a:prstGeom prst="flowChartProcess">
              <a:avLst/>
            </a:prstGeom>
            <a:solidFill>
              <a:srgbClr val="FAA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Process 13">
              <a:extLst>
                <a:ext uri="{FF2B5EF4-FFF2-40B4-BE49-F238E27FC236}">
                  <a16:creationId xmlns:a16="http://schemas.microsoft.com/office/drawing/2014/main" id="{0A5D7311-C808-7E35-3F02-F1074292E84F}"/>
                </a:ext>
              </a:extLst>
            </p:cNvPr>
            <p:cNvSpPr>
              <a:spLocks noGrp="1" noRot="1" noMove="1" noResize="1" noEditPoints="1" noAdjustHandles="1" noChangeArrowheads="1" noChangeShapeType="1"/>
            </p:cNvSpPr>
            <p:nvPr/>
          </p:nvSpPr>
          <p:spPr>
            <a:xfrm>
              <a:off x="7199086" y="441885"/>
              <a:ext cx="4992913" cy="183766"/>
            </a:xfrm>
            <a:prstGeom prst="flowChartProcess">
              <a:avLst/>
            </a:prstGeom>
            <a:solidFill>
              <a:srgbClr val="4544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9"/>
          <p:cNvSpPr>
            <a:spLocks noGrp="1"/>
          </p:cNvSpPr>
          <p:nvPr>
            <p:ph type="title"/>
          </p:nvPr>
        </p:nvSpPr>
        <p:spPr/>
        <p:txBody>
          <a:bodyPr/>
          <a:lstStyle/>
          <a:p>
            <a:r>
              <a:rPr lang="en-US" b="1" dirty="0">
                <a:solidFill>
                  <a:srgbClr val="002060"/>
                </a:solidFill>
                <a:cs typeface="Times New Roman" pitchFamily="18" charset="0"/>
              </a:rPr>
              <a:t>Outline of Presentation</a:t>
            </a:r>
            <a:endParaRPr lang="en-US" b="1" dirty="0">
              <a:solidFill>
                <a:srgbClr val="002060"/>
              </a:solidFill>
            </a:endParaRPr>
          </a:p>
        </p:txBody>
      </p:sp>
      <p:sp>
        <p:nvSpPr>
          <p:cNvPr id="12" name="Content Placeholder 11"/>
          <p:cNvSpPr>
            <a:spLocks noGrp="1"/>
          </p:cNvSpPr>
          <p:nvPr>
            <p:ph idx="1"/>
          </p:nvPr>
        </p:nvSpPr>
        <p:spPr>
          <a:xfrm>
            <a:off x="609600" y="2249424"/>
            <a:ext cx="10972800" cy="3453957"/>
          </a:xfrm>
        </p:spPr>
        <p:txBody>
          <a:bodyPr>
            <a:normAutofit lnSpcReduction="10000"/>
          </a:bodyPr>
          <a:lstStyle/>
          <a:p>
            <a:pPr>
              <a:buFont typeface="Arial" pitchFamily="34" charset="0"/>
              <a:buChar char="•"/>
              <a:defRPr/>
            </a:pPr>
            <a:r>
              <a:rPr lang="en-US" dirty="0">
                <a:solidFill>
                  <a:schemeClr val="tx1"/>
                </a:solidFill>
                <a:cs typeface="Times New Roman" pitchFamily="18" charset="0"/>
              </a:rPr>
              <a:t>Abstract</a:t>
            </a:r>
          </a:p>
          <a:p>
            <a:pPr>
              <a:buFont typeface="Arial" pitchFamily="34" charset="0"/>
              <a:buChar char="•"/>
              <a:defRPr/>
            </a:pPr>
            <a:r>
              <a:rPr lang="en-US" dirty="0">
                <a:solidFill>
                  <a:schemeClr val="tx1"/>
                </a:solidFill>
                <a:cs typeface="Times New Roman" pitchFamily="18" charset="0"/>
              </a:rPr>
              <a:t>Introduction</a:t>
            </a:r>
          </a:p>
          <a:p>
            <a:pPr>
              <a:buFont typeface="Arial" pitchFamily="34" charset="0"/>
              <a:buChar char="•"/>
              <a:defRPr/>
            </a:pPr>
            <a:r>
              <a:rPr lang="en-US" dirty="0">
                <a:solidFill>
                  <a:schemeClr val="tx1"/>
                </a:solidFill>
                <a:cs typeface="Times New Roman" pitchFamily="18" charset="0"/>
              </a:rPr>
              <a:t>Literature Review </a:t>
            </a:r>
          </a:p>
          <a:p>
            <a:pPr>
              <a:buFont typeface="Arial" pitchFamily="34" charset="0"/>
              <a:buChar char="•"/>
              <a:defRPr/>
            </a:pPr>
            <a:r>
              <a:rPr lang="en-US" dirty="0">
                <a:solidFill>
                  <a:schemeClr val="tx1"/>
                </a:solidFill>
                <a:cs typeface="Times New Roman" pitchFamily="18" charset="0"/>
              </a:rPr>
              <a:t>Methodology </a:t>
            </a:r>
          </a:p>
          <a:p>
            <a:pPr>
              <a:buFont typeface="Arial" pitchFamily="34" charset="0"/>
              <a:buChar char="•"/>
              <a:defRPr/>
            </a:pPr>
            <a:r>
              <a:rPr lang="en-US" dirty="0">
                <a:solidFill>
                  <a:schemeClr val="tx1"/>
                </a:solidFill>
                <a:cs typeface="Times New Roman" pitchFamily="18" charset="0"/>
              </a:rPr>
              <a:t>Proposed Work</a:t>
            </a:r>
          </a:p>
          <a:p>
            <a:pPr>
              <a:buFont typeface="Arial" pitchFamily="34" charset="0"/>
              <a:buChar char="•"/>
              <a:defRPr/>
            </a:pPr>
            <a:r>
              <a:rPr lang="en-US" dirty="0">
                <a:solidFill>
                  <a:schemeClr val="tx1"/>
                </a:solidFill>
                <a:cs typeface="Times New Roman" pitchFamily="18" charset="0"/>
              </a:rPr>
              <a:t>Result and Discussion</a:t>
            </a:r>
          </a:p>
          <a:p>
            <a:pPr>
              <a:buFont typeface="Arial" pitchFamily="34" charset="0"/>
              <a:buChar char="•"/>
              <a:defRPr/>
            </a:pPr>
            <a:r>
              <a:rPr lang="en-US" dirty="0">
                <a:solidFill>
                  <a:schemeClr val="tx1"/>
                </a:solidFill>
                <a:cs typeface="Times New Roman" pitchFamily="18" charset="0"/>
              </a:rPr>
              <a:t>Conclusion </a:t>
            </a:r>
          </a:p>
          <a:p>
            <a:pPr>
              <a:buFont typeface="Arial" pitchFamily="34" charset="0"/>
              <a:buChar char="•"/>
              <a:defRPr/>
            </a:pPr>
            <a:r>
              <a:rPr lang="en-US" dirty="0">
                <a:solidFill>
                  <a:schemeClr val="tx1"/>
                </a:solidFill>
                <a:cs typeface="Times New Roman" pitchFamily="18" charset="0"/>
              </a:rPr>
              <a:t>Reference </a:t>
            </a:r>
          </a:p>
          <a:p>
            <a:pPr>
              <a:buFont typeface="Arial" pitchFamily="34" charset="0"/>
              <a:buChar char="•"/>
              <a:defRPr/>
            </a:pPr>
            <a:endParaRPr lang="en-US" dirty="0">
              <a:solidFill>
                <a:schemeClr val="tx1"/>
              </a:solidFill>
              <a:latin typeface="Times New Roman" pitchFamily="18" charset="0"/>
              <a:cs typeface="Times New Roman" pitchFamily="18" charset="0"/>
            </a:endParaRPr>
          </a:p>
          <a:p>
            <a:endParaRPr lang="en-US" dirty="0"/>
          </a:p>
        </p:txBody>
      </p:sp>
      <p:pic>
        <p:nvPicPr>
          <p:cNvPr id="3" name="Picture 2">
            <a:extLst>
              <a:ext uri="{FF2B5EF4-FFF2-40B4-BE49-F238E27FC236}">
                <a16:creationId xmlns:a16="http://schemas.microsoft.com/office/drawing/2014/main" id="{A3B236BD-4951-71CA-AFC7-67D090224820}"/>
              </a:ext>
            </a:extLst>
          </p:cNvPr>
          <p:cNvPicPr>
            <a:picLocks noChangeAspect="1"/>
          </p:cNvPicPr>
          <p:nvPr/>
        </p:nvPicPr>
        <p:blipFill>
          <a:blip r:embed="rId3"/>
          <a:stretch>
            <a:fillRect/>
          </a:stretch>
        </p:blipFill>
        <p:spPr>
          <a:xfrm>
            <a:off x="44604" y="6327933"/>
            <a:ext cx="12102790" cy="524107"/>
          </a:xfrm>
          <a:prstGeom prst="rect">
            <a:avLst/>
          </a:prstGeom>
        </p:spPr>
      </p:pic>
      <p:graphicFrame>
        <p:nvGraphicFramePr>
          <p:cNvPr id="4" name="Table 3">
            <a:extLst>
              <a:ext uri="{FF2B5EF4-FFF2-40B4-BE49-F238E27FC236}">
                <a16:creationId xmlns:a16="http://schemas.microsoft.com/office/drawing/2014/main" id="{6F659646-BD4A-D6E6-9DF7-89A82630129B}"/>
              </a:ext>
            </a:extLst>
          </p:cNvPr>
          <p:cNvGraphicFramePr>
            <a:graphicFrameLocks noGrp="1" noDrilldown="1" noMove="1" noResize="1"/>
          </p:cNvGraphicFramePr>
          <p:nvPr>
            <p:extLst>
              <p:ext uri="{D42A27DB-BD31-4B8C-83A1-F6EECF244321}">
                <p14:modId xmlns:p14="http://schemas.microsoft.com/office/powerpoint/2010/main" val="1829037513"/>
              </p:ext>
            </p:extLst>
          </p:nvPr>
        </p:nvGraphicFramePr>
        <p:xfrm>
          <a:off x="44604" y="6330906"/>
          <a:ext cx="12102790" cy="579120"/>
        </p:xfrm>
        <a:graphic>
          <a:graphicData uri="http://schemas.openxmlformats.org/drawingml/2006/table">
            <a:tbl>
              <a:tblPr firstRow="1" bandRow="1">
                <a:tableStyleId>{3B4B98B0-60AC-42C2-AFA5-B58CD77FA1E5}</a:tableStyleId>
              </a:tblPr>
              <a:tblGrid>
                <a:gridCol w="12102790">
                  <a:extLst>
                    <a:ext uri="{9D8B030D-6E8A-4147-A177-3AD203B41FA5}">
                      <a16:colId xmlns:a16="http://schemas.microsoft.com/office/drawing/2014/main" val="3674735876"/>
                    </a:ext>
                  </a:extLst>
                </a:gridCol>
              </a:tblGrid>
              <a:tr h="524108">
                <a:tc>
                  <a:txBody>
                    <a:bodyPr/>
                    <a:lstStyle/>
                    <a:p>
                      <a:pPr algn="ctr"/>
                      <a:r>
                        <a:rPr lang="en-US" sz="1600" dirty="0">
                          <a:solidFill>
                            <a:schemeClr val="bg1"/>
                          </a:solidFill>
                          <a:latin typeface="Helvetica" pitchFamily="2" charset="0"/>
                        </a:rPr>
                        <a:t>CUET IT Business Incubator, Chattogram, Bangladesh</a:t>
                      </a:r>
                    </a:p>
                    <a:p>
                      <a:pPr algn="ctr"/>
                      <a:r>
                        <a:rPr lang="en-US" sz="1600" dirty="0">
                          <a:solidFill>
                            <a:schemeClr val="bg1"/>
                          </a:solidFill>
                          <a:latin typeface="Helvetica" pitchFamily="2" charset="0"/>
                        </a:rPr>
                        <a:t>25</a:t>
                      </a:r>
                      <a:r>
                        <a:rPr lang="en-US" sz="1600" baseline="30000" dirty="0">
                          <a:solidFill>
                            <a:schemeClr val="bg1"/>
                          </a:solidFill>
                          <a:latin typeface="Helvetica" pitchFamily="2" charset="0"/>
                        </a:rPr>
                        <a:t>th</a:t>
                      </a:r>
                      <a:r>
                        <a:rPr lang="en-US" sz="1600" dirty="0">
                          <a:solidFill>
                            <a:schemeClr val="bg1"/>
                          </a:solidFill>
                          <a:latin typeface="Helvetica" pitchFamily="2" charset="0"/>
                        </a:rPr>
                        <a:t> &amp; 26</a:t>
                      </a:r>
                      <a:r>
                        <a:rPr lang="en-US" sz="1600" baseline="30000" dirty="0">
                          <a:solidFill>
                            <a:schemeClr val="bg1"/>
                          </a:solidFill>
                          <a:latin typeface="Helvetica" pitchFamily="2" charset="0"/>
                        </a:rPr>
                        <a:t>th</a:t>
                      </a:r>
                      <a:r>
                        <a:rPr lang="en-US" sz="1600" dirty="0">
                          <a:solidFill>
                            <a:schemeClr val="bg1"/>
                          </a:solidFill>
                          <a:latin typeface="Helvetica" pitchFamily="2" charset="0"/>
                        </a:rPr>
                        <a:t> September 2024</a:t>
                      </a:r>
                    </a:p>
                  </a:txBody>
                  <a:tcPr>
                    <a:lnL>
                      <a:noFill/>
                    </a:lnL>
                    <a:lnR>
                      <a:noFill/>
                    </a:lnR>
                    <a:lnT w="12700" cmpd="sng">
                      <a:noFill/>
                    </a:lnT>
                    <a:lnB w="12700" cmpd="sng">
                      <a:noFill/>
                    </a:lnB>
                    <a:lnTlToBr w="12700" cmpd="sng">
                      <a:noFill/>
                      <a:prstDash val="solid"/>
                    </a:lnTlToBr>
                    <a:lnBlToTr w="12700" cmpd="sng">
                      <a:noFill/>
                      <a:prstDash val="solid"/>
                    </a:lnBlToTr>
                    <a:solidFill>
                      <a:srgbClr val="286AB3"/>
                    </a:solidFill>
                  </a:tcPr>
                </a:tc>
                <a:extLst>
                  <a:ext uri="{0D108BD9-81ED-4DB2-BD59-A6C34878D82A}">
                    <a16:rowId xmlns:a16="http://schemas.microsoft.com/office/drawing/2014/main" val="2193435611"/>
                  </a:ext>
                </a:extLst>
              </a:tr>
            </a:tbl>
          </a:graphicData>
        </a:graphic>
      </p:graphicFrame>
      <p:sp>
        <p:nvSpPr>
          <p:cNvPr id="5" name="Date Placeholder 6">
            <a:extLst>
              <a:ext uri="{FF2B5EF4-FFF2-40B4-BE49-F238E27FC236}">
                <a16:creationId xmlns:a16="http://schemas.microsoft.com/office/drawing/2014/main" id="{78ED2A5B-C98A-6FA8-516E-01E70DD54AA2}"/>
              </a:ext>
            </a:extLst>
          </p:cNvPr>
          <p:cNvSpPr>
            <a:spLocks noGrp="1"/>
          </p:cNvSpPr>
          <p:nvPr>
            <p:ph type="dt" sz="half" idx="10"/>
          </p:nvPr>
        </p:nvSpPr>
        <p:spPr>
          <a:xfrm>
            <a:off x="44604" y="5915810"/>
            <a:ext cx="2876396" cy="412123"/>
          </a:xfrm>
          <a:ln>
            <a:noFill/>
          </a:ln>
        </p:spPr>
        <p:txBody>
          <a:bodyPr/>
          <a:lstStyle/>
          <a:p>
            <a:pPr algn="ctr"/>
            <a:r>
              <a:rPr lang="en-US" sz="20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September 2024</a:t>
            </a:r>
          </a:p>
        </p:txBody>
      </p:sp>
      <p:grpSp>
        <p:nvGrpSpPr>
          <p:cNvPr id="1026" name="Group 12">
            <a:extLst>
              <a:ext uri="{FF2B5EF4-FFF2-40B4-BE49-F238E27FC236}">
                <a16:creationId xmlns:a16="http://schemas.microsoft.com/office/drawing/2014/main" id="{38231343-A29D-CB89-0843-3BB9F5EC69BE}"/>
              </a:ext>
            </a:extLst>
          </p:cNvPr>
          <p:cNvGrpSpPr/>
          <p:nvPr/>
        </p:nvGrpSpPr>
        <p:grpSpPr>
          <a:xfrm>
            <a:off x="11538857" y="5828369"/>
            <a:ext cx="338772" cy="362537"/>
            <a:chOff x="0" y="0"/>
            <a:chExt cx="812800" cy="869819"/>
          </a:xfrm>
        </p:grpSpPr>
        <p:sp>
          <p:nvSpPr>
            <p:cNvPr id="1027" name="Freeform 13">
              <a:extLst>
                <a:ext uri="{FF2B5EF4-FFF2-40B4-BE49-F238E27FC236}">
                  <a16:creationId xmlns:a16="http://schemas.microsoft.com/office/drawing/2014/main" id="{1905F193-A2F1-D21E-7B6D-A20ABC42CD6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sz="1200"/>
            </a:p>
          </p:txBody>
        </p:sp>
        <p:sp>
          <p:nvSpPr>
            <p:cNvPr id="1028" name="TextBox 14">
              <a:extLst>
                <a:ext uri="{FF2B5EF4-FFF2-40B4-BE49-F238E27FC236}">
                  <a16:creationId xmlns:a16="http://schemas.microsoft.com/office/drawing/2014/main" id="{ECB408F5-9D24-8BFC-AD94-AF0DC4542271}"/>
                </a:ext>
              </a:extLst>
            </p:cNvPr>
            <p:cNvSpPr txBox="1"/>
            <p:nvPr/>
          </p:nvSpPr>
          <p:spPr>
            <a:xfrm>
              <a:off x="76200" y="52970"/>
              <a:ext cx="660400" cy="735303"/>
            </a:xfrm>
            <a:prstGeom prst="rect">
              <a:avLst/>
            </a:prstGeom>
          </p:spPr>
          <p:txBody>
            <a:bodyPr lIns="33867" tIns="33867" rIns="33867" bIns="33867" rtlCol="0" anchor="ctr"/>
            <a:lstStyle/>
            <a:p>
              <a:pPr algn="ctr">
                <a:lnSpc>
                  <a:spcPts val="1587"/>
                </a:lnSpc>
                <a:spcBef>
                  <a:spcPct val="0"/>
                </a:spcBef>
              </a:pPr>
              <a:r>
                <a:rPr lang="en-US" sz="1133" dirty="0">
                  <a:solidFill>
                    <a:srgbClr val="191919"/>
                  </a:solidFill>
                  <a:latin typeface="Gotham"/>
                  <a:ea typeface="Gotham"/>
                  <a:cs typeface="Gotham"/>
                  <a:sym typeface="Gotham"/>
                </a:rPr>
                <a:t>1</a:t>
              </a:r>
            </a:p>
          </p:txBody>
        </p:sp>
      </p:grpSp>
      <p:pic>
        <p:nvPicPr>
          <p:cNvPr id="2" name="Picture 2">
            <a:extLst>
              <a:ext uri="{FF2B5EF4-FFF2-40B4-BE49-F238E27FC236}">
                <a16:creationId xmlns:a16="http://schemas.microsoft.com/office/drawing/2014/main" id="{E1315F2E-7E00-8485-F50F-64BCC4B33D47}"/>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a:stretch/>
        </p:blipFill>
        <p:spPr bwMode="auto">
          <a:xfrm>
            <a:off x="132734" y="443409"/>
            <a:ext cx="946917" cy="876158"/>
          </a:xfrm>
          <a:prstGeom prst="rect">
            <a:avLst/>
          </a:prstGeom>
          <a:noFill/>
          <a:ln w="9525">
            <a:noFill/>
            <a:miter lim="800000"/>
            <a:headEnd/>
            <a:tailEnd/>
          </a:ln>
          <a:effectLst/>
        </p:spPr>
      </p:pic>
      <p:pic>
        <p:nvPicPr>
          <p:cNvPr id="6" name="Picture 7">
            <a:extLst>
              <a:ext uri="{FF2B5EF4-FFF2-40B4-BE49-F238E27FC236}">
                <a16:creationId xmlns:a16="http://schemas.microsoft.com/office/drawing/2014/main" id="{7BEF72B4-2B78-11E8-7177-480FD4FF9549}"/>
              </a:ext>
            </a:extLst>
          </p:cNvPr>
          <p:cNvPicPr>
            <a:picLocks noGrp="1" noRo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a:stretch/>
        </p:blipFill>
        <p:spPr bwMode="auto">
          <a:xfrm>
            <a:off x="10500850" y="654314"/>
            <a:ext cx="1493901" cy="665253"/>
          </a:xfrm>
          <a:prstGeom prst="rect">
            <a:avLst/>
          </a:prstGeom>
          <a:noFill/>
          <a:ln w="9525">
            <a:noFill/>
            <a:miter lim="800000"/>
            <a:headEnd/>
            <a:tailEnd/>
          </a:ln>
          <a:effectLst/>
        </p:spPr>
      </p:pic>
    </p:spTree>
    <p:extLst>
      <p:ext uri="{BB962C8B-B14F-4D97-AF65-F5344CB8AC3E}">
        <p14:creationId xmlns:p14="http://schemas.microsoft.com/office/powerpoint/2010/main" val="1295823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6436F8AE-2C46-273D-8D90-B5331FF9BA12}"/>
              </a:ext>
            </a:extLst>
          </p:cNvPr>
          <p:cNvGrpSpPr>
            <a:grpSpLocks noGrp="1" noUngrp="1" noRot="1" noMove="1" noResize="1"/>
          </p:cNvGrpSpPr>
          <p:nvPr/>
        </p:nvGrpSpPr>
        <p:grpSpPr>
          <a:xfrm>
            <a:off x="0" y="0"/>
            <a:ext cx="12192000" cy="625651"/>
            <a:chOff x="0" y="0"/>
            <a:chExt cx="12192000" cy="625651"/>
          </a:xfrm>
        </p:grpSpPr>
        <p:sp>
          <p:nvSpPr>
            <p:cNvPr id="15" name="Flowchart: Process 14">
              <a:extLst>
                <a:ext uri="{FF2B5EF4-FFF2-40B4-BE49-F238E27FC236}">
                  <a16:creationId xmlns:a16="http://schemas.microsoft.com/office/drawing/2014/main" id="{FDD737A3-133C-084A-1A37-065ECBDEFADA}"/>
                </a:ext>
              </a:extLst>
            </p:cNvPr>
            <p:cNvSpPr>
              <a:spLocks noGrp="1" noRot="1" noMove="1" noResize="1" noEditPoints="1" noAdjustHandles="1" noChangeArrowheads="1" noChangeShapeType="1"/>
            </p:cNvSpPr>
            <p:nvPr/>
          </p:nvSpPr>
          <p:spPr>
            <a:xfrm>
              <a:off x="0" y="0"/>
              <a:ext cx="12192000" cy="441885"/>
            </a:xfrm>
            <a:prstGeom prst="flowChartProcess">
              <a:avLst/>
            </a:prstGeom>
            <a:solidFill>
              <a:srgbClr val="FAA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Process 15">
              <a:extLst>
                <a:ext uri="{FF2B5EF4-FFF2-40B4-BE49-F238E27FC236}">
                  <a16:creationId xmlns:a16="http://schemas.microsoft.com/office/drawing/2014/main" id="{2A2E1D3F-8C11-59E1-D1F4-A635A833C362}"/>
                </a:ext>
              </a:extLst>
            </p:cNvPr>
            <p:cNvSpPr>
              <a:spLocks noGrp="1" noRot="1" noMove="1" noResize="1" noEditPoints="1" noAdjustHandles="1" noChangeArrowheads="1" noChangeShapeType="1"/>
            </p:cNvSpPr>
            <p:nvPr/>
          </p:nvSpPr>
          <p:spPr>
            <a:xfrm>
              <a:off x="7199086" y="441885"/>
              <a:ext cx="4992913" cy="183766"/>
            </a:xfrm>
            <a:prstGeom prst="flowChartProcess">
              <a:avLst/>
            </a:prstGeom>
            <a:solidFill>
              <a:srgbClr val="4544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9"/>
          <p:cNvSpPr>
            <a:spLocks noGrp="1"/>
          </p:cNvSpPr>
          <p:nvPr>
            <p:ph type="title"/>
          </p:nvPr>
        </p:nvSpPr>
        <p:spPr>
          <a:xfrm>
            <a:off x="566057" y="983717"/>
            <a:ext cx="10972800" cy="1066800"/>
          </a:xfrm>
        </p:spPr>
        <p:txBody>
          <a:bodyPr/>
          <a:lstStyle/>
          <a:p>
            <a:r>
              <a:rPr lang="en-US" b="1" dirty="0">
                <a:solidFill>
                  <a:srgbClr val="002060"/>
                </a:solidFill>
                <a:cs typeface="Times New Roman" pitchFamily="18" charset="0"/>
              </a:rPr>
              <a:t>Abstract</a:t>
            </a:r>
            <a:endParaRPr lang="en-US" b="1" dirty="0">
              <a:solidFill>
                <a:srgbClr val="002060"/>
              </a:solidFill>
            </a:endParaRPr>
          </a:p>
        </p:txBody>
      </p:sp>
      <p:pic>
        <p:nvPicPr>
          <p:cNvPr id="3" name="Picture 2">
            <a:extLst>
              <a:ext uri="{FF2B5EF4-FFF2-40B4-BE49-F238E27FC236}">
                <a16:creationId xmlns:a16="http://schemas.microsoft.com/office/drawing/2014/main" id="{A3B236BD-4951-71CA-AFC7-67D090224820}"/>
              </a:ext>
            </a:extLst>
          </p:cNvPr>
          <p:cNvPicPr>
            <a:picLocks noChangeAspect="1"/>
          </p:cNvPicPr>
          <p:nvPr/>
        </p:nvPicPr>
        <p:blipFill>
          <a:blip r:embed="rId3"/>
          <a:stretch>
            <a:fillRect/>
          </a:stretch>
        </p:blipFill>
        <p:spPr>
          <a:xfrm>
            <a:off x="44604" y="6327933"/>
            <a:ext cx="12102790" cy="524107"/>
          </a:xfrm>
          <a:prstGeom prst="rect">
            <a:avLst/>
          </a:prstGeom>
        </p:spPr>
      </p:pic>
      <p:sp>
        <p:nvSpPr>
          <p:cNvPr id="17" name="Rectangle 4">
            <a:extLst>
              <a:ext uri="{FF2B5EF4-FFF2-40B4-BE49-F238E27FC236}">
                <a16:creationId xmlns:a16="http://schemas.microsoft.com/office/drawing/2014/main" id="{440D6DFB-4263-40CE-9960-6EBFD560C3F8}"/>
              </a:ext>
            </a:extLst>
          </p:cNvPr>
          <p:cNvSpPr>
            <a:spLocks noChangeArrowheads="1"/>
          </p:cNvSpPr>
          <p:nvPr/>
        </p:nvSpPr>
        <p:spPr bwMode="auto">
          <a:xfrm>
            <a:off x="534297" y="1654225"/>
            <a:ext cx="1091612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342900" lvl="0" indent="-342900" algn="just" eaLnBrk="0" fontAlgn="base" hangingPunct="0">
              <a:spcBef>
                <a:spcPct val="0"/>
              </a:spcBef>
              <a:spcAft>
                <a:spcPct val="0"/>
              </a:spcAft>
              <a:buFont typeface="Wingdings" panose="05000000000000000000" pitchFamily="2" charset="2"/>
              <a:buChar char="v"/>
            </a:pPr>
            <a:r>
              <a:rPr lang="en-US" b="1" dirty="0">
                <a:solidFill>
                  <a:srgbClr val="C00000"/>
                </a:solidFill>
                <a:latin typeface="Arial" panose="020B0604020202020204" pitchFamily="34" charset="0"/>
              </a:rPr>
              <a:t>Issue and Objective: </a:t>
            </a:r>
            <a:r>
              <a:rPr lang="en-US" b="1" dirty="0">
                <a:solidFill>
                  <a:srgbClr val="7030A0"/>
                </a:solidFill>
                <a:latin typeface="Arial" panose="020B0604020202020204" pitchFamily="34" charset="0"/>
              </a:rPr>
              <a:t>The need for a deep learning model to detect eye diseases using retinal images. The aim to improve detection of diseases like diabetic retinopathy, cataract, and glaucoma using CNN models.</a:t>
            </a:r>
          </a:p>
          <a:p>
            <a:pPr lvl="0" algn="just" eaLnBrk="0" fontAlgn="base" hangingPunct="0">
              <a:spcBef>
                <a:spcPct val="0"/>
              </a:spcBef>
              <a:spcAft>
                <a:spcPct val="0"/>
              </a:spcAft>
            </a:pPr>
            <a:endParaRPr lang="en-US" b="1" dirty="0">
              <a:solidFill>
                <a:srgbClr val="7030A0"/>
              </a:solidFill>
              <a:latin typeface="Arial" panose="020B0604020202020204" pitchFamily="34" charset="0"/>
            </a:endParaRPr>
          </a:p>
          <a:p>
            <a:pPr marL="342900" lvl="0" indent="-342900" algn="just" eaLnBrk="0" fontAlgn="base" hangingPunct="0">
              <a:spcBef>
                <a:spcPct val="0"/>
              </a:spcBef>
              <a:spcAft>
                <a:spcPct val="0"/>
              </a:spcAft>
              <a:buFont typeface="Wingdings" panose="05000000000000000000" pitchFamily="2" charset="2"/>
              <a:buChar char="v"/>
            </a:pPr>
            <a:r>
              <a:rPr lang="en-US" b="1" dirty="0">
                <a:solidFill>
                  <a:srgbClr val="C00000"/>
                </a:solidFill>
                <a:latin typeface="Arial" panose="020B0604020202020204" pitchFamily="34" charset="0"/>
              </a:rPr>
              <a:t>Methodology: </a:t>
            </a:r>
            <a:r>
              <a:rPr lang="en-US" b="1" dirty="0">
                <a:solidFill>
                  <a:srgbClr val="7030A0"/>
                </a:solidFill>
                <a:latin typeface="Arial" panose="020B0604020202020204" pitchFamily="34" charset="0"/>
              </a:rPr>
              <a:t>The use of Convolutional Neural Networks (CNNs), specifically EfficientNet-B3 and </a:t>
            </a:r>
            <a:r>
              <a:rPr lang="en-US" b="1" dirty="0" err="1">
                <a:solidFill>
                  <a:srgbClr val="7030A0"/>
                </a:solidFill>
                <a:latin typeface="Arial" panose="020B0604020202020204" pitchFamily="34" charset="0"/>
              </a:rPr>
              <a:t>Xception</a:t>
            </a:r>
            <a:r>
              <a:rPr lang="en-US" b="1" dirty="0">
                <a:solidFill>
                  <a:srgbClr val="7030A0"/>
                </a:solidFill>
                <a:latin typeface="Arial" panose="020B0604020202020204" pitchFamily="34" charset="0"/>
              </a:rPr>
              <a:t>. Application of models for both training and testing, with a focus on accuracy and precision.</a:t>
            </a:r>
          </a:p>
          <a:p>
            <a:pPr lvl="0" algn="just" eaLnBrk="0" fontAlgn="base" hangingPunct="0">
              <a:spcBef>
                <a:spcPct val="0"/>
              </a:spcBef>
              <a:spcAft>
                <a:spcPct val="0"/>
              </a:spcAft>
            </a:pPr>
            <a:endParaRPr lang="en-US" b="1" dirty="0">
              <a:solidFill>
                <a:srgbClr val="7030A0"/>
              </a:solidFill>
              <a:latin typeface="Arial" panose="020B0604020202020204" pitchFamily="34" charset="0"/>
            </a:endParaRPr>
          </a:p>
          <a:p>
            <a:pPr marL="342900" lvl="0" indent="-342900" algn="just" eaLnBrk="0" fontAlgn="base" hangingPunct="0">
              <a:spcBef>
                <a:spcPct val="0"/>
              </a:spcBef>
              <a:spcAft>
                <a:spcPct val="0"/>
              </a:spcAft>
              <a:buFont typeface="Wingdings" panose="05000000000000000000" pitchFamily="2" charset="2"/>
              <a:buChar char="v"/>
            </a:pPr>
            <a:r>
              <a:rPr lang="en-US" b="1" dirty="0">
                <a:solidFill>
                  <a:srgbClr val="C00000"/>
                </a:solidFill>
                <a:latin typeface="Arial" panose="020B0604020202020204" pitchFamily="34" charset="0"/>
              </a:rPr>
              <a:t>Results: </a:t>
            </a:r>
            <a:r>
              <a:rPr lang="en-US" b="1" dirty="0">
                <a:solidFill>
                  <a:srgbClr val="7030A0"/>
                </a:solidFill>
                <a:latin typeface="Arial" panose="020B0604020202020204" pitchFamily="34" charset="0"/>
              </a:rPr>
              <a:t>Achieved 100% accuracy in training and 94% accuracy in testing, showing minimal loss. Exceptional performance in precision, recall, and F1-score, achieving 100% in all metrics.</a:t>
            </a:r>
          </a:p>
          <a:p>
            <a:pPr lvl="0" algn="just" eaLnBrk="0" fontAlgn="base" hangingPunct="0">
              <a:spcBef>
                <a:spcPct val="0"/>
              </a:spcBef>
              <a:spcAft>
                <a:spcPct val="0"/>
              </a:spcAft>
            </a:pPr>
            <a:endParaRPr lang="en-US" b="1" dirty="0">
              <a:solidFill>
                <a:srgbClr val="7030A0"/>
              </a:solidFill>
              <a:latin typeface="Arial" panose="020B0604020202020204" pitchFamily="34" charset="0"/>
            </a:endParaRPr>
          </a:p>
          <a:p>
            <a:pPr marL="342900" indent="-342900" algn="just" eaLnBrk="0" fontAlgn="base" hangingPunct="0">
              <a:spcBef>
                <a:spcPct val="0"/>
              </a:spcBef>
              <a:spcAft>
                <a:spcPct val="0"/>
              </a:spcAft>
              <a:buFont typeface="Wingdings" panose="05000000000000000000" pitchFamily="2" charset="2"/>
              <a:buChar char="v"/>
            </a:pPr>
            <a:r>
              <a:rPr lang="en-US" b="1" dirty="0">
                <a:solidFill>
                  <a:srgbClr val="C00000"/>
                </a:solidFill>
                <a:latin typeface="Arial" panose="020B0604020202020204" pitchFamily="34" charset="0"/>
              </a:rPr>
              <a:t>Conclusion: </a:t>
            </a:r>
            <a:r>
              <a:rPr lang="en-US" b="1" dirty="0">
                <a:solidFill>
                  <a:srgbClr val="7030A0"/>
                </a:solidFill>
                <a:latin typeface="Arial" panose="020B0604020202020204" pitchFamily="34" charset="0"/>
              </a:rPr>
              <a:t>The proposed deep learning approach is more efficient and accurate compared to traditional methods. This approach can assist medical professionals and researchers in improving diagnostic capabilities.</a:t>
            </a:r>
          </a:p>
          <a:p>
            <a:pPr lvl="0" algn="just" eaLnBrk="0" fontAlgn="base" hangingPunct="0">
              <a:spcBef>
                <a:spcPct val="0"/>
              </a:spcBef>
              <a:spcAft>
                <a:spcPct val="0"/>
              </a:spcAft>
            </a:pPr>
            <a:endParaRPr kumimoji="0" lang="en-US" altLang="en-US" i="0" u="none" strike="noStrike" cap="none" normalizeH="0" baseline="0" dirty="0">
              <a:ln>
                <a:noFill/>
              </a:ln>
              <a:solidFill>
                <a:srgbClr val="002060"/>
              </a:solidFill>
              <a:effectLst/>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42EDABE6-ADE4-B488-26C2-955FAA1BA0FA}"/>
              </a:ext>
            </a:extLst>
          </p:cNvPr>
          <p:cNvGraphicFramePr>
            <a:graphicFrameLocks noGrp="1" noDrilldown="1" noMove="1" noResize="1"/>
          </p:cNvGraphicFramePr>
          <p:nvPr/>
        </p:nvGraphicFramePr>
        <p:xfrm>
          <a:off x="44604" y="6330906"/>
          <a:ext cx="12102790" cy="579120"/>
        </p:xfrm>
        <a:graphic>
          <a:graphicData uri="http://schemas.openxmlformats.org/drawingml/2006/table">
            <a:tbl>
              <a:tblPr firstRow="1" bandRow="1">
                <a:tableStyleId>{3B4B98B0-60AC-42C2-AFA5-B58CD77FA1E5}</a:tableStyleId>
              </a:tblPr>
              <a:tblGrid>
                <a:gridCol w="12102790">
                  <a:extLst>
                    <a:ext uri="{9D8B030D-6E8A-4147-A177-3AD203B41FA5}">
                      <a16:colId xmlns:a16="http://schemas.microsoft.com/office/drawing/2014/main" val="3674735876"/>
                    </a:ext>
                  </a:extLst>
                </a:gridCol>
              </a:tblGrid>
              <a:tr h="524108">
                <a:tc>
                  <a:txBody>
                    <a:bodyPr/>
                    <a:lstStyle/>
                    <a:p>
                      <a:pPr algn="ctr"/>
                      <a:r>
                        <a:rPr lang="en-US" sz="1600" dirty="0">
                          <a:solidFill>
                            <a:schemeClr val="bg1"/>
                          </a:solidFill>
                          <a:latin typeface="Helvetica" pitchFamily="2" charset="0"/>
                        </a:rPr>
                        <a:t>CUET IT Business Incubator, Chattogram, Bangladesh</a:t>
                      </a:r>
                    </a:p>
                    <a:p>
                      <a:pPr algn="ctr"/>
                      <a:r>
                        <a:rPr lang="en-US" sz="1600" dirty="0">
                          <a:solidFill>
                            <a:schemeClr val="bg1"/>
                          </a:solidFill>
                          <a:latin typeface="Helvetica" pitchFamily="2" charset="0"/>
                        </a:rPr>
                        <a:t>25</a:t>
                      </a:r>
                      <a:r>
                        <a:rPr lang="en-US" sz="1600" baseline="30000" dirty="0">
                          <a:solidFill>
                            <a:schemeClr val="bg1"/>
                          </a:solidFill>
                          <a:latin typeface="Helvetica" pitchFamily="2" charset="0"/>
                        </a:rPr>
                        <a:t>th</a:t>
                      </a:r>
                      <a:r>
                        <a:rPr lang="en-US" sz="1600" dirty="0">
                          <a:solidFill>
                            <a:schemeClr val="bg1"/>
                          </a:solidFill>
                          <a:latin typeface="Helvetica" pitchFamily="2" charset="0"/>
                        </a:rPr>
                        <a:t> &amp; 26</a:t>
                      </a:r>
                      <a:r>
                        <a:rPr lang="en-US" sz="1600" baseline="30000" dirty="0">
                          <a:solidFill>
                            <a:schemeClr val="bg1"/>
                          </a:solidFill>
                          <a:latin typeface="Helvetica" pitchFamily="2" charset="0"/>
                        </a:rPr>
                        <a:t>th</a:t>
                      </a:r>
                      <a:r>
                        <a:rPr lang="en-US" sz="1600" dirty="0">
                          <a:solidFill>
                            <a:schemeClr val="bg1"/>
                          </a:solidFill>
                          <a:latin typeface="Helvetica" pitchFamily="2" charset="0"/>
                        </a:rPr>
                        <a:t> September 2024</a:t>
                      </a:r>
                    </a:p>
                  </a:txBody>
                  <a:tcPr>
                    <a:lnL>
                      <a:noFill/>
                    </a:lnL>
                    <a:lnR>
                      <a:noFill/>
                    </a:lnR>
                    <a:lnT w="12700" cmpd="sng">
                      <a:noFill/>
                    </a:lnT>
                    <a:lnB w="12700" cmpd="sng">
                      <a:noFill/>
                    </a:lnB>
                    <a:lnTlToBr w="12700" cmpd="sng">
                      <a:noFill/>
                      <a:prstDash val="solid"/>
                    </a:lnTlToBr>
                    <a:lnBlToTr w="12700" cmpd="sng">
                      <a:noFill/>
                      <a:prstDash val="solid"/>
                    </a:lnBlToTr>
                    <a:solidFill>
                      <a:srgbClr val="286AB3"/>
                    </a:solidFill>
                  </a:tcPr>
                </a:tc>
                <a:extLst>
                  <a:ext uri="{0D108BD9-81ED-4DB2-BD59-A6C34878D82A}">
                    <a16:rowId xmlns:a16="http://schemas.microsoft.com/office/drawing/2014/main" val="2193435611"/>
                  </a:ext>
                </a:extLst>
              </a:tr>
            </a:tbl>
          </a:graphicData>
        </a:graphic>
      </p:graphicFrame>
      <p:sp>
        <p:nvSpPr>
          <p:cNvPr id="8" name="Date Placeholder 6">
            <a:extLst>
              <a:ext uri="{FF2B5EF4-FFF2-40B4-BE49-F238E27FC236}">
                <a16:creationId xmlns:a16="http://schemas.microsoft.com/office/drawing/2014/main" id="{94C06C66-EE35-5E0A-51B4-D7297279E43D}"/>
              </a:ext>
            </a:extLst>
          </p:cNvPr>
          <p:cNvSpPr>
            <a:spLocks noGrp="1"/>
          </p:cNvSpPr>
          <p:nvPr>
            <p:ph type="dt" sz="half" idx="10"/>
          </p:nvPr>
        </p:nvSpPr>
        <p:spPr>
          <a:xfrm>
            <a:off x="44604" y="5974802"/>
            <a:ext cx="2876396" cy="412123"/>
          </a:xfrm>
          <a:ln>
            <a:noFill/>
          </a:ln>
        </p:spPr>
        <p:txBody>
          <a:bodyPr/>
          <a:lstStyle/>
          <a:p>
            <a:pPr algn="ctr"/>
            <a:r>
              <a:rPr lang="en-US" sz="20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September 2024</a:t>
            </a:r>
          </a:p>
        </p:txBody>
      </p:sp>
      <p:pic>
        <p:nvPicPr>
          <p:cNvPr id="2" name="Picture 2">
            <a:extLst>
              <a:ext uri="{FF2B5EF4-FFF2-40B4-BE49-F238E27FC236}">
                <a16:creationId xmlns:a16="http://schemas.microsoft.com/office/drawing/2014/main" id="{18372558-E56B-4539-FDFC-17440941CD09}"/>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a:stretch/>
        </p:blipFill>
        <p:spPr bwMode="auto">
          <a:xfrm>
            <a:off x="132734" y="443409"/>
            <a:ext cx="946917" cy="876158"/>
          </a:xfrm>
          <a:prstGeom prst="rect">
            <a:avLst/>
          </a:prstGeom>
          <a:noFill/>
          <a:ln w="9525">
            <a:noFill/>
            <a:miter lim="800000"/>
            <a:headEnd/>
            <a:tailEnd/>
          </a:ln>
          <a:effectLst/>
        </p:spPr>
      </p:pic>
      <p:pic>
        <p:nvPicPr>
          <p:cNvPr id="4" name="Picture 7">
            <a:extLst>
              <a:ext uri="{FF2B5EF4-FFF2-40B4-BE49-F238E27FC236}">
                <a16:creationId xmlns:a16="http://schemas.microsoft.com/office/drawing/2014/main" id="{8CB880C3-506B-F129-29D1-44B3A8E7AB0C}"/>
              </a:ext>
            </a:extLst>
          </p:cNvPr>
          <p:cNvPicPr>
            <a:picLocks noGrp="1" noRo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a:stretch/>
        </p:blipFill>
        <p:spPr bwMode="auto">
          <a:xfrm>
            <a:off x="10500850" y="654314"/>
            <a:ext cx="1493901" cy="665253"/>
          </a:xfrm>
          <a:prstGeom prst="rect">
            <a:avLst/>
          </a:prstGeom>
          <a:noFill/>
          <a:ln w="9525">
            <a:noFill/>
            <a:miter lim="800000"/>
            <a:headEnd/>
            <a:tailEnd/>
          </a:ln>
          <a:effectLst/>
        </p:spPr>
      </p:pic>
      <p:grpSp>
        <p:nvGrpSpPr>
          <p:cNvPr id="7" name="Group 12">
            <a:extLst>
              <a:ext uri="{FF2B5EF4-FFF2-40B4-BE49-F238E27FC236}">
                <a16:creationId xmlns:a16="http://schemas.microsoft.com/office/drawing/2014/main" id="{8B1E6DED-485E-BBB0-6B85-BEE53417FA46}"/>
              </a:ext>
            </a:extLst>
          </p:cNvPr>
          <p:cNvGrpSpPr/>
          <p:nvPr/>
        </p:nvGrpSpPr>
        <p:grpSpPr>
          <a:xfrm>
            <a:off x="11538857" y="5828369"/>
            <a:ext cx="338772" cy="362537"/>
            <a:chOff x="0" y="0"/>
            <a:chExt cx="812800" cy="869819"/>
          </a:xfrm>
        </p:grpSpPr>
        <p:sp>
          <p:nvSpPr>
            <p:cNvPr id="11" name="Freeform 13">
              <a:extLst>
                <a:ext uri="{FF2B5EF4-FFF2-40B4-BE49-F238E27FC236}">
                  <a16:creationId xmlns:a16="http://schemas.microsoft.com/office/drawing/2014/main" id="{F159244B-9A0F-044F-D966-DEFE51C41E4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sz="1200"/>
            </a:p>
          </p:txBody>
        </p:sp>
        <p:sp>
          <p:nvSpPr>
            <p:cNvPr id="13" name="TextBox 14">
              <a:extLst>
                <a:ext uri="{FF2B5EF4-FFF2-40B4-BE49-F238E27FC236}">
                  <a16:creationId xmlns:a16="http://schemas.microsoft.com/office/drawing/2014/main" id="{79055CAF-576A-1E4F-4065-AAAAF484AA50}"/>
                </a:ext>
              </a:extLst>
            </p:cNvPr>
            <p:cNvSpPr txBox="1"/>
            <p:nvPr/>
          </p:nvSpPr>
          <p:spPr>
            <a:xfrm>
              <a:off x="76200" y="52970"/>
              <a:ext cx="660400" cy="735303"/>
            </a:xfrm>
            <a:prstGeom prst="rect">
              <a:avLst/>
            </a:prstGeom>
          </p:spPr>
          <p:txBody>
            <a:bodyPr lIns="33867" tIns="33867" rIns="33867" bIns="33867" rtlCol="0" anchor="ctr"/>
            <a:lstStyle/>
            <a:p>
              <a:pPr algn="ctr">
                <a:lnSpc>
                  <a:spcPts val="1587"/>
                </a:lnSpc>
                <a:spcBef>
                  <a:spcPct val="0"/>
                </a:spcBef>
              </a:pPr>
              <a:r>
                <a:rPr lang="en-US" sz="1133" dirty="0">
                  <a:solidFill>
                    <a:srgbClr val="191919"/>
                  </a:solidFill>
                  <a:latin typeface="Gotham"/>
                  <a:ea typeface="Gotham"/>
                  <a:cs typeface="Gotham"/>
                  <a:sym typeface="Gotham"/>
                </a:rPr>
                <a:t>2</a:t>
              </a:r>
            </a:p>
          </p:txBody>
        </p:sp>
      </p:grpSp>
    </p:spTree>
    <p:extLst>
      <p:ext uri="{BB962C8B-B14F-4D97-AF65-F5344CB8AC3E}">
        <p14:creationId xmlns:p14="http://schemas.microsoft.com/office/powerpoint/2010/main" val="12021780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FFFAEFCD-8158-7C1E-C7B0-65B1C1246C27}"/>
              </a:ext>
            </a:extLst>
          </p:cNvPr>
          <p:cNvGrpSpPr>
            <a:grpSpLocks noGrp="1" noUngrp="1" noRot="1" noMove="1" noResize="1"/>
          </p:cNvGrpSpPr>
          <p:nvPr/>
        </p:nvGrpSpPr>
        <p:grpSpPr>
          <a:xfrm>
            <a:off x="0" y="0"/>
            <a:ext cx="12192000" cy="625651"/>
            <a:chOff x="0" y="0"/>
            <a:chExt cx="12192000" cy="625651"/>
          </a:xfrm>
        </p:grpSpPr>
        <p:sp>
          <p:nvSpPr>
            <p:cNvPr id="17" name="Flowchart: Process 16">
              <a:extLst>
                <a:ext uri="{FF2B5EF4-FFF2-40B4-BE49-F238E27FC236}">
                  <a16:creationId xmlns:a16="http://schemas.microsoft.com/office/drawing/2014/main" id="{7BC88339-E690-3E71-86EE-D2E93D8796D9}"/>
                </a:ext>
              </a:extLst>
            </p:cNvPr>
            <p:cNvSpPr>
              <a:spLocks noGrp="1" noRot="1" noMove="1" noResize="1" noEditPoints="1" noAdjustHandles="1" noChangeArrowheads="1" noChangeShapeType="1"/>
            </p:cNvSpPr>
            <p:nvPr/>
          </p:nvSpPr>
          <p:spPr>
            <a:xfrm>
              <a:off x="0" y="0"/>
              <a:ext cx="12192000" cy="441885"/>
            </a:xfrm>
            <a:prstGeom prst="flowChartProcess">
              <a:avLst/>
            </a:prstGeom>
            <a:solidFill>
              <a:srgbClr val="FAA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Process 17">
              <a:extLst>
                <a:ext uri="{FF2B5EF4-FFF2-40B4-BE49-F238E27FC236}">
                  <a16:creationId xmlns:a16="http://schemas.microsoft.com/office/drawing/2014/main" id="{04368459-D619-1478-C942-D0969A9FE668}"/>
                </a:ext>
              </a:extLst>
            </p:cNvPr>
            <p:cNvSpPr>
              <a:spLocks noGrp="1" noRot="1" noMove="1" noResize="1" noEditPoints="1" noAdjustHandles="1" noChangeArrowheads="1" noChangeShapeType="1"/>
            </p:cNvSpPr>
            <p:nvPr/>
          </p:nvSpPr>
          <p:spPr>
            <a:xfrm>
              <a:off x="7199086" y="441885"/>
              <a:ext cx="4992913" cy="183766"/>
            </a:xfrm>
            <a:prstGeom prst="flowChartProcess">
              <a:avLst/>
            </a:prstGeom>
            <a:solidFill>
              <a:srgbClr val="4544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9"/>
          <p:cNvSpPr>
            <a:spLocks noGrp="1"/>
          </p:cNvSpPr>
          <p:nvPr>
            <p:ph type="title"/>
          </p:nvPr>
        </p:nvSpPr>
        <p:spPr/>
        <p:txBody>
          <a:bodyPr/>
          <a:lstStyle/>
          <a:p>
            <a:r>
              <a:rPr lang="en-US" b="1" dirty="0">
                <a:solidFill>
                  <a:srgbClr val="002060"/>
                </a:solidFill>
                <a:cs typeface="Times New Roman" pitchFamily="18" charset="0"/>
              </a:rPr>
              <a:t>Introduction </a:t>
            </a:r>
            <a:endParaRPr lang="en-US" b="1" dirty="0">
              <a:solidFill>
                <a:srgbClr val="002060"/>
              </a:solidFill>
            </a:endParaRPr>
          </a:p>
        </p:txBody>
      </p:sp>
      <p:pic>
        <p:nvPicPr>
          <p:cNvPr id="3" name="Picture 2">
            <a:extLst>
              <a:ext uri="{FF2B5EF4-FFF2-40B4-BE49-F238E27FC236}">
                <a16:creationId xmlns:a16="http://schemas.microsoft.com/office/drawing/2014/main" id="{A3B236BD-4951-71CA-AFC7-67D090224820}"/>
              </a:ext>
            </a:extLst>
          </p:cNvPr>
          <p:cNvPicPr>
            <a:picLocks noChangeAspect="1"/>
          </p:cNvPicPr>
          <p:nvPr/>
        </p:nvPicPr>
        <p:blipFill>
          <a:blip r:embed="rId3"/>
          <a:stretch>
            <a:fillRect/>
          </a:stretch>
        </p:blipFill>
        <p:spPr>
          <a:xfrm>
            <a:off x="44604" y="6327933"/>
            <a:ext cx="12102790" cy="524107"/>
          </a:xfrm>
          <a:prstGeom prst="rect">
            <a:avLst/>
          </a:prstGeom>
        </p:spPr>
      </p:pic>
      <p:sp>
        <p:nvSpPr>
          <p:cNvPr id="15" name="Rectangle 4">
            <a:extLst>
              <a:ext uri="{FF2B5EF4-FFF2-40B4-BE49-F238E27FC236}">
                <a16:creationId xmlns:a16="http://schemas.microsoft.com/office/drawing/2014/main" id="{EC0FABD8-82B2-40A0-8CD8-43A68112478B}"/>
              </a:ext>
            </a:extLst>
          </p:cNvPr>
          <p:cNvSpPr>
            <a:spLocks noChangeArrowheads="1"/>
          </p:cNvSpPr>
          <p:nvPr/>
        </p:nvSpPr>
        <p:spPr bwMode="auto">
          <a:xfrm>
            <a:off x="503253" y="1825046"/>
            <a:ext cx="6219305"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lnSpc>
                <a:spcPct val="150000"/>
              </a:lnSpc>
              <a:spcBef>
                <a:spcPct val="0"/>
              </a:spcBef>
              <a:spcAft>
                <a:spcPct val="0"/>
              </a:spcAft>
              <a:buFont typeface="Wingdings" panose="05000000000000000000" pitchFamily="2" charset="2"/>
              <a:buChar char="Ø"/>
            </a:pPr>
            <a:r>
              <a:rPr kumimoji="0" lang="en-US" altLang="en-US" b="1" i="0" u="none" strike="noStrike" cap="none" normalizeH="0" baseline="0" dirty="0">
                <a:ln>
                  <a:noFill/>
                </a:ln>
                <a:solidFill>
                  <a:srgbClr val="7030A0"/>
                </a:solidFill>
                <a:effectLst/>
                <a:latin typeface="Arial" panose="020B0604020202020204" pitchFamily="34" charset="0"/>
              </a:rPr>
              <a:t>Eye diseases detection like </a:t>
            </a:r>
            <a:r>
              <a:rPr kumimoji="0" lang="en-US" altLang="en-US" b="1" i="0" u="none" strike="noStrike" cap="none" normalizeH="0" baseline="0" dirty="0">
                <a:ln>
                  <a:noFill/>
                </a:ln>
                <a:solidFill>
                  <a:srgbClr val="00B0F0"/>
                </a:solidFill>
                <a:effectLst/>
                <a:latin typeface="Arial" panose="020B0604020202020204" pitchFamily="34" charset="0"/>
              </a:rPr>
              <a:t>Glaucoma, Cataract</a:t>
            </a:r>
            <a:r>
              <a:rPr kumimoji="0" lang="en-US" altLang="en-US" b="1" i="0" u="none" strike="noStrike" cap="none" normalizeH="0" baseline="0" dirty="0">
                <a:ln>
                  <a:noFill/>
                </a:ln>
                <a:solidFill>
                  <a:srgbClr val="7030A0"/>
                </a:solidFill>
                <a:effectLst/>
                <a:latin typeface="Arial" panose="020B0604020202020204" pitchFamily="34" charset="0"/>
              </a:rPr>
              <a:t>  and </a:t>
            </a:r>
            <a:r>
              <a:rPr kumimoji="0" lang="en-US" altLang="en-US" b="1" i="0" u="none" strike="noStrike" cap="none" normalizeH="0" baseline="0" dirty="0">
                <a:ln>
                  <a:noFill/>
                </a:ln>
                <a:solidFill>
                  <a:srgbClr val="00B0F0"/>
                </a:solidFill>
                <a:effectLst/>
                <a:latin typeface="Arial" panose="020B0604020202020204" pitchFamily="34" charset="0"/>
              </a:rPr>
              <a:t>Diabetic Retinopathy </a:t>
            </a:r>
            <a:r>
              <a:rPr kumimoji="0" lang="en-US" altLang="en-US" b="1" i="0" u="none" strike="noStrike" cap="none" normalizeH="0" baseline="0" dirty="0">
                <a:ln>
                  <a:noFill/>
                </a:ln>
                <a:solidFill>
                  <a:srgbClr val="7030A0"/>
                </a:solidFill>
                <a:effectLst/>
                <a:latin typeface="Arial" panose="020B0604020202020204" pitchFamily="34" charset="0"/>
              </a:rPr>
              <a:t>compared to normal eye.</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rgbClr val="7030A0"/>
                </a:solidFill>
                <a:effectLst/>
                <a:latin typeface="Arial" panose="020B0604020202020204" pitchFamily="34" charset="0"/>
              </a:rPr>
              <a:t>Effective treatment requires </a:t>
            </a:r>
            <a:r>
              <a:rPr kumimoji="0" lang="en-US" altLang="en-US" b="1" i="0" u="none" strike="noStrike" cap="none" normalizeH="0" baseline="0" dirty="0">
                <a:ln>
                  <a:noFill/>
                </a:ln>
                <a:solidFill>
                  <a:srgbClr val="C00000"/>
                </a:solidFill>
                <a:effectLst/>
                <a:latin typeface="Arial" panose="020B0604020202020204" pitchFamily="34" charset="0"/>
              </a:rPr>
              <a:t>an early diagnosis</a:t>
            </a:r>
            <a:r>
              <a:rPr kumimoji="0" lang="en-US" altLang="en-US" b="1" i="0" u="none" strike="noStrike" cap="none" normalizeH="0" baseline="0" dirty="0">
                <a:ln>
                  <a:noFill/>
                </a:ln>
                <a:solidFill>
                  <a:srgbClr val="7030A0"/>
                </a:solidFill>
                <a:effectLst/>
                <a:latin typeface="Arial" panose="020B0604020202020204" pitchFamily="34" charset="0"/>
              </a:rPr>
              <a:t>, and identifying in </a:t>
            </a:r>
            <a:r>
              <a:rPr kumimoji="0" lang="en-US" altLang="en-US" b="1" i="0" u="none" strike="noStrike" cap="none" normalizeH="0" baseline="0" dirty="0">
                <a:ln>
                  <a:noFill/>
                </a:ln>
                <a:solidFill>
                  <a:srgbClr val="C00000"/>
                </a:solidFill>
                <a:effectLst/>
                <a:latin typeface="Arial" panose="020B0604020202020204" pitchFamily="34" charset="0"/>
              </a:rPr>
              <a:t>retinal image analysis.</a:t>
            </a:r>
          </a:p>
          <a:p>
            <a:pPr marR="0" lvl="0" algn="just"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rgbClr val="FF0000"/>
                </a:solidFill>
                <a:effectLst/>
                <a:latin typeface="Arial" panose="020B0604020202020204" pitchFamily="34" charset="0"/>
              </a:rPr>
              <a:t>Using Deep learning for Eye Disease: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1" i="0" u="none" strike="noStrike" cap="none" normalizeH="0" baseline="0" dirty="0">
                <a:ln>
                  <a:noFill/>
                </a:ln>
                <a:solidFill>
                  <a:srgbClr val="C00000"/>
                </a:solidFill>
                <a:effectLst/>
                <a:latin typeface="Arial" panose="020B0604020202020204" pitchFamily="34" charset="0"/>
              </a:rPr>
              <a:t>Computer-aided diagnosis </a:t>
            </a:r>
            <a:r>
              <a:rPr kumimoji="0" lang="en-US" altLang="en-US" b="1" i="0" u="none" strike="noStrike" cap="none" normalizeH="0" baseline="0" dirty="0">
                <a:ln>
                  <a:noFill/>
                </a:ln>
                <a:solidFill>
                  <a:srgbClr val="7030A0"/>
                </a:solidFill>
                <a:effectLst/>
                <a:latin typeface="Arial" panose="020B0604020202020204" pitchFamily="34" charset="0"/>
              </a:rPr>
              <a:t>(CAD) systems seek to support medical professionals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1" i="0" u="none" strike="noStrike" cap="none" normalizeH="0" baseline="0" dirty="0">
                <a:ln>
                  <a:noFill/>
                </a:ln>
                <a:solidFill>
                  <a:srgbClr val="7030A0"/>
                </a:solidFill>
                <a:effectLst/>
                <a:latin typeface="Arial" panose="020B0604020202020204" pitchFamily="34" charset="0"/>
              </a:rPr>
              <a:t>Medical image analysis by pre-trained Convolutional Neural Network (CNN)       </a:t>
            </a:r>
            <a:r>
              <a:rPr kumimoji="0" lang="en-US" altLang="en-US" b="1" i="0" u="none" strike="noStrike" cap="none" normalizeH="0" baseline="0" dirty="0">
                <a:ln>
                  <a:noFill/>
                </a:ln>
                <a:solidFill>
                  <a:srgbClr val="C00000"/>
                </a:solidFill>
                <a:effectLst/>
                <a:latin typeface="Arial" panose="020B0604020202020204" pitchFamily="34" charset="0"/>
              </a:rPr>
              <a:t>Transfer Learning </a:t>
            </a:r>
          </a:p>
        </p:txBody>
      </p:sp>
      <p:graphicFrame>
        <p:nvGraphicFramePr>
          <p:cNvPr id="4" name="Table 3">
            <a:extLst>
              <a:ext uri="{FF2B5EF4-FFF2-40B4-BE49-F238E27FC236}">
                <a16:creationId xmlns:a16="http://schemas.microsoft.com/office/drawing/2014/main" id="{6E7B13F8-D8A0-19DF-2B0A-4B741762193A}"/>
              </a:ext>
            </a:extLst>
          </p:cNvPr>
          <p:cNvGraphicFramePr>
            <a:graphicFrameLocks noGrp="1" noDrilldown="1" noMove="1" noResize="1"/>
          </p:cNvGraphicFramePr>
          <p:nvPr>
            <p:extLst>
              <p:ext uri="{D42A27DB-BD31-4B8C-83A1-F6EECF244321}">
                <p14:modId xmlns:p14="http://schemas.microsoft.com/office/powerpoint/2010/main" val="1906767173"/>
              </p:ext>
            </p:extLst>
          </p:nvPr>
        </p:nvGraphicFramePr>
        <p:xfrm>
          <a:off x="44604" y="6330906"/>
          <a:ext cx="12102790" cy="579120"/>
        </p:xfrm>
        <a:graphic>
          <a:graphicData uri="http://schemas.openxmlformats.org/drawingml/2006/table">
            <a:tbl>
              <a:tblPr firstRow="1" bandRow="1">
                <a:tableStyleId>{3B4B98B0-60AC-42C2-AFA5-B58CD77FA1E5}</a:tableStyleId>
              </a:tblPr>
              <a:tblGrid>
                <a:gridCol w="12102790">
                  <a:extLst>
                    <a:ext uri="{9D8B030D-6E8A-4147-A177-3AD203B41FA5}">
                      <a16:colId xmlns:a16="http://schemas.microsoft.com/office/drawing/2014/main" val="3674735876"/>
                    </a:ext>
                  </a:extLst>
                </a:gridCol>
              </a:tblGrid>
              <a:tr h="524108">
                <a:tc>
                  <a:txBody>
                    <a:bodyPr/>
                    <a:lstStyle/>
                    <a:p>
                      <a:pPr algn="ctr"/>
                      <a:r>
                        <a:rPr lang="en-US" sz="1600" dirty="0">
                          <a:solidFill>
                            <a:schemeClr val="bg1"/>
                          </a:solidFill>
                          <a:latin typeface="Helvetica" pitchFamily="2" charset="0"/>
                        </a:rPr>
                        <a:t>CUET IT Business Incubator, Chattogram, Bangladesh</a:t>
                      </a:r>
                    </a:p>
                    <a:p>
                      <a:pPr algn="ctr"/>
                      <a:r>
                        <a:rPr lang="en-US" sz="1600" dirty="0">
                          <a:solidFill>
                            <a:schemeClr val="bg1"/>
                          </a:solidFill>
                          <a:latin typeface="Helvetica" pitchFamily="2" charset="0"/>
                        </a:rPr>
                        <a:t>25</a:t>
                      </a:r>
                      <a:r>
                        <a:rPr lang="en-US" sz="1600" baseline="30000" dirty="0">
                          <a:solidFill>
                            <a:schemeClr val="bg1"/>
                          </a:solidFill>
                          <a:latin typeface="Helvetica" pitchFamily="2" charset="0"/>
                        </a:rPr>
                        <a:t>th</a:t>
                      </a:r>
                      <a:r>
                        <a:rPr lang="en-US" sz="1600" dirty="0">
                          <a:solidFill>
                            <a:schemeClr val="bg1"/>
                          </a:solidFill>
                          <a:latin typeface="Helvetica" pitchFamily="2" charset="0"/>
                        </a:rPr>
                        <a:t> &amp; 26</a:t>
                      </a:r>
                      <a:r>
                        <a:rPr lang="en-US" sz="1600" baseline="30000" dirty="0">
                          <a:solidFill>
                            <a:schemeClr val="bg1"/>
                          </a:solidFill>
                          <a:latin typeface="Helvetica" pitchFamily="2" charset="0"/>
                        </a:rPr>
                        <a:t>th</a:t>
                      </a:r>
                      <a:r>
                        <a:rPr lang="en-US" sz="1600" dirty="0">
                          <a:solidFill>
                            <a:schemeClr val="bg1"/>
                          </a:solidFill>
                          <a:latin typeface="Helvetica" pitchFamily="2" charset="0"/>
                        </a:rPr>
                        <a:t> September 2024</a:t>
                      </a:r>
                    </a:p>
                  </a:txBody>
                  <a:tcPr>
                    <a:lnL>
                      <a:noFill/>
                    </a:lnL>
                    <a:lnR>
                      <a:noFill/>
                    </a:lnR>
                    <a:lnT w="12700" cmpd="sng">
                      <a:noFill/>
                    </a:lnT>
                    <a:lnB w="12700" cmpd="sng">
                      <a:noFill/>
                    </a:lnB>
                    <a:lnTlToBr w="12700" cmpd="sng">
                      <a:noFill/>
                      <a:prstDash val="solid"/>
                    </a:lnTlToBr>
                    <a:lnBlToTr w="12700" cmpd="sng">
                      <a:noFill/>
                      <a:prstDash val="solid"/>
                    </a:lnBlToTr>
                    <a:solidFill>
                      <a:srgbClr val="286AB3"/>
                    </a:solidFill>
                  </a:tcPr>
                </a:tc>
                <a:extLst>
                  <a:ext uri="{0D108BD9-81ED-4DB2-BD59-A6C34878D82A}">
                    <a16:rowId xmlns:a16="http://schemas.microsoft.com/office/drawing/2014/main" val="2193435611"/>
                  </a:ext>
                </a:extLst>
              </a:tr>
            </a:tbl>
          </a:graphicData>
        </a:graphic>
      </p:graphicFrame>
      <p:sp>
        <p:nvSpPr>
          <p:cNvPr id="8" name="Date Placeholder 6">
            <a:extLst>
              <a:ext uri="{FF2B5EF4-FFF2-40B4-BE49-F238E27FC236}">
                <a16:creationId xmlns:a16="http://schemas.microsoft.com/office/drawing/2014/main" id="{862BDF76-C5C9-D8E0-A6F8-B6C13726410A}"/>
              </a:ext>
            </a:extLst>
          </p:cNvPr>
          <p:cNvSpPr>
            <a:spLocks noGrp="1"/>
          </p:cNvSpPr>
          <p:nvPr>
            <p:ph type="dt" sz="half" idx="10"/>
          </p:nvPr>
        </p:nvSpPr>
        <p:spPr>
          <a:xfrm>
            <a:off x="44604" y="5915810"/>
            <a:ext cx="2876396" cy="412123"/>
          </a:xfrm>
          <a:ln>
            <a:noFill/>
          </a:ln>
        </p:spPr>
        <p:txBody>
          <a:bodyPr/>
          <a:lstStyle/>
          <a:p>
            <a:pPr algn="ctr"/>
            <a:r>
              <a:rPr lang="en-US" sz="20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September 2024</a:t>
            </a:r>
          </a:p>
        </p:txBody>
      </p:sp>
      <p:grpSp>
        <p:nvGrpSpPr>
          <p:cNvPr id="7" name="Group 12">
            <a:extLst>
              <a:ext uri="{FF2B5EF4-FFF2-40B4-BE49-F238E27FC236}">
                <a16:creationId xmlns:a16="http://schemas.microsoft.com/office/drawing/2014/main" id="{E2540FA5-4534-D256-6701-BC7972844669}"/>
              </a:ext>
            </a:extLst>
          </p:cNvPr>
          <p:cNvGrpSpPr/>
          <p:nvPr/>
        </p:nvGrpSpPr>
        <p:grpSpPr>
          <a:xfrm>
            <a:off x="11538857" y="5828369"/>
            <a:ext cx="338772" cy="362537"/>
            <a:chOff x="0" y="0"/>
            <a:chExt cx="812800" cy="869819"/>
          </a:xfrm>
        </p:grpSpPr>
        <p:sp>
          <p:nvSpPr>
            <p:cNvPr id="11" name="Freeform 13">
              <a:extLst>
                <a:ext uri="{FF2B5EF4-FFF2-40B4-BE49-F238E27FC236}">
                  <a16:creationId xmlns:a16="http://schemas.microsoft.com/office/drawing/2014/main" id="{BE057388-1D75-7542-ED73-637CFBDC17F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sz="1200"/>
            </a:p>
          </p:txBody>
        </p:sp>
        <p:sp>
          <p:nvSpPr>
            <p:cNvPr id="13" name="TextBox 14">
              <a:extLst>
                <a:ext uri="{FF2B5EF4-FFF2-40B4-BE49-F238E27FC236}">
                  <a16:creationId xmlns:a16="http://schemas.microsoft.com/office/drawing/2014/main" id="{83AFBFE7-DB19-C69F-3EC2-0EB4FE55472E}"/>
                </a:ext>
              </a:extLst>
            </p:cNvPr>
            <p:cNvSpPr txBox="1"/>
            <p:nvPr/>
          </p:nvSpPr>
          <p:spPr>
            <a:xfrm>
              <a:off x="76200" y="52970"/>
              <a:ext cx="660400" cy="735303"/>
            </a:xfrm>
            <a:prstGeom prst="rect">
              <a:avLst/>
            </a:prstGeom>
          </p:spPr>
          <p:txBody>
            <a:bodyPr lIns="33867" tIns="33867" rIns="33867" bIns="33867" rtlCol="0" anchor="ctr"/>
            <a:lstStyle/>
            <a:p>
              <a:pPr algn="ctr">
                <a:lnSpc>
                  <a:spcPts val="1587"/>
                </a:lnSpc>
                <a:spcBef>
                  <a:spcPct val="0"/>
                </a:spcBef>
              </a:pPr>
              <a:r>
                <a:rPr lang="en-US" sz="1133" dirty="0">
                  <a:solidFill>
                    <a:srgbClr val="191919"/>
                  </a:solidFill>
                  <a:latin typeface="Gotham"/>
                  <a:ea typeface="Gotham"/>
                  <a:cs typeface="Gotham"/>
                  <a:sym typeface="Gotham"/>
                </a:rPr>
                <a:t>3</a:t>
              </a:r>
            </a:p>
          </p:txBody>
        </p:sp>
      </p:grpSp>
      <p:pic>
        <p:nvPicPr>
          <p:cNvPr id="5" name="Picture 2">
            <a:extLst>
              <a:ext uri="{FF2B5EF4-FFF2-40B4-BE49-F238E27FC236}">
                <a16:creationId xmlns:a16="http://schemas.microsoft.com/office/drawing/2014/main" id="{D34F875C-EDBB-D522-BF8F-9BF72C12FC6C}"/>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a:stretch/>
        </p:blipFill>
        <p:spPr bwMode="auto">
          <a:xfrm>
            <a:off x="132734" y="443409"/>
            <a:ext cx="946917" cy="876158"/>
          </a:xfrm>
          <a:prstGeom prst="rect">
            <a:avLst/>
          </a:prstGeom>
          <a:noFill/>
          <a:ln w="9525">
            <a:noFill/>
            <a:miter lim="800000"/>
            <a:headEnd/>
            <a:tailEnd/>
          </a:ln>
          <a:effectLst/>
        </p:spPr>
      </p:pic>
      <p:pic>
        <p:nvPicPr>
          <p:cNvPr id="9" name="Picture 7">
            <a:extLst>
              <a:ext uri="{FF2B5EF4-FFF2-40B4-BE49-F238E27FC236}">
                <a16:creationId xmlns:a16="http://schemas.microsoft.com/office/drawing/2014/main" id="{0F2AC307-1AA3-5AAA-748E-0455A41284CD}"/>
              </a:ext>
            </a:extLst>
          </p:cNvPr>
          <p:cNvPicPr>
            <a:picLocks noGrp="1" noRo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a:stretch/>
        </p:blipFill>
        <p:spPr bwMode="auto">
          <a:xfrm>
            <a:off x="10500850" y="654314"/>
            <a:ext cx="1493901" cy="665253"/>
          </a:xfrm>
          <a:prstGeom prst="rect">
            <a:avLst/>
          </a:prstGeom>
          <a:noFill/>
          <a:ln w="9525">
            <a:noFill/>
            <a:miter lim="800000"/>
            <a:headEnd/>
            <a:tailEnd/>
          </a:ln>
          <a:effectLst/>
        </p:spPr>
      </p:pic>
      <p:pic>
        <p:nvPicPr>
          <p:cNvPr id="6" name="Picture 5">
            <a:extLst>
              <a:ext uri="{FF2B5EF4-FFF2-40B4-BE49-F238E27FC236}">
                <a16:creationId xmlns:a16="http://schemas.microsoft.com/office/drawing/2014/main" id="{A244A717-1DDA-D3C9-0F2B-D4673C7E6A8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694277" y="2196442"/>
            <a:ext cx="4897859" cy="3229628"/>
          </a:xfrm>
          <a:prstGeom prst="rect">
            <a:avLst/>
          </a:prstGeom>
        </p:spPr>
      </p:pic>
      <p:sp>
        <p:nvSpPr>
          <p:cNvPr id="14" name="TextBox 13">
            <a:extLst>
              <a:ext uri="{FF2B5EF4-FFF2-40B4-BE49-F238E27FC236}">
                <a16:creationId xmlns:a16="http://schemas.microsoft.com/office/drawing/2014/main" id="{D594D964-4BCE-7369-F27E-B196BE3B03E3}"/>
              </a:ext>
            </a:extLst>
          </p:cNvPr>
          <p:cNvSpPr txBox="1"/>
          <p:nvPr/>
        </p:nvSpPr>
        <p:spPr>
          <a:xfrm>
            <a:off x="7738527" y="1813876"/>
            <a:ext cx="2809359" cy="523220"/>
          </a:xfrm>
          <a:prstGeom prst="rect">
            <a:avLst/>
          </a:prstGeom>
          <a:noFill/>
        </p:spPr>
        <p:txBody>
          <a:bodyPr wrap="none" rtlCol="0">
            <a:spAutoFit/>
          </a:bodyPr>
          <a:lstStyle/>
          <a:p>
            <a:r>
              <a:rPr lang="en-US" sz="2800" dirty="0">
                <a:cs typeface="Times New Roman" pitchFamily="18" charset="0"/>
              </a:rPr>
              <a:t>CNN  Architecture</a:t>
            </a:r>
          </a:p>
        </p:txBody>
      </p:sp>
      <p:cxnSp>
        <p:nvCxnSpPr>
          <p:cNvPr id="21" name="Straight Arrow Connector 20">
            <a:extLst>
              <a:ext uri="{FF2B5EF4-FFF2-40B4-BE49-F238E27FC236}">
                <a16:creationId xmlns:a16="http://schemas.microsoft.com/office/drawing/2014/main" id="{0B70508C-DEF3-CB47-A2DC-32230BB2C10E}"/>
              </a:ext>
            </a:extLst>
          </p:cNvPr>
          <p:cNvCxnSpPr>
            <a:cxnSpLocks/>
          </p:cNvCxnSpPr>
          <p:nvPr/>
        </p:nvCxnSpPr>
        <p:spPr>
          <a:xfrm>
            <a:off x="3330596" y="5420413"/>
            <a:ext cx="405353" cy="0"/>
          </a:xfrm>
          <a:prstGeom prst="straightConnector1">
            <a:avLst/>
          </a:prstGeom>
          <a:ln w="28575">
            <a:solidFill>
              <a:schemeClr val="tx1"/>
            </a:solidFill>
            <a:tailEnd type="triangle"/>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0">
            <a:schemeClr val="dk1"/>
          </a:fillRef>
          <a:effectRef idx="0">
            <a:schemeClr val="dk1"/>
          </a:effectRef>
          <a:fontRef idx="minor">
            <a:schemeClr val="tx1"/>
          </a:fontRef>
        </p:style>
      </p:cxnSp>
      <p:sp>
        <p:nvSpPr>
          <p:cNvPr id="22" name="Rectangle 4">
            <a:extLst>
              <a:ext uri="{FF2B5EF4-FFF2-40B4-BE49-F238E27FC236}">
                <a16:creationId xmlns:a16="http://schemas.microsoft.com/office/drawing/2014/main" id="{B7C234A5-E239-9F9C-9DED-AC0E0D571FBF}"/>
              </a:ext>
            </a:extLst>
          </p:cNvPr>
          <p:cNvSpPr>
            <a:spLocks noChangeArrowheads="1"/>
          </p:cNvSpPr>
          <p:nvPr/>
        </p:nvSpPr>
        <p:spPr bwMode="auto">
          <a:xfrm>
            <a:off x="503253" y="5576902"/>
            <a:ext cx="1110158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spcBef>
                <a:spcPct val="0"/>
              </a:spcBef>
              <a:spcAft>
                <a:spcPct val="0"/>
              </a:spcAft>
              <a:buFont typeface="Wingdings" panose="05000000000000000000" pitchFamily="2" charset="2"/>
              <a:buChar char="Ø"/>
            </a:pPr>
            <a:r>
              <a:rPr kumimoji="0" lang="en-US" altLang="en-US" b="1" i="0" u="none" strike="noStrike" cap="none" normalizeH="0" baseline="0" dirty="0">
                <a:ln>
                  <a:noFill/>
                </a:ln>
                <a:solidFill>
                  <a:srgbClr val="7030A0"/>
                </a:solidFill>
                <a:effectLst/>
                <a:latin typeface="Arial" panose="020B0604020202020204" pitchFamily="34" charset="0"/>
              </a:rPr>
              <a:t>Making of trustable pathologist's decision-support tool and getting </a:t>
            </a:r>
            <a:r>
              <a:rPr kumimoji="0" lang="en-US" altLang="en-US" b="1" i="0" u="none" strike="noStrike" cap="none" normalizeH="0" baseline="0" dirty="0">
                <a:ln>
                  <a:noFill/>
                </a:ln>
                <a:solidFill>
                  <a:srgbClr val="C00000"/>
                </a:solidFill>
                <a:effectLst/>
                <a:latin typeface="Arial" panose="020B0604020202020204" pitchFamily="34" charset="0"/>
              </a:rPr>
              <a:t>more accurate </a:t>
            </a:r>
            <a:r>
              <a:rPr kumimoji="0" lang="en-US" altLang="en-US" b="1" i="0" u="none" strike="noStrike" cap="none" normalizeH="0" baseline="0" dirty="0">
                <a:ln>
                  <a:noFill/>
                </a:ln>
                <a:solidFill>
                  <a:srgbClr val="7030A0"/>
                </a:solidFill>
                <a:effectLst/>
                <a:latin typeface="Arial" panose="020B0604020202020204" pitchFamily="34" charset="0"/>
              </a:rPr>
              <a:t>results</a:t>
            </a:r>
          </a:p>
        </p:txBody>
      </p:sp>
    </p:spTree>
    <p:extLst>
      <p:ext uri="{BB962C8B-B14F-4D97-AF65-F5344CB8AC3E}">
        <p14:creationId xmlns:p14="http://schemas.microsoft.com/office/powerpoint/2010/main" val="2214243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C65746CB-5E58-94A1-DF17-DFCA2BF1AAB2}"/>
              </a:ext>
            </a:extLst>
          </p:cNvPr>
          <p:cNvGrpSpPr>
            <a:grpSpLocks noGrp="1" noUngrp="1" noRot="1" noMove="1" noResize="1"/>
          </p:cNvGrpSpPr>
          <p:nvPr/>
        </p:nvGrpSpPr>
        <p:grpSpPr>
          <a:xfrm>
            <a:off x="0" y="0"/>
            <a:ext cx="12192000" cy="625651"/>
            <a:chOff x="0" y="0"/>
            <a:chExt cx="12192000" cy="625651"/>
          </a:xfrm>
        </p:grpSpPr>
        <p:sp>
          <p:nvSpPr>
            <p:cNvPr id="19" name="Flowchart: Process 18">
              <a:extLst>
                <a:ext uri="{FF2B5EF4-FFF2-40B4-BE49-F238E27FC236}">
                  <a16:creationId xmlns:a16="http://schemas.microsoft.com/office/drawing/2014/main" id="{E8D12A52-07B8-C6F9-68BE-7CA6AE4E287E}"/>
                </a:ext>
              </a:extLst>
            </p:cNvPr>
            <p:cNvSpPr>
              <a:spLocks noGrp="1" noRot="1" noMove="1" noResize="1" noEditPoints="1" noAdjustHandles="1" noChangeArrowheads="1" noChangeShapeType="1"/>
            </p:cNvSpPr>
            <p:nvPr/>
          </p:nvSpPr>
          <p:spPr>
            <a:xfrm>
              <a:off x="0" y="0"/>
              <a:ext cx="12192000" cy="441885"/>
            </a:xfrm>
            <a:prstGeom prst="flowChartProcess">
              <a:avLst/>
            </a:prstGeom>
            <a:solidFill>
              <a:srgbClr val="FAA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Process 19">
              <a:extLst>
                <a:ext uri="{FF2B5EF4-FFF2-40B4-BE49-F238E27FC236}">
                  <a16:creationId xmlns:a16="http://schemas.microsoft.com/office/drawing/2014/main" id="{B7316CB1-418A-8BFE-9E5F-EFD905B685D2}"/>
                </a:ext>
              </a:extLst>
            </p:cNvPr>
            <p:cNvSpPr>
              <a:spLocks noGrp="1" noRot="1" noMove="1" noResize="1" noEditPoints="1" noAdjustHandles="1" noChangeArrowheads="1" noChangeShapeType="1"/>
            </p:cNvSpPr>
            <p:nvPr/>
          </p:nvSpPr>
          <p:spPr>
            <a:xfrm>
              <a:off x="7199086" y="441885"/>
              <a:ext cx="4992913" cy="183766"/>
            </a:xfrm>
            <a:prstGeom prst="flowChartProcess">
              <a:avLst/>
            </a:prstGeom>
            <a:solidFill>
              <a:srgbClr val="4544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9"/>
          <p:cNvSpPr>
            <a:spLocks noGrp="1"/>
          </p:cNvSpPr>
          <p:nvPr>
            <p:ph type="title"/>
          </p:nvPr>
        </p:nvSpPr>
        <p:spPr/>
        <p:txBody>
          <a:bodyPr/>
          <a:lstStyle/>
          <a:p>
            <a:r>
              <a:rPr lang="en-US" b="1" dirty="0">
                <a:solidFill>
                  <a:srgbClr val="002060"/>
                </a:solidFill>
                <a:cs typeface="Times New Roman" pitchFamily="18" charset="0"/>
              </a:rPr>
              <a:t>Literature Review </a:t>
            </a:r>
            <a:endParaRPr lang="en-US" b="1" dirty="0">
              <a:solidFill>
                <a:srgbClr val="002060"/>
              </a:solidFill>
            </a:endParaRPr>
          </a:p>
        </p:txBody>
      </p:sp>
      <p:pic>
        <p:nvPicPr>
          <p:cNvPr id="3" name="Picture 2">
            <a:extLst>
              <a:ext uri="{FF2B5EF4-FFF2-40B4-BE49-F238E27FC236}">
                <a16:creationId xmlns:a16="http://schemas.microsoft.com/office/drawing/2014/main" id="{A3B236BD-4951-71CA-AFC7-67D090224820}"/>
              </a:ext>
            </a:extLst>
          </p:cNvPr>
          <p:cNvPicPr>
            <a:picLocks noChangeAspect="1"/>
          </p:cNvPicPr>
          <p:nvPr/>
        </p:nvPicPr>
        <p:blipFill>
          <a:blip r:embed="rId3"/>
          <a:stretch>
            <a:fillRect/>
          </a:stretch>
        </p:blipFill>
        <p:spPr>
          <a:xfrm>
            <a:off x="44604" y="6327933"/>
            <a:ext cx="12102790" cy="524107"/>
          </a:xfrm>
          <a:prstGeom prst="rect">
            <a:avLst/>
          </a:prstGeom>
        </p:spPr>
      </p:pic>
      <p:graphicFrame>
        <p:nvGraphicFramePr>
          <p:cNvPr id="4" name="Table 3">
            <a:extLst>
              <a:ext uri="{FF2B5EF4-FFF2-40B4-BE49-F238E27FC236}">
                <a16:creationId xmlns:a16="http://schemas.microsoft.com/office/drawing/2014/main" id="{EBC48C9F-C9ED-8CCD-3719-714B10BA1A2D}"/>
              </a:ext>
            </a:extLst>
          </p:cNvPr>
          <p:cNvGraphicFramePr>
            <a:graphicFrameLocks noGrp="1" noDrilldown="1" noMove="1" noResize="1"/>
          </p:cNvGraphicFramePr>
          <p:nvPr/>
        </p:nvGraphicFramePr>
        <p:xfrm>
          <a:off x="44604" y="6330906"/>
          <a:ext cx="12102790" cy="579120"/>
        </p:xfrm>
        <a:graphic>
          <a:graphicData uri="http://schemas.openxmlformats.org/drawingml/2006/table">
            <a:tbl>
              <a:tblPr firstRow="1" bandRow="1">
                <a:tableStyleId>{3B4B98B0-60AC-42C2-AFA5-B58CD77FA1E5}</a:tableStyleId>
              </a:tblPr>
              <a:tblGrid>
                <a:gridCol w="12102790">
                  <a:extLst>
                    <a:ext uri="{9D8B030D-6E8A-4147-A177-3AD203B41FA5}">
                      <a16:colId xmlns:a16="http://schemas.microsoft.com/office/drawing/2014/main" val="3674735876"/>
                    </a:ext>
                  </a:extLst>
                </a:gridCol>
              </a:tblGrid>
              <a:tr h="524108">
                <a:tc>
                  <a:txBody>
                    <a:bodyPr/>
                    <a:lstStyle/>
                    <a:p>
                      <a:pPr algn="ctr"/>
                      <a:r>
                        <a:rPr lang="en-US" sz="1600" dirty="0">
                          <a:solidFill>
                            <a:schemeClr val="bg1"/>
                          </a:solidFill>
                          <a:latin typeface="Helvetica" pitchFamily="2" charset="0"/>
                        </a:rPr>
                        <a:t>CUET IT Business Incubator, Chattogram, Bangladesh</a:t>
                      </a:r>
                    </a:p>
                    <a:p>
                      <a:pPr algn="ctr"/>
                      <a:r>
                        <a:rPr lang="en-US" sz="1600" dirty="0">
                          <a:solidFill>
                            <a:schemeClr val="bg1"/>
                          </a:solidFill>
                          <a:latin typeface="Helvetica" pitchFamily="2" charset="0"/>
                        </a:rPr>
                        <a:t>25</a:t>
                      </a:r>
                      <a:r>
                        <a:rPr lang="en-US" sz="1600" baseline="30000" dirty="0">
                          <a:solidFill>
                            <a:schemeClr val="bg1"/>
                          </a:solidFill>
                          <a:latin typeface="Helvetica" pitchFamily="2" charset="0"/>
                        </a:rPr>
                        <a:t>th</a:t>
                      </a:r>
                      <a:r>
                        <a:rPr lang="en-US" sz="1600" dirty="0">
                          <a:solidFill>
                            <a:schemeClr val="bg1"/>
                          </a:solidFill>
                          <a:latin typeface="Helvetica" pitchFamily="2" charset="0"/>
                        </a:rPr>
                        <a:t> &amp; 26</a:t>
                      </a:r>
                      <a:r>
                        <a:rPr lang="en-US" sz="1600" baseline="30000" dirty="0">
                          <a:solidFill>
                            <a:schemeClr val="bg1"/>
                          </a:solidFill>
                          <a:latin typeface="Helvetica" pitchFamily="2" charset="0"/>
                        </a:rPr>
                        <a:t>th</a:t>
                      </a:r>
                      <a:r>
                        <a:rPr lang="en-US" sz="1600" dirty="0">
                          <a:solidFill>
                            <a:schemeClr val="bg1"/>
                          </a:solidFill>
                          <a:latin typeface="Helvetica" pitchFamily="2" charset="0"/>
                        </a:rPr>
                        <a:t> September 2024</a:t>
                      </a:r>
                    </a:p>
                  </a:txBody>
                  <a:tcPr>
                    <a:lnL>
                      <a:noFill/>
                    </a:lnL>
                    <a:lnR>
                      <a:noFill/>
                    </a:lnR>
                    <a:lnT w="12700" cmpd="sng">
                      <a:noFill/>
                    </a:lnT>
                    <a:lnB w="12700" cmpd="sng">
                      <a:noFill/>
                    </a:lnB>
                    <a:lnTlToBr w="12700" cmpd="sng">
                      <a:noFill/>
                      <a:prstDash val="solid"/>
                    </a:lnTlToBr>
                    <a:lnBlToTr w="12700" cmpd="sng">
                      <a:noFill/>
                      <a:prstDash val="solid"/>
                    </a:lnBlToTr>
                    <a:solidFill>
                      <a:srgbClr val="286AB3"/>
                    </a:solidFill>
                  </a:tcPr>
                </a:tc>
                <a:extLst>
                  <a:ext uri="{0D108BD9-81ED-4DB2-BD59-A6C34878D82A}">
                    <a16:rowId xmlns:a16="http://schemas.microsoft.com/office/drawing/2014/main" val="2193435611"/>
                  </a:ext>
                </a:extLst>
              </a:tr>
            </a:tbl>
          </a:graphicData>
        </a:graphic>
      </p:graphicFrame>
      <p:sp>
        <p:nvSpPr>
          <p:cNvPr id="8" name="Date Placeholder 6">
            <a:extLst>
              <a:ext uri="{FF2B5EF4-FFF2-40B4-BE49-F238E27FC236}">
                <a16:creationId xmlns:a16="http://schemas.microsoft.com/office/drawing/2014/main" id="{D7F0D8A2-B830-BE0A-C295-F2D02E6CC330}"/>
              </a:ext>
            </a:extLst>
          </p:cNvPr>
          <p:cNvSpPr>
            <a:spLocks noGrp="1"/>
          </p:cNvSpPr>
          <p:nvPr>
            <p:ph type="dt" sz="half" idx="10"/>
          </p:nvPr>
        </p:nvSpPr>
        <p:spPr>
          <a:xfrm>
            <a:off x="44604" y="5915810"/>
            <a:ext cx="2876396" cy="412123"/>
          </a:xfrm>
          <a:ln>
            <a:noFill/>
          </a:ln>
        </p:spPr>
        <p:txBody>
          <a:bodyPr/>
          <a:lstStyle/>
          <a:p>
            <a:pPr algn="ctr"/>
            <a:r>
              <a:rPr lang="en-US" sz="20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September 2024</a:t>
            </a:r>
          </a:p>
        </p:txBody>
      </p:sp>
      <p:grpSp>
        <p:nvGrpSpPr>
          <p:cNvPr id="7" name="Group 12">
            <a:extLst>
              <a:ext uri="{FF2B5EF4-FFF2-40B4-BE49-F238E27FC236}">
                <a16:creationId xmlns:a16="http://schemas.microsoft.com/office/drawing/2014/main" id="{4043AE3F-DF44-6C81-5D5D-A8D2C85346A9}"/>
              </a:ext>
            </a:extLst>
          </p:cNvPr>
          <p:cNvGrpSpPr/>
          <p:nvPr/>
        </p:nvGrpSpPr>
        <p:grpSpPr>
          <a:xfrm>
            <a:off x="11538857" y="5828369"/>
            <a:ext cx="338772" cy="362537"/>
            <a:chOff x="0" y="0"/>
            <a:chExt cx="812800" cy="869819"/>
          </a:xfrm>
        </p:grpSpPr>
        <p:sp>
          <p:nvSpPr>
            <p:cNvPr id="11" name="Freeform 13">
              <a:extLst>
                <a:ext uri="{FF2B5EF4-FFF2-40B4-BE49-F238E27FC236}">
                  <a16:creationId xmlns:a16="http://schemas.microsoft.com/office/drawing/2014/main" id="{C32F983D-A293-4E3D-66EF-EF6CE291FB1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sz="1200" dirty="0"/>
            </a:p>
          </p:txBody>
        </p:sp>
        <p:sp>
          <p:nvSpPr>
            <p:cNvPr id="13" name="TextBox 14">
              <a:extLst>
                <a:ext uri="{FF2B5EF4-FFF2-40B4-BE49-F238E27FC236}">
                  <a16:creationId xmlns:a16="http://schemas.microsoft.com/office/drawing/2014/main" id="{23EFFFF2-E04F-A863-DBF1-DCC8E23B82F0}"/>
                </a:ext>
              </a:extLst>
            </p:cNvPr>
            <p:cNvSpPr txBox="1"/>
            <p:nvPr/>
          </p:nvSpPr>
          <p:spPr>
            <a:xfrm>
              <a:off x="76200" y="52970"/>
              <a:ext cx="660400" cy="735303"/>
            </a:xfrm>
            <a:prstGeom prst="rect">
              <a:avLst/>
            </a:prstGeom>
          </p:spPr>
          <p:txBody>
            <a:bodyPr lIns="33867" tIns="33867" rIns="33867" bIns="33867" rtlCol="0" anchor="ctr"/>
            <a:lstStyle/>
            <a:p>
              <a:pPr algn="ctr">
                <a:lnSpc>
                  <a:spcPts val="1587"/>
                </a:lnSpc>
                <a:spcBef>
                  <a:spcPct val="0"/>
                </a:spcBef>
              </a:pPr>
              <a:r>
                <a:rPr lang="en-US" sz="1133" dirty="0">
                  <a:solidFill>
                    <a:srgbClr val="191919"/>
                  </a:solidFill>
                  <a:latin typeface="Gotham"/>
                  <a:ea typeface="Gotham"/>
                  <a:cs typeface="Gotham"/>
                  <a:sym typeface="Gotham"/>
                </a:rPr>
                <a:t>4</a:t>
              </a:r>
            </a:p>
          </p:txBody>
        </p:sp>
      </p:grpSp>
      <p:pic>
        <p:nvPicPr>
          <p:cNvPr id="5" name="Picture 2">
            <a:extLst>
              <a:ext uri="{FF2B5EF4-FFF2-40B4-BE49-F238E27FC236}">
                <a16:creationId xmlns:a16="http://schemas.microsoft.com/office/drawing/2014/main" id="{1040A97A-E7C7-915F-AD68-304D281E64FD}"/>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a:stretch/>
        </p:blipFill>
        <p:spPr bwMode="auto">
          <a:xfrm>
            <a:off x="132734" y="443409"/>
            <a:ext cx="946917" cy="876158"/>
          </a:xfrm>
          <a:prstGeom prst="rect">
            <a:avLst/>
          </a:prstGeom>
          <a:noFill/>
          <a:ln w="9525">
            <a:noFill/>
            <a:miter lim="800000"/>
            <a:headEnd/>
            <a:tailEnd/>
          </a:ln>
          <a:effectLst/>
        </p:spPr>
      </p:pic>
      <p:pic>
        <p:nvPicPr>
          <p:cNvPr id="9" name="Picture 7">
            <a:extLst>
              <a:ext uri="{FF2B5EF4-FFF2-40B4-BE49-F238E27FC236}">
                <a16:creationId xmlns:a16="http://schemas.microsoft.com/office/drawing/2014/main" id="{673E1EBF-510C-6399-6FC7-B7A77593DF80}"/>
              </a:ext>
            </a:extLst>
          </p:cNvPr>
          <p:cNvPicPr>
            <a:picLocks noGrp="1" noRo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a:stretch/>
        </p:blipFill>
        <p:spPr bwMode="auto">
          <a:xfrm>
            <a:off x="10500850" y="654314"/>
            <a:ext cx="1493901" cy="665253"/>
          </a:xfrm>
          <a:prstGeom prst="rect">
            <a:avLst/>
          </a:prstGeom>
          <a:noFill/>
          <a:ln w="9525">
            <a:noFill/>
            <a:miter lim="800000"/>
            <a:headEnd/>
            <a:tailEnd/>
          </a:ln>
          <a:effectLst/>
        </p:spPr>
      </p:pic>
      <p:graphicFrame>
        <p:nvGraphicFramePr>
          <p:cNvPr id="2" name="Table 1">
            <a:extLst>
              <a:ext uri="{FF2B5EF4-FFF2-40B4-BE49-F238E27FC236}">
                <a16:creationId xmlns:a16="http://schemas.microsoft.com/office/drawing/2014/main" id="{717D2D6D-A584-D54B-7A9F-CA59DF87A1E3}"/>
              </a:ext>
            </a:extLst>
          </p:cNvPr>
          <p:cNvGraphicFramePr>
            <a:graphicFrameLocks noGrp="1"/>
          </p:cNvGraphicFramePr>
          <p:nvPr>
            <p:extLst>
              <p:ext uri="{D42A27DB-BD31-4B8C-83A1-F6EECF244321}">
                <p14:modId xmlns:p14="http://schemas.microsoft.com/office/powerpoint/2010/main" val="3120821528"/>
              </p:ext>
            </p:extLst>
          </p:nvPr>
        </p:nvGraphicFramePr>
        <p:xfrm>
          <a:off x="738170" y="2175174"/>
          <a:ext cx="10394889" cy="3290131"/>
        </p:xfrm>
        <a:graphic>
          <a:graphicData uri="http://schemas.openxmlformats.org/drawingml/2006/table">
            <a:tbl>
              <a:tblPr firstRow="1" bandRow="1">
                <a:tableStyleId>{3B4B98B0-60AC-42C2-AFA5-B58CD77FA1E5}</a:tableStyleId>
              </a:tblPr>
              <a:tblGrid>
                <a:gridCol w="3464963">
                  <a:extLst>
                    <a:ext uri="{9D8B030D-6E8A-4147-A177-3AD203B41FA5}">
                      <a16:colId xmlns:a16="http://schemas.microsoft.com/office/drawing/2014/main" val="1530206705"/>
                    </a:ext>
                  </a:extLst>
                </a:gridCol>
                <a:gridCol w="3464963">
                  <a:extLst>
                    <a:ext uri="{9D8B030D-6E8A-4147-A177-3AD203B41FA5}">
                      <a16:colId xmlns:a16="http://schemas.microsoft.com/office/drawing/2014/main" val="2106230282"/>
                    </a:ext>
                  </a:extLst>
                </a:gridCol>
                <a:gridCol w="3464963">
                  <a:extLst>
                    <a:ext uri="{9D8B030D-6E8A-4147-A177-3AD203B41FA5}">
                      <a16:colId xmlns:a16="http://schemas.microsoft.com/office/drawing/2014/main" val="3655724860"/>
                    </a:ext>
                  </a:extLst>
                </a:gridCol>
              </a:tblGrid>
              <a:tr h="412877">
                <a:tc>
                  <a:txBody>
                    <a:bodyPr/>
                    <a:lstStyle/>
                    <a:p>
                      <a:pPr algn="ctr"/>
                      <a:r>
                        <a:rPr lang="en-US" sz="1500" dirty="0"/>
                        <a:t>Author</a:t>
                      </a:r>
                    </a:p>
                  </a:txBody>
                  <a:tcPr marL="77256" marR="77256" marT="38628" marB="38628"/>
                </a:tc>
                <a:tc>
                  <a:txBody>
                    <a:bodyPr/>
                    <a:lstStyle/>
                    <a:p>
                      <a:pPr algn="ctr"/>
                      <a:r>
                        <a:rPr lang="en-US" sz="1500" dirty="0"/>
                        <a:t>Used Models</a:t>
                      </a:r>
                    </a:p>
                  </a:txBody>
                  <a:tcPr marL="77256" marR="77256" marT="38628" marB="38628"/>
                </a:tc>
                <a:tc>
                  <a:txBody>
                    <a:bodyPr/>
                    <a:lstStyle/>
                    <a:p>
                      <a:pPr algn="ctr"/>
                      <a:r>
                        <a:rPr lang="en-US" sz="1500" dirty="0"/>
                        <a:t>Results</a:t>
                      </a:r>
                    </a:p>
                  </a:txBody>
                  <a:tcPr marL="77256" marR="77256" marT="38628" marB="38628"/>
                </a:tc>
                <a:extLst>
                  <a:ext uri="{0D108BD9-81ED-4DB2-BD59-A6C34878D82A}">
                    <a16:rowId xmlns:a16="http://schemas.microsoft.com/office/drawing/2014/main" val="3018850897"/>
                  </a:ext>
                </a:extLst>
              </a:tr>
              <a:tr h="541648">
                <a:tc>
                  <a:txBody>
                    <a:bodyPr/>
                    <a:lstStyle/>
                    <a:p>
                      <a:pPr algn="ctr"/>
                      <a:r>
                        <a:rPr lang="en-US" sz="1500" dirty="0"/>
                        <a:t>Tariq, Hassan et al</a:t>
                      </a:r>
                    </a:p>
                  </a:txBody>
                  <a:tcPr marL="77256" marR="77256" marT="38628" marB="38628"/>
                </a:tc>
                <a:tc>
                  <a:txBody>
                    <a:bodyPr/>
                    <a:lstStyle/>
                    <a:p>
                      <a:pPr algn="ctr"/>
                      <a:r>
                        <a:rPr lang="en-US" sz="1500" dirty="0"/>
                        <a:t>Inception </a:t>
                      </a:r>
                      <a:r>
                        <a:rPr lang="en-US" sz="1500" dirty="0" err="1"/>
                        <a:t>ResNet</a:t>
                      </a:r>
                      <a:r>
                        <a:rPr lang="en-US" sz="1500" dirty="0"/>
                        <a:t> V2, </a:t>
                      </a:r>
                      <a:r>
                        <a:rPr lang="en-US" sz="1500" dirty="0" err="1"/>
                        <a:t>GoogleNet</a:t>
                      </a:r>
                      <a:r>
                        <a:rPr lang="en-US" sz="1500" dirty="0"/>
                        <a:t>, </a:t>
                      </a:r>
                      <a:r>
                        <a:rPr lang="en-US" sz="1500" dirty="0" err="1"/>
                        <a:t>AlexNet</a:t>
                      </a:r>
                      <a:r>
                        <a:rPr lang="en-US" sz="1500" dirty="0"/>
                        <a:t>, ResNeXt-50, and Inception V4</a:t>
                      </a:r>
                    </a:p>
                  </a:txBody>
                  <a:tcPr marL="77256" marR="77256" marT="38628" marB="38628"/>
                </a:tc>
                <a:tc>
                  <a:txBody>
                    <a:bodyPr/>
                    <a:lstStyle/>
                    <a:p>
                      <a:pPr algn="ctr"/>
                      <a:r>
                        <a:rPr lang="en-US" sz="1500" dirty="0"/>
                        <a:t>84% accuracy</a:t>
                      </a:r>
                    </a:p>
                  </a:txBody>
                  <a:tcPr marL="77256" marR="77256" marT="38628" marB="38628"/>
                </a:tc>
                <a:extLst>
                  <a:ext uri="{0D108BD9-81ED-4DB2-BD59-A6C34878D82A}">
                    <a16:rowId xmlns:a16="http://schemas.microsoft.com/office/drawing/2014/main" val="3692793793"/>
                  </a:ext>
                </a:extLst>
              </a:tr>
              <a:tr h="556181">
                <a:tc>
                  <a:txBody>
                    <a:bodyPr/>
                    <a:lstStyle/>
                    <a:p>
                      <a:pPr algn="ctr"/>
                      <a:r>
                        <a:rPr lang="en-US" sz="1500" dirty="0" err="1"/>
                        <a:t>Londhe</a:t>
                      </a:r>
                      <a:r>
                        <a:rPr lang="en-US" sz="1500" dirty="0"/>
                        <a:t>, </a:t>
                      </a:r>
                      <a:r>
                        <a:rPr lang="en-US" sz="1500" dirty="0" err="1"/>
                        <a:t>Mayuresh</a:t>
                      </a:r>
                      <a:r>
                        <a:rPr lang="en-US" sz="1500" dirty="0"/>
                        <a:t> et al</a:t>
                      </a:r>
                    </a:p>
                  </a:txBody>
                  <a:tcPr marL="77256" marR="77256" marT="38628" marB="38628"/>
                </a:tc>
                <a:tc>
                  <a:txBody>
                    <a:bodyPr/>
                    <a:lstStyle/>
                    <a:p>
                      <a:pPr algn="ctr"/>
                      <a:r>
                        <a:rPr lang="en-US" sz="1500" dirty="0"/>
                        <a:t>LSTM, InceptionV3, InceptionResNetV2, and </a:t>
                      </a:r>
                      <a:r>
                        <a:rPr lang="en-US" sz="1500" dirty="0" err="1"/>
                        <a:t>DenseNet</a:t>
                      </a:r>
                      <a:r>
                        <a:rPr lang="en-US" sz="1500" dirty="0"/>
                        <a:t> 169</a:t>
                      </a:r>
                    </a:p>
                  </a:txBody>
                  <a:tcPr marL="77256" marR="77256" marT="38628" marB="38628"/>
                </a:tc>
                <a:tc>
                  <a:txBody>
                    <a:bodyPr/>
                    <a:lstStyle/>
                    <a:p>
                      <a:pPr algn="ctr"/>
                      <a:r>
                        <a:rPr lang="en-US" sz="1500" dirty="0"/>
                        <a:t>70.01% accuracy</a:t>
                      </a:r>
                    </a:p>
                  </a:txBody>
                  <a:tcPr marL="77256" marR="77256" marT="38628" marB="38628"/>
                </a:tc>
                <a:extLst>
                  <a:ext uri="{0D108BD9-81ED-4DB2-BD59-A6C34878D82A}">
                    <a16:rowId xmlns:a16="http://schemas.microsoft.com/office/drawing/2014/main" val="3707524990"/>
                  </a:ext>
                </a:extLst>
              </a:tr>
              <a:tr h="540794">
                <a:tc>
                  <a:txBody>
                    <a:bodyPr/>
                    <a:lstStyle/>
                    <a:p>
                      <a:pPr algn="ctr"/>
                      <a:r>
                        <a:rPr lang="en-US" sz="1500" dirty="0"/>
                        <a:t>Krishna Prasad et al</a:t>
                      </a:r>
                    </a:p>
                  </a:txBody>
                  <a:tcPr marL="77256" marR="77256" marT="38628" marB="38628"/>
                </a:tc>
                <a:tc>
                  <a:txBody>
                    <a:bodyPr/>
                    <a:lstStyle/>
                    <a:p>
                      <a:pPr algn="ctr"/>
                      <a:r>
                        <a:rPr lang="en-US" sz="1500" dirty="0"/>
                        <a:t>Decision Tree, Random Forest, and </a:t>
                      </a:r>
                      <a:r>
                        <a:rPr lang="en-US" sz="1500" dirty="0" err="1"/>
                        <a:t>XGBoost</a:t>
                      </a:r>
                      <a:endParaRPr lang="en-US" sz="1500" dirty="0"/>
                    </a:p>
                  </a:txBody>
                  <a:tcPr marL="77256" marR="77256" marT="38628" marB="38628"/>
                </a:tc>
                <a:tc>
                  <a:txBody>
                    <a:bodyPr/>
                    <a:lstStyle/>
                    <a:p>
                      <a:pPr algn="ctr"/>
                      <a:r>
                        <a:rPr lang="en-US" sz="1500" dirty="0"/>
                        <a:t>84% accuracy</a:t>
                      </a:r>
                    </a:p>
                  </a:txBody>
                  <a:tcPr marL="77256" marR="77256" marT="38628" marB="38628"/>
                </a:tc>
                <a:extLst>
                  <a:ext uri="{0D108BD9-81ED-4DB2-BD59-A6C34878D82A}">
                    <a16:rowId xmlns:a16="http://schemas.microsoft.com/office/drawing/2014/main" val="834259975"/>
                  </a:ext>
                </a:extLst>
              </a:tr>
              <a:tr h="412877">
                <a:tc>
                  <a:txBody>
                    <a:bodyPr/>
                    <a:lstStyle/>
                    <a:p>
                      <a:pPr algn="ctr"/>
                      <a:r>
                        <a:rPr lang="en-US" sz="1500" dirty="0"/>
                        <a:t>Kaushik S </a:t>
                      </a:r>
                      <a:r>
                        <a:rPr lang="en-US" sz="1500" dirty="0" err="1"/>
                        <a:t>Kalmady</a:t>
                      </a:r>
                      <a:r>
                        <a:rPr lang="en-US" sz="1500" dirty="0"/>
                        <a:t> et al</a:t>
                      </a:r>
                    </a:p>
                  </a:txBody>
                  <a:tcPr marL="77256" marR="77256" marT="38628" marB="38628"/>
                </a:tc>
                <a:tc>
                  <a:txBody>
                    <a:bodyPr/>
                    <a:lstStyle/>
                    <a:p>
                      <a:pPr algn="ctr"/>
                      <a:r>
                        <a:rPr lang="en-US" sz="1500" dirty="0"/>
                        <a:t>VGG16</a:t>
                      </a:r>
                    </a:p>
                  </a:txBody>
                  <a:tcPr marL="77256" marR="77256" marT="38628" marB="38628"/>
                </a:tc>
                <a:tc>
                  <a:txBody>
                    <a:bodyPr/>
                    <a:lstStyle/>
                    <a:p>
                      <a:pPr algn="ctr"/>
                      <a:r>
                        <a:rPr lang="en-US" sz="1500" dirty="0"/>
                        <a:t>accuracy of 85%</a:t>
                      </a:r>
                    </a:p>
                  </a:txBody>
                  <a:tcPr marL="77256" marR="77256" marT="38628" marB="38628"/>
                </a:tc>
                <a:extLst>
                  <a:ext uri="{0D108BD9-81ED-4DB2-BD59-A6C34878D82A}">
                    <a16:rowId xmlns:a16="http://schemas.microsoft.com/office/drawing/2014/main" val="164641257"/>
                  </a:ext>
                </a:extLst>
              </a:tr>
              <a:tr h="412877">
                <a:tc>
                  <a:txBody>
                    <a:bodyPr/>
                    <a:lstStyle/>
                    <a:p>
                      <a:pPr algn="ctr"/>
                      <a:r>
                        <a:rPr lang="en-US" sz="1500" dirty="0"/>
                        <a:t>Angelo </a:t>
                      </a:r>
                      <a:r>
                        <a:rPr lang="en-US" sz="1500" dirty="0" err="1"/>
                        <a:t>Genoves</a:t>
                      </a:r>
                      <a:r>
                        <a:rPr lang="en-US" sz="1500" dirty="0"/>
                        <a:t> et al</a:t>
                      </a:r>
                    </a:p>
                  </a:txBody>
                  <a:tcPr marL="77256" marR="77256" marT="38628" marB="38628"/>
                </a:tc>
                <a:tc>
                  <a:txBody>
                    <a:bodyPr/>
                    <a:lstStyle/>
                    <a:p>
                      <a:pPr algn="ctr"/>
                      <a:r>
                        <a:rPr lang="en-US" sz="1500" dirty="0" err="1"/>
                        <a:t>Xception</a:t>
                      </a:r>
                      <a:r>
                        <a:rPr lang="en-US" sz="1500" dirty="0"/>
                        <a:t>, VGG16, VGG19</a:t>
                      </a:r>
                    </a:p>
                  </a:txBody>
                  <a:tcPr marL="77256" marR="77256" marT="38628" marB="38628"/>
                </a:tc>
                <a:tc>
                  <a:txBody>
                    <a:bodyPr/>
                    <a:lstStyle/>
                    <a:p>
                      <a:pPr algn="ctr"/>
                      <a:r>
                        <a:rPr lang="en-US" sz="1500" dirty="0"/>
                        <a:t>Accuracy 81%</a:t>
                      </a:r>
                    </a:p>
                  </a:txBody>
                  <a:tcPr marL="77256" marR="77256" marT="38628" marB="38628"/>
                </a:tc>
                <a:extLst>
                  <a:ext uri="{0D108BD9-81ED-4DB2-BD59-A6C34878D82A}">
                    <a16:rowId xmlns:a16="http://schemas.microsoft.com/office/drawing/2014/main" val="363953845"/>
                  </a:ext>
                </a:extLst>
              </a:tr>
              <a:tr h="412877">
                <a:tc>
                  <a:txBody>
                    <a:bodyPr/>
                    <a:lstStyle/>
                    <a:p>
                      <a:pPr algn="ctr"/>
                      <a:r>
                        <a:rPr lang="en-US" sz="1500" dirty="0" err="1"/>
                        <a:t>Md.Mehedi</a:t>
                      </a:r>
                      <a:r>
                        <a:rPr lang="en-US" sz="1500" dirty="0"/>
                        <a:t> Hasan et al</a:t>
                      </a:r>
                    </a:p>
                  </a:txBody>
                  <a:tcPr marL="77256" marR="77256" marT="38628" marB="38628"/>
                </a:tc>
                <a:tc>
                  <a:txBody>
                    <a:bodyPr/>
                    <a:lstStyle/>
                    <a:p>
                      <a:pPr algn="ctr"/>
                      <a:r>
                        <a:rPr lang="en-US" sz="1500" dirty="0"/>
                        <a:t>DenseNet201</a:t>
                      </a:r>
                    </a:p>
                  </a:txBody>
                  <a:tcPr marL="77256" marR="77256" marT="38628" marB="38628"/>
                </a:tc>
                <a:tc>
                  <a:txBody>
                    <a:bodyPr/>
                    <a:lstStyle/>
                    <a:p>
                      <a:pPr algn="ctr"/>
                      <a:r>
                        <a:rPr lang="en-US" sz="1500" dirty="0"/>
                        <a:t>Accuracy of 79%</a:t>
                      </a:r>
                    </a:p>
                  </a:txBody>
                  <a:tcPr marL="77256" marR="77256" marT="38628" marB="38628"/>
                </a:tc>
                <a:extLst>
                  <a:ext uri="{0D108BD9-81ED-4DB2-BD59-A6C34878D82A}">
                    <a16:rowId xmlns:a16="http://schemas.microsoft.com/office/drawing/2014/main" val="3759984197"/>
                  </a:ext>
                </a:extLst>
              </a:tr>
            </a:tbl>
          </a:graphicData>
        </a:graphic>
      </p:graphicFrame>
    </p:spTree>
    <p:extLst>
      <p:ext uri="{BB962C8B-B14F-4D97-AF65-F5344CB8AC3E}">
        <p14:creationId xmlns:p14="http://schemas.microsoft.com/office/powerpoint/2010/main" val="960613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1F41BF08-53C0-2DBB-35D7-A69A418759C5}"/>
              </a:ext>
            </a:extLst>
          </p:cNvPr>
          <p:cNvGrpSpPr>
            <a:grpSpLocks noGrp="1" noUngrp="1" noRot="1" noMove="1" noResize="1"/>
          </p:cNvGrpSpPr>
          <p:nvPr/>
        </p:nvGrpSpPr>
        <p:grpSpPr>
          <a:xfrm>
            <a:off x="0" y="0"/>
            <a:ext cx="12192000" cy="625651"/>
            <a:chOff x="0" y="0"/>
            <a:chExt cx="12192000" cy="625651"/>
          </a:xfrm>
        </p:grpSpPr>
        <p:sp>
          <p:nvSpPr>
            <p:cNvPr id="17" name="Flowchart: Process 16">
              <a:extLst>
                <a:ext uri="{FF2B5EF4-FFF2-40B4-BE49-F238E27FC236}">
                  <a16:creationId xmlns:a16="http://schemas.microsoft.com/office/drawing/2014/main" id="{C683A41B-DD03-A5FB-4389-F5B63CE49781}"/>
                </a:ext>
              </a:extLst>
            </p:cNvPr>
            <p:cNvSpPr>
              <a:spLocks noGrp="1" noRot="1" noMove="1" noResize="1" noEditPoints="1" noAdjustHandles="1" noChangeArrowheads="1" noChangeShapeType="1"/>
            </p:cNvSpPr>
            <p:nvPr/>
          </p:nvSpPr>
          <p:spPr>
            <a:xfrm>
              <a:off x="0" y="0"/>
              <a:ext cx="12192000" cy="441885"/>
            </a:xfrm>
            <a:prstGeom prst="flowChartProcess">
              <a:avLst/>
            </a:prstGeom>
            <a:solidFill>
              <a:srgbClr val="FAA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Process 17">
              <a:extLst>
                <a:ext uri="{FF2B5EF4-FFF2-40B4-BE49-F238E27FC236}">
                  <a16:creationId xmlns:a16="http://schemas.microsoft.com/office/drawing/2014/main" id="{E8197672-4A4D-0661-E23A-1CDC643B9FFA}"/>
                </a:ext>
              </a:extLst>
            </p:cNvPr>
            <p:cNvSpPr>
              <a:spLocks noGrp="1" noRot="1" noMove="1" noResize="1" noEditPoints="1" noAdjustHandles="1" noChangeArrowheads="1" noChangeShapeType="1"/>
            </p:cNvSpPr>
            <p:nvPr/>
          </p:nvSpPr>
          <p:spPr>
            <a:xfrm>
              <a:off x="7199086" y="441885"/>
              <a:ext cx="4992913" cy="183766"/>
            </a:xfrm>
            <a:prstGeom prst="flowChartProcess">
              <a:avLst/>
            </a:prstGeom>
            <a:solidFill>
              <a:srgbClr val="4544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9"/>
          <p:cNvSpPr>
            <a:spLocks noGrp="1"/>
          </p:cNvSpPr>
          <p:nvPr>
            <p:ph type="title"/>
          </p:nvPr>
        </p:nvSpPr>
        <p:spPr/>
        <p:txBody>
          <a:bodyPr/>
          <a:lstStyle/>
          <a:p>
            <a:r>
              <a:rPr lang="en-US" b="1" dirty="0">
                <a:solidFill>
                  <a:srgbClr val="002060"/>
                </a:solidFill>
                <a:cs typeface="Times New Roman" pitchFamily="18" charset="0"/>
              </a:rPr>
              <a:t>Methodology</a:t>
            </a:r>
            <a:endParaRPr lang="en-US" b="1" dirty="0">
              <a:solidFill>
                <a:srgbClr val="002060"/>
              </a:solidFill>
            </a:endParaRPr>
          </a:p>
        </p:txBody>
      </p:sp>
      <p:pic>
        <p:nvPicPr>
          <p:cNvPr id="3" name="Picture 2">
            <a:extLst>
              <a:ext uri="{FF2B5EF4-FFF2-40B4-BE49-F238E27FC236}">
                <a16:creationId xmlns:a16="http://schemas.microsoft.com/office/drawing/2014/main" id="{A3B236BD-4951-71CA-AFC7-67D090224820}"/>
              </a:ext>
            </a:extLst>
          </p:cNvPr>
          <p:cNvPicPr>
            <a:picLocks noChangeAspect="1"/>
          </p:cNvPicPr>
          <p:nvPr/>
        </p:nvPicPr>
        <p:blipFill>
          <a:blip r:embed="rId3"/>
          <a:stretch>
            <a:fillRect/>
          </a:stretch>
        </p:blipFill>
        <p:spPr>
          <a:xfrm>
            <a:off x="44604" y="6327933"/>
            <a:ext cx="12102790" cy="524107"/>
          </a:xfrm>
          <a:prstGeom prst="rect">
            <a:avLst/>
          </a:prstGeom>
        </p:spPr>
      </p:pic>
      <p:sp>
        <p:nvSpPr>
          <p:cNvPr id="16" name="Rectangle 4">
            <a:extLst>
              <a:ext uri="{FF2B5EF4-FFF2-40B4-BE49-F238E27FC236}">
                <a16:creationId xmlns:a16="http://schemas.microsoft.com/office/drawing/2014/main" id="{E33DB4CE-F558-4CF5-B30F-74340ECACBE6}"/>
              </a:ext>
            </a:extLst>
          </p:cNvPr>
          <p:cNvSpPr>
            <a:spLocks noChangeArrowheads="1"/>
          </p:cNvSpPr>
          <p:nvPr/>
        </p:nvSpPr>
        <p:spPr bwMode="auto">
          <a:xfrm>
            <a:off x="6139248" y="1335291"/>
            <a:ext cx="5431369" cy="502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rgbClr val="7030A0"/>
                </a:solidFill>
                <a:effectLst/>
                <a:latin typeface="Arial" panose="020B0604020202020204" pitchFamily="34" charset="0"/>
              </a:rPr>
              <a:t>Number of images: </a:t>
            </a:r>
            <a:r>
              <a:rPr kumimoji="0" lang="en-US" altLang="en-US" b="1" i="0" u="none" strike="noStrike" cap="none" normalizeH="0" baseline="0" dirty="0">
                <a:ln>
                  <a:noFill/>
                </a:ln>
                <a:solidFill>
                  <a:srgbClr val="C00000"/>
                </a:solidFill>
                <a:effectLst/>
                <a:latin typeface="Arial" panose="020B0604020202020204" pitchFamily="34" charset="0"/>
              </a:rPr>
              <a:t>4200</a:t>
            </a:r>
          </a:p>
          <a:p>
            <a:pPr marR="0" lvl="0" algn="just"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rgbClr val="7030A0"/>
                </a:solidFill>
                <a:effectLst/>
                <a:latin typeface="Arial" panose="020B0604020202020204" pitchFamily="34" charset="0"/>
              </a:rPr>
              <a:t>Number of categories: </a:t>
            </a:r>
            <a:r>
              <a:rPr kumimoji="0" lang="en-US" altLang="en-US" b="1" i="0" u="none" strike="noStrike" cap="none" normalizeH="0" baseline="0" dirty="0">
                <a:ln>
                  <a:noFill/>
                </a:ln>
                <a:solidFill>
                  <a:srgbClr val="C00000"/>
                </a:solidFill>
                <a:effectLst/>
                <a:latin typeface="Arial" panose="020B0604020202020204" pitchFamily="34" charset="0"/>
              </a:rPr>
              <a:t>4</a:t>
            </a:r>
          </a:p>
          <a:p>
            <a:pPr marR="0" lvl="0" algn="just"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rgbClr val="7030A0"/>
                </a:solidFill>
                <a:effectLst/>
                <a:latin typeface="Arial" panose="020B0604020202020204" pitchFamily="34" charset="0"/>
              </a:rPr>
              <a:t>Image size used: </a:t>
            </a:r>
            <a:r>
              <a:rPr kumimoji="0" lang="en-US" altLang="en-US" b="1" i="0" u="none" strike="noStrike" cap="none" normalizeH="0" baseline="0" dirty="0">
                <a:ln>
                  <a:noFill/>
                </a:ln>
                <a:solidFill>
                  <a:srgbClr val="C00000"/>
                </a:solidFill>
                <a:effectLst/>
                <a:latin typeface="Arial" panose="020B0604020202020204" pitchFamily="34" charset="0"/>
              </a:rPr>
              <a:t>224x224</a:t>
            </a:r>
            <a:r>
              <a:rPr kumimoji="0" lang="en-US" altLang="en-US" b="1" i="0" u="none" strike="noStrike" cap="none" normalizeH="0" baseline="0" dirty="0">
                <a:ln>
                  <a:noFill/>
                </a:ln>
                <a:solidFill>
                  <a:srgbClr val="7030A0"/>
                </a:solidFill>
                <a:effectLst/>
                <a:latin typeface="Arial" panose="020B0604020202020204" pitchFamily="34" charset="0"/>
              </a:rPr>
              <a:t> pixels.</a:t>
            </a:r>
          </a:p>
          <a:p>
            <a:pPr marR="0" lvl="0" algn="just"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rgbClr val="7030A0"/>
                </a:solidFill>
                <a:effectLst/>
                <a:latin typeface="Arial" panose="020B0604020202020204" pitchFamily="34" charset="0"/>
              </a:rPr>
              <a:t>Image format: </a:t>
            </a:r>
            <a:r>
              <a:rPr kumimoji="0" lang="en-US" altLang="en-US" b="1" i="0" u="none" strike="noStrike" cap="none" normalizeH="0" baseline="0" dirty="0">
                <a:ln>
                  <a:noFill/>
                </a:ln>
                <a:solidFill>
                  <a:srgbClr val="C00000"/>
                </a:solidFill>
                <a:effectLst/>
                <a:latin typeface="Arial" panose="020B0604020202020204" pitchFamily="34" charset="0"/>
              </a:rPr>
              <a:t>RGB</a:t>
            </a:r>
          </a:p>
          <a:p>
            <a:pPr marR="0" lvl="0" algn="just"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rgbClr val="7030A0"/>
                </a:solidFill>
                <a:effectLst/>
                <a:latin typeface="Arial" panose="020B0604020202020204" pitchFamily="34" charset="0"/>
              </a:rPr>
              <a:t>Classes: </a:t>
            </a:r>
            <a:r>
              <a:rPr kumimoji="0" lang="en-US" altLang="en-US" b="1" i="0" u="none" strike="noStrike" cap="none" normalizeH="0" baseline="0" dirty="0">
                <a:ln>
                  <a:noFill/>
                </a:ln>
                <a:solidFill>
                  <a:srgbClr val="C00000"/>
                </a:solidFill>
                <a:effectLst/>
                <a:latin typeface="Arial" panose="020B0604020202020204" pitchFamily="34" charset="0"/>
              </a:rPr>
              <a:t>3 disease </a:t>
            </a:r>
            <a:r>
              <a:rPr kumimoji="0" lang="en-US" altLang="en-US" b="1" i="0" u="none" strike="noStrike" cap="none" normalizeH="0" baseline="0" dirty="0">
                <a:ln>
                  <a:noFill/>
                </a:ln>
                <a:solidFill>
                  <a:srgbClr val="7030A0"/>
                </a:solidFill>
                <a:effectLst/>
                <a:latin typeface="Arial" panose="020B0604020202020204" pitchFamily="34" charset="0"/>
              </a:rPr>
              <a:t>cells, </a:t>
            </a:r>
            <a:r>
              <a:rPr kumimoji="0" lang="en-US" altLang="en-US" b="1" i="0" u="none" strike="noStrike" cap="none" normalizeH="0" baseline="0" dirty="0">
                <a:ln>
                  <a:noFill/>
                </a:ln>
                <a:solidFill>
                  <a:srgbClr val="C00000"/>
                </a:solidFill>
                <a:effectLst/>
                <a:latin typeface="Arial" panose="020B0604020202020204" pitchFamily="34" charset="0"/>
              </a:rPr>
              <a:t>Normal</a:t>
            </a:r>
            <a:r>
              <a:rPr kumimoji="0" lang="en-US" altLang="en-US" b="1" i="0" u="none" strike="noStrike" cap="none" normalizeH="0" baseline="0" dirty="0">
                <a:ln>
                  <a:noFill/>
                </a:ln>
                <a:solidFill>
                  <a:srgbClr val="7030A0"/>
                </a:solidFill>
                <a:effectLst/>
                <a:latin typeface="Arial" panose="020B0604020202020204" pitchFamily="34" charset="0"/>
              </a:rPr>
              <a:t> cells.</a:t>
            </a:r>
          </a:p>
          <a:p>
            <a:pPr marR="0" lvl="0" algn="just"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rgbClr val="7030A0"/>
                </a:solidFill>
                <a:effectLst/>
                <a:latin typeface="Arial" panose="020B0604020202020204" pitchFamily="34" charset="0"/>
              </a:rPr>
              <a:t>Data source: </a:t>
            </a:r>
            <a:r>
              <a:rPr kumimoji="0" lang="en-US" altLang="en-US" b="1" i="0" u="none" strike="noStrike" cap="none" normalizeH="0" baseline="0" dirty="0">
                <a:ln>
                  <a:noFill/>
                </a:ln>
                <a:solidFill>
                  <a:srgbClr val="C00000"/>
                </a:solidFill>
                <a:effectLst/>
                <a:latin typeface="Arial" panose="020B0604020202020204" pitchFamily="34" charset="0"/>
              </a:rPr>
              <a:t>Kaggle</a:t>
            </a:r>
          </a:p>
          <a:p>
            <a:pPr marR="0" lvl="0" algn="just" defTabSz="914400" rtl="0" eaLnBrk="0" fontAlgn="base" latinLnBrk="0" hangingPunct="0">
              <a:lnSpc>
                <a:spcPct val="150000"/>
              </a:lnSpc>
              <a:spcBef>
                <a:spcPct val="0"/>
              </a:spcBef>
              <a:spcAft>
                <a:spcPct val="0"/>
              </a:spcAft>
              <a:buClrTx/>
              <a:buSzTx/>
              <a:tabLst/>
            </a:pPr>
            <a:endParaRPr lang="en-US" altLang="en-US" b="1" dirty="0">
              <a:solidFill>
                <a:srgbClr val="7030A0"/>
              </a:solidFill>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rgbClr val="7030A0"/>
                </a:solidFill>
                <a:effectLst/>
                <a:latin typeface="Arial" panose="020B0604020202020204" pitchFamily="34" charset="0"/>
              </a:rPr>
              <a:t>With a ratio of </a:t>
            </a:r>
            <a:r>
              <a:rPr kumimoji="0" lang="en-US" altLang="en-US" b="1" i="0" u="none" strike="noStrike" cap="none" normalizeH="0" baseline="0" dirty="0">
                <a:ln>
                  <a:noFill/>
                </a:ln>
                <a:solidFill>
                  <a:srgbClr val="FF0000"/>
                </a:solidFill>
                <a:effectLst/>
                <a:latin typeface="Arial" panose="020B0604020202020204" pitchFamily="34" charset="0"/>
              </a:rPr>
              <a:t>70%:15%:15%, </a:t>
            </a:r>
            <a:r>
              <a:rPr kumimoji="0" lang="en-US" altLang="en-US" b="1" i="0" u="none" strike="noStrike" cap="none" normalizeH="0" baseline="0" dirty="0">
                <a:ln>
                  <a:noFill/>
                </a:ln>
                <a:solidFill>
                  <a:srgbClr val="7030A0"/>
                </a:solidFill>
                <a:effectLst/>
                <a:latin typeface="Arial" panose="020B0604020202020204" pitchFamily="34" charset="0"/>
              </a:rPr>
              <a:t>divide the dataset into training, validation, and test sets. This yields </a:t>
            </a:r>
            <a:r>
              <a:rPr kumimoji="0" lang="en-US" altLang="en-US" b="1" i="0" u="none" strike="noStrike" cap="none" normalizeH="0" baseline="0" dirty="0">
                <a:ln>
                  <a:noFill/>
                </a:ln>
                <a:solidFill>
                  <a:srgbClr val="C00000"/>
                </a:solidFill>
                <a:effectLst/>
                <a:latin typeface="Arial" panose="020B0604020202020204" pitchFamily="34" charset="0"/>
              </a:rPr>
              <a:t>3000 images</a:t>
            </a:r>
            <a:r>
              <a:rPr kumimoji="0" lang="en-US" altLang="en-US" b="1" i="0" u="none" strike="noStrike" cap="none" normalizeH="0" baseline="0" dirty="0">
                <a:ln>
                  <a:noFill/>
                </a:ln>
                <a:solidFill>
                  <a:srgbClr val="7030A0"/>
                </a:solidFill>
                <a:effectLst/>
                <a:latin typeface="Arial" panose="020B0604020202020204" pitchFamily="34" charset="0"/>
              </a:rPr>
              <a:t> for </a:t>
            </a:r>
            <a:r>
              <a:rPr kumimoji="0" lang="en-US" altLang="en-US" b="1" i="0" u="none" strike="noStrike" cap="none" normalizeH="0" baseline="0" dirty="0">
                <a:ln>
                  <a:noFill/>
                </a:ln>
                <a:solidFill>
                  <a:srgbClr val="C00000"/>
                </a:solidFill>
                <a:effectLst/>
                <a:latin typeface="Arial" panose="020B0604020202020204" pitchFamily="34" charset="0"/>
              </a:rPr>
              <a:t>training</a:t>
            </a:r>
            <a:r>
              <a:rPr kumimoji="0" lang="en-US" altLang="en-US" b="1" i="0" u="none" strike="noStrike" cap="none" normalizeH="0" baseline="0" dirty="0">
                <a:ln>
                  <a:noFill/>
                </a:ln>
                <a:solidFill>
                  <a:srgbClr val="7030A0"/>
                </a:solidFill>
                <a:effectLst/>
                <a:latin typeface="Arial" panose="020B0604020202020204" pitchFamily="34" charset="0"/>
              </a:rPr>
              <a:t>, </a:t>
            </a:r>
            <a:r>
              <a:rPr kumimoji="0" lang="en-US" altLang="en-US" b="1" i="0" u="none" strike="noStrike" cap="none" normalizeH="0" baseline="0" dirty="0">
                <a:ln>
                  <a:noFill/>
                </a:ln>
                <a:solidFill>
                  <a:srgbClr val="C00000"/>
                </a:solidFill>
                <a:effectLst/>
                <a:latin typeface="Arial" panose="020B0604020202020204" pitchFamily="34" charset="0"/>
              </a:rPr>
              <a:t>600 images</a:t>
            </a:r>
            <a:r>
              <a:rPr kumimoji="0" lang="en-US" altLang="en-US" b="1" i="0" u="none" strike="noStrike" cap="none" normalizeH="0" baseline="0" dirty="0">
                <a:ln>
                  <a:noFill/>
                </a:ln>
                <a:solidFill>
                  <a:srgbClr val="7030A0"/>
                </a:solidFill>
                <a:effectLst/>
                <a:latin typeface="Arial" panose="020B0604020202020204" pitchFamily="34" charset="0"/>
              </a:rPr>
              <a:t> for </a:t>
            </a:r>
            <a:r>
              <a:rPr kumimoji="0" lang="en-US" altLang="en-US" b="1" i="0" u="none" strike="noStrike" cap="none" normalizeH="0" baseline="0" dirty="0">
                <a:ln>
                  <a:noFill/>
                </a:ln>
                <a:solidFill>
                  <a:srgbClr val="C00000"/>
                </a:solidFill>
                <a:effectLst/>
                <a:latin typeface="Arial" panose="020B0604020202020204" pitchFamily="34" charset="0"/>
              </a:rPr>
              <a:t>validation</a:t>
            </a:r>
            <a:r>
              <a:rPr kumimoji="0" lang="en-US" altLang="en-US" b="1" i="0" u="none" strike="noStrike" cap="none" normalizeH="0" baseline="0" dirty="0">
                <a:ln>
                  <a:noFill/>
                </a:ln>
                <a:solidFill>
                  <a:srgbClr val="7030A0"/>
                </a:solidFill>
                <a:effectLst/>
                <a:latin typeface="Arial" panose="020B0604020202020204" pitchFamily="34" charset="0"/>
              </a:rPr>
              <a:t>, and </a:t>
            </a:r>
            <a:r>
              <a:rPr kumimoji="0" lang="en-US" altLang="en-US" b="1" i="0" u="none" strike="noStrike" cap="none" normalizeH="0" baseline="0" dirty="0">
                <a:ln>
                  <a:noFill/>
                </a:ln>
                <a:solidFill>
                  <a:srgbClr val="C00000"/>
                </a:solidFill>
                <a:effectLst/>
                <a:latin typeface="Arial" panose="020B0604020202020204" pitchFamily="34" charset="0"/>
              </a:rPr>
              <a:t>600 images</a:t>
            </a:r>
            <a:r>
              <a:rPr kumimoji="0" lang="en-US" altLang="en-US" b="1" i="0" u="none" strike="noStrike" cap="none" normalizeH="0" baseline="0" dirty="0">
                <a:ln>
                  <a:noFill/>
                </a:ln>
                <a:solidFill>
                  <a:srgbClr val="7030A0"/>
                </a:solidFill>
                <a:effectLst/>
                <a:latin typeface="Arial" panose="020B0604020202020204" pitchFamily="34" charset="0"/>
              </a:rPr>
              <a:t> for </a:t>
            </a:r>
            <a:r>
              <a:rPr kumimoji="0" lang="en-US" altLang="en-US" b="1" i="0" u="none" strike="noStrike" cap="none" normalizeH="0" baseline="0" dirty="0">
                <a:ln>
                  <a:noFill/>
                </a:ln>
                <a:solidFill>
                  <a:srgbClr val="C00000"/>
                </a:solidFill>
                <a:effectLst/>
                <a:latin typeface="Arial" panose="020B0604020202020204" pitchFamily="34" charset="0"/>
              </a:rPr>
              <a:t>testing</a:t>
            </a:r>
          </a:p>
        </p:txBody>
      </p:sp>
      <p:graphicFrame>
        <p:nvGraphicFramePr>
          <p:cNvPr id="4" name="Table 3">
            <a:extLst>
              <a:ext uri="{FF2B5EF4-FFF2-40B4-BE49-F238E27FC236}">
                <a16:creationId xmlns:a16="http://schemas.microsoft.com/office/drawing/2014/main" id="{30737BA9-3F83-EA33-B8B3-02A7A2F177B5}"/>
              </a:ext>
            </a:extLst>
          </p:cNvPr>
          <p:cNvGraphicFramePr>
            <a:graphicFrameLocks noGrp="1" noDrilldown="1" noMove="1" noResize="1"/>
          </p:cNvGraphicFramePr>
          <p:nvPr>
            <p:extLst>
              <p:ext uri="{D42A27DB-BD31-4B8C-83A1-F6EECF244321}">
                <p14:modId xmlns:p14="http://schemas.microsoft.com/office/powerpoint/2010/main" val="2009621243"/>
              </p:ext>
            </p:extLst>
          </p:nvPr>
        </p:nvGraphicFramePr>
        <p:xfrm>
          <a:off x="44604" y="6330906"/>
          <a:ext cx="12102790" cy="579120"/>
        </p:xfrm>
        <a:graphic>
          <a:graphicData uri="http://schemas.openxmlformats.org/drawingml/2006/table">
            <a:tbl>
              <a:tblPr firstRow="1" bandRow="1">
                <a:tableStyleId>{3B4B98B0-60AC-42C2-AFA5-B58CD77FA1E5}</a:tableStyleId>
              </a:tblPr>
              <a:tblGrid>
                <a:gridCol w="12102790">
                  <a:extLst>
                    <a:ext uri="{9D8B030D-6E8A-4147-A177-3AD203B41FA5}">
                      <a16:colId xmlns:a16="http://schemas.microsoft.com/office/drawing/2014/main" val="3674735876"/>
                    </a:ext>
                  </a:extLst>
                </a:gridCol>
              </a:tblGrid>
              <a:tr h="524108">
                <a:tc>
                  <a:txBody>
                    <a:bodyPr/>
                    <a:lstStyle/>
                    <a:p>
                      <a:pPr algn="ctr"/>
                      <a:r>
                        <a:rPr lang="en-US" sz="1600" dirty="0">
                          <a:solidFill>
                            <a:schemeClr val="bg1"/>
                          </a:solidFill>
                          <a:latin typeface="Helvetica" pitchFamily="2" charset="0"/>
                        </a:rPr>
                        <a:t>CUET IT Business Incubator, Chattogram, Bangladesh</a:t>
                      </a:r>
                    </a:p>
                    <a:p>
                      <a:pPr algn="ctr"/>
                      <a:r>
                        <a:rPr lang="en-US" sz="1600" dirty="0">
                          <a:solidFill>
                            <a:schemeClr val="bg1"/>
                          </a:solidFill>
                          <a:latin typeface="Helvetica" pitchFamily="2" charset="0"/>
                        </a:rPr>
                        <a:t>25</a:t>
                      </a:r>
                      <a:r>
                        <a:rPr lang="en-US" sz="1600" baseline="30000" dirty="0">
                          <a:solidFill>
                            <a:schemeClr val="bg1"/>
                          </a:solidFill>
                          <a:latin typeface="Helvetica" pitchFamily="2" charset="0"/>
                        </a:rPr>
                        <a:t>th</a:t>
                      </a:r>
                      <a:r>
                        <a:rPr lang="en-US" sz="1600" dirty="0">
                          <a:solidFill>
                            <a:schemeClr val="bg1"/>
                          </a:solidFill>
                          <a:latin typeface="Helvetica" pitchFamily="2" charset="0"/>
                        </a:rPr>
                        <a:t> &amp; 26</a:t>
                      </a:r>
                      <a:r>
                        <a:rPr lang="en-US" sz="1600" baseline="30000" dirty="0">
                          <a:solidFill>
                            <a:schemeClr val="bg1"/>
                          </a:solidFill>
                          <a:latin typeface="Helvetica" pitchFamily="2" charset="0"/>
                        </a:rPr>
                        <a:t>th</a:t>
                      </a:r>
                      <a:r>
                        <a:rPr lang="en-US" sz="1600" dirty="0">
                          <a:solidFill>
                            <a:schemeClr val="bg1"/>
                          </a:solidFill>
                          <a:latin typeface="Helvetica" pitchFamily="2" charset="0"/>
                        </a:rPr>
                        <a:t> September 2024</a:t>
                      </a:r>
                    </a:p>
                  </a:txBody>
                  <a:tcPr>
                    <a:lnL>
                      <a:noFill/>
                    </a:lnL>
                    <a:lnR>
                      <a:noFill/>
                    </a:lnR>
                    <a:lnT w="12700" cmpd="sng">
                      <a:noFill/>
                    </a:lnT>
                    <a:lnB w="12700" cmpd="sng">
                      <a:noFill/>
                    </a:lnB>
                    <a:lnTlToBr w="12700" cmpd="sng">
                      <a:noFill/>
                      <a:prstDash val="solid"/>
                    </a:lnTlToBr>
                    <a:lnBlToTr w="12700" cmpd="sng">
                      <a:noFill/>
                      <a:prstDash val="solid"/>
                    </a:lnBlToTr>
                    <a:solidFill>
                      <a:srgbClr val="286AB3"/>
                    </a:solidFill>
                  </a:tcPr>
                </a:tc>
                <a:extLst>
                  <a:ext uri="{0D108BD9-81ED-4DB2-BD59-A6C34878D82A}">
                    <a16:rowId xmlns:a16="http://schemas.microsoft.com/office/drawing/2014/main" val="2193435611"/>
                  </a:ext>
                </a:extLst>
              </a:tr>
            </a:tbl>
          </a:graphicData>
        </a:graphic>
      </p:graphicFrame>
      <p:sp>
        <p:nvSpPr>
          <p:cNvPr id="8" name="Date Placeholder 6">
            <a:extLst>
              <a:ext uri="{FF2B5EF4-FFF2-40B4-BE49-F238E27FC236}">
                <a16:creationId xmlns:a16="http://schemas.microsoft.com/office/drawing/2014/main" id="{045A9515-D8A2-E4BD-C279-D7255E2218F1}"/>
              </a:ext>
            </a:extLst>
          </p:cNvPr>
          <p:cNvSpPr>
            <a:spLocks noGrp="1"/>
          </p:cNvSpPr>
          <p:nvPr>
            <p:ph type="dt" sz="half" idx="10"/>
          </p:nvPr>
        </p:nvSpPr>
        <p:spPr>
          <a:xfrm>
            <a:off x="44604" y="5915810"/>
            <a:ext cx="2876396" cy="412123"/>
          </a:xfrm>
          <a:ln>
            <a:noFill/>
          </a:ln>
        </p:spPr>
        <p:txBody>
          <a:bodyPr/>
          <a:lstStyle/>
          <a:p>
            <a:pPr algn="ctr"/>
            <a:r>
              <a:rPr lang="en-US" sz="20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September 2024</a:t>
            </a:r>
          </a:p>
        </p:txBody>
      </p:sp>
      <p:grpSp>
        <p:nvGrpSpPr>
          <p:cNvPr id="7" name="Group 12">
            <a:extLst>
              <a:ext uri="{FF2B5EF4-FFF2-40B4-BE49-F238E27FC236}">
                <a16:creationId xmlns:a16="http://schemas.microsoft.com/office/drawing/2014/main" id="{7C99C9D8-1D0E-56D9-918E-B025ACCE841C}"/>
              </a:ext>
            </a:extLst>
          </p:cNvPr>
          <p:cNvGrpSpPr/>
          <p:nvPr/>
        </p:nvGrpSpPr>
        <p:grpSpPr>
          <a:xfrm>
            <a:off x="11538857" y="5828369"/>
            <a:ext cx="338772" cy="362537"/>
            <a:chOff x="0" y="0"/>
            <a:chExt cx="812800" cy="869819"/>
          </a:xfrm>
        </p:grpSpPr>
        <p:sp>
          <p:nvSpPr>
            <p:cNvPr id="11" name="Freeform 13">
              <a:extLst>
                <a:ext uri="{FF2B5EF4-FFF2-40B4-BE49-F238E27FC236}">
                  <a16:creationId xmlns:a16="http://schemas.microsoft.com/office/drawing/2014/main" id="{F8F13B9D-2EA4-8E6A-DF66-C68BF7CD3C3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sz="1200"/>
            </a:p>
          </p:txBody>
        </p:sp>
        <p:sp>
          <p:nvSpPr>
            <p:cNvPr id="13" name="TextBox 14">
              <a:extLst>
                <a:ext uri="{FF2B5EF4-FFF2-40B4-BE49-F238E27FC236}">
                  <a16:creationId xmlns:a16="http://schemas.microsoft.com/office/drawing/2014/main" id="{F3DB685D-05F9-E286-4F7A-13BEE03DA6FC}"/>
                </a:ext>
              </a:extLst>
            </p:cNvPr>
            <p:cNvSpPr txBox="1"/>
            <p:nvPr/>
          </p:nvSpPr>
          <p:spPr>
            <a:xfrm>
              <a:off x="76200" y="52970"/>
              <a:ext cx="660400" cy="735303"/>
            </a:xfrm>
            <a:prstGeom prst="rect">
              <a:avLst/>
            </a:prstGeom>
          </p:spPr>
          <p:txBody>
            <a:bodyPr lIns="33867" tIns="33867" rIns="33867" bIns="33867" rtlCol="0" anchor="ctr"/>
            <a:lstStyle/>
            <a:p>
              <a:pPr algn="ctr">
                <a:lnSpc>
                  <a:spcPts val="1587"/>
                </a:lnSpc>
                <a:spcBef>
                  <a:spcPct val="0"/>
                </a:spcBef>
              </a:pPr>
              <a:r>
                <a:rPr lang="en-US" sz="1133" dirty="0">
                  <a:solidFill>
                    <a:srgbClr val="191919"/>
                  </a:solidFill>
                  <a:latin typeface="Gotham"/>
                  <a:ea typeface="Gotham"/>
                  <a:cs typeface="Gotham"/>
                  <a:sym typeface="Gotham"/>
                </a:rPr>
                <a:t>5</a:t>
              </a:r>
            </a:p>
          </p:txBody>
        </p:sp>
      </p:grpSp>
      <p:pic>
        <p:nvPicPr>
          <p:cNvPr id="5" name="Picture 2">
            <a:extLst>
              <a:ext uri="{FF2B5EF4-FFF2-40B4-BE49-F238E27FC236}">
                <a16:creationId xmlns:a16="http://schemas.microsoft.com/office/drawing/2014/main" id="{81124C7F-CB50-801A-798A-61D891D82312}"/>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a:stretch/>
        </p:blipFill>
        <p:spPr bwMode="auto">
          <a:xfrm>
            <a:off x="132734" y="443409"/>
            <a:ext cx="946917" cy="876158"/>
          </a:xfrm>
          <a:prstGeom prst="rect">
            <a:avLst/>
          </a:prstGeom>
          <a:noFill/>
          <a:ln w="9525">
            <a:noFill/>
            <a:miter lim="800000"/>
            <a:headEnd/>
            <a:tailEnd/>
          </a:ln>
          <a:effectLst/>
        </p:spPr>
      </p:pic>
      <p:pic>
        <p:nvPicPr>
          <p:cNvPr id="9" name="Picture 7">
            <a:extLst>
              <a:ext uri="{FF2B5EF4-FFF2-40B4-BE49-F238E27FC236}">
                <a16:creationId xmlns:a16="http://schemas.microsoft.com/office/drawing/2014/main" id="{9E0DE6B8-5573-4A5A-0800-EC697ACA4E0C}"/>
              </a:ext>
            </a:extLst>
          </p:cNvPr>
          <p:cNvPicPr>
            <a:picLocks noGrp="1" noRo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a:stretch/>
        </p:blipFill>
        <p:spPr bwMode="auto">
          <a:xfrm>
            <a:off x="10500850" y="654314"/>
            <a:ext cx="1493901" cy="665253"/>
          </a:xfrm>
          <a:prstGeom prst="rect">
            <a:avLst/>
          </a:prstGeom>
          <a:noFill/>
          <a:ln w="9525">
            <a:noFill/>
            <a:miter lim="800000"/>
            <a:headEnd/>
            <a:tailEnd/>
          </a:ln>
          <a:effectLst/>
        </p:spPr>
      </p:pic>
      <p:pic>
        <p:nvPicPr>
          <p:cNvPr id="6" name="Picture 5">
            <a:extLst>
              <a:ext uri="{FF2B5EF4-FFF2-40B4-BE49-F238E27FC236}">
                <a16:creationId xmlns:a16="http://schemas.microsoft.com/office/drawing/2014/main" id="{0CD25AE1-E3D9-D191-DB72-7CE4DF4EE06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6192" y="2062721"/>
            <a:ext cx="5400126" cy="3169155"/>
          </a:xfrm>
          <a:prstGeom prst="rect">
            <a:avLst/>
          </a:prstGeom>
        </p:spPr>
      </p:pic>
      <p:sp>
        <p:nvSpPr>
          <p:cNvPr id="12" name="TextBox 11">
            <a:extLst>
              <a:ext uri="{FF2B5EF4-FFF2-40B4-BE49-F238E27FC236}">
                <a16:creationId xmlns:a16="http://schemas.microsoft.com/office/drawing/2014/main" id="{EEEDC0B2-0A49-1FC9-EED0-F6B7CDEA2D78}"/>
              </a:ext>
            </a:extLst>
          </p:cNvPr>
          <p:cNvSpPr txBox="1"/>
          <p:nvPr/>
        </p:nvSpPr>
        <p:spPr>
          <a:xfrm>
            <a:off x="910663" y="5360326"/>
            <a:ext cx="4791183" cy="369332"/>
          </a:xfrm>
          <a:prstGeom prst="rect">
            <a:avLst/>
          </a:prstGeom>
          <a:noFill/>
        </p:spPr>
        <p:txBody>
          <a:bodyPr wrap="none" rtlCol="0">
            <a:spAutoFit/>
          </a:bodyPr>
          <a:lstStyle/>
          <a:p>
            <a:r>
              <a:rPr lang="en-US" dirty="0">
                <a:cs typeface="Times New Roman" pitchFamily="18" charset="0"/>
              </a:rPr>
              <a:t>Fig: Transfer Learning Architecture Block Diagram</a:t>
            </a:r>
          </a:p>
        </p:txBody>
      </p:sp>
    </p:spTree>
    <p:extLst>
      <p:ext uri="{BB962C8B-B14F-4D97-AF65-F5344CB8AC3E}">
        <p14:creationId xmlns:p14="http://schemas.microsoft.com/office/powerpoint/2010/main" val="3856818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D8DE70A0-88BC-CD82-F6A7-AEDAB8B83DE0}"/>
              </a:ext>
            </a:extLst>
          </p:cNvPr>
          <p:cNvGrpSpPr>
            <a:grpSpLocks noGrp="1" noUngrp="1" noRot="1" noMove="1" noResize="1"/>
          </p:cNvGrpSpPr>
          <p:nvPr/>
        </p:nvGrpSpPr>
        <p:grpSpPr>
          <a:xfrm>
            <a:off x="0" y="0"/>
            <a:ext cx="12192000" cy="625651"/>
            <a:chOff x="0" y="0"/>
            <a:chExt cx="12192000" cy="625651"/>
          </a:xfrm>
        </p:grpSpPr>
        <p:sp>
          <p:nvSpPr>
            <p:cNvPr id="16" name="Flowchart: Process 15">
              <a:extLst>
                <a:ext uri="{FF2B5EF4-FFF2-40B4-BE49-F238E27FC236}">
                  <a16:creationId xmlns:a16="http://schemas.microsoft.com/office/drawing/2014/main" id="{8764993C-40F6-5BFC-330E-01AA72D85A72}"/>
                </a:ext>
              </a:extLst>
            </p:cNvPr>
            <p:cNvSpPr>
              <a:spLocks noGrp="1" noRot="1" noMove="1" noResize="1" noEditPoints="1" noAdjustHandles="1" noChangeArrowheads="1" noChangeShapeType="1"/>
            </p:cNvSpPr>
            <p:nvPr/>
          </p:nvSpPr>
          <p:spPr>
            <a:xfrm>
              <a:off x="0" y="0"/>
              <a:ext cx="12192000" cy="441885"/>
            </a:xfrm>
            <a:prstGeom prst="flowChartProcess">
              <a:avLst/>
            </a:prstGeom>
            <a:solidFill>
              <a:srgbClr val="FAA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Process 18">
              <a:extLst>
                <a:ext uri="{FF2B5EF4-FFF2-40B4-BE49-F238E27FC236}">
                  <a16:creationId xmlns:a16="http://schemas.microsoft.com/office/drawing/2014/main" id="{E02EF5C4-0C8E-B3D5-FCF0-C72036B7ACDF}"/>
                </a:ext>
              </a:extLst>
            </p:cNvPr>
            <p:cNvSpPr>
              <a:spLocks noGrp="1" noRot="1" noMove="1" noResize="1" noEditPoints="1" noAdjustHandles="1" noChangeArrowheads="1" noChangeShapeType="1"/>
            </p:cNvSpPr>
            <p:nvPr/>
          </p:nvSpPr>
          <p:spPr>
            <a:xfrm>
              <a:off x="7199086" y="441885"/>
              <a:ext cx="4992913" cy="183766"/>
            </a:xfrm>
            <a:prstGeom prst="flowChartProcess">
              <a:avLst/>
            </a:prstGeom>
            <a:solidFill>
              <a:srgbClr val="4544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A3B236BD-4951-71CA-AFC7-67D090224820}"/>
              </a:ext>
            </a:extLst>
          </p:cNvPr>
          <p:cNvPicPr>
            <a:picLocks noChangeAspect="1"/>
          </p:cNvPicPr>
          <p:nvPr/>
        </p:nvPicPr>
        <p:blipFill>
          <a:blip r:embed="rId3"/>
          <a:stretch>
            <a:fillRect/>
          </a:stretch>
        </p:blipFill>
        <p:spPr>
          <a:xfrm>
            <a:off x="44604" y="6327933"/>
            <a:ext cx="12102790" cy="524107"/>
          </a:xfrm>
          <a:prstGeom prst="rect">
            <a:avLst/>
          </a:prstGeom>
        </p:spPr>
      </p:pic>
      <p:sp>
        <p:nvSpPr>
          <p:cNvPr id="18" name="Title 9"/>
          <p:cNvSpPr txBox="1">
            <a:spLocks/>
          </p:cNvSpPr>
          <p:nvPr/>
        </p:nvSpPr>
        <p:spPr>
          <a:xfrm>
            <a:off x="609600" y="1143000"/>
            <a:ext cx="10972800" cy="1066800"/>
          </a:xfrm>
          <a:prstGeom prst="rect">
            <a:avLst/>
          </a:prstGeom>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b="1" dirty="0">
                <a:solidFill>
                  <a:srgbClr val="002060"/>
                </a:solidFill>
                <a:cs typeface="Times New Roman" pitchFamily="18" charset="0"/>
              </a:rPr>
              <a:t>Proposed Work</a:t>
            </a:r>
            <a:endParaRPr lang="en-US" b="1" dirty="0">
              <a:solidFill>
                <a:srgbClr val="002060"/>
              </a:solidFill>
            </a:endParaRPr>
          </a:p>
        </p:txBody>
      </p:sp>
      <p:graphicFrame>
        <p:nvGraphicFramePr>
          <p:cNvPr id="4" name="Table 3">
            <a:extLst>
              <a:ext uri="{FF2B5EF4-FFF2-40B4-BE49-F238E27FC236}">
                <a16:creationId xmlns:a16="http://schemas.microsoft.com/office/drawing/2014/main" id="{CA8415CE-3AE9-C5E3-C81E-3767ED8F32B5}"/>
              </a:ext>
            </a:extLst>
          </p:cNvPr>
          <p:cNvGraphicFramePr>
            <a:graphicFrameLocks noGrp="1" noDrilldown="1" noMove="1" noResize="1"/>
          </p:cNvGraphicFramePr>
          <p:nvPr>
            <p:extLst>
              <p:ext uri="{D42A27DB-BD31-4B8C-83A1-F6EECF244321}">
                <p14:modId xmlns:p14="http://schemas.microsoft.com/office/powerpoint/2010/main" val="295353549"/>
              </p:ext>
            </p:extLst>
          </p:nvPr>
        </p:nvGraphicFramePr>
        <p:xfrm>
          <a:off x="44604" y="6330906"/>
          <a:ext cx="12102790" cy="579120"/>
        </p:xfrm>
        <a:graphic>
          <a:graphicData uri="http://schemas.openxmlformats.org/drawingml/2006/table">
            <a:tbl>
              <a:tblPr firstRow="1" bandRow="1">
                <a:tableStyleId>{3B4B98B0-60AC-42C2-AFA5-B58CD77FA1E5}</a:tableStyleId>
              </a:tblPr>
              <a:tblGrid>
                <a:gridCol w="12102790">
                  <a:extLst>
                    <a:ext uri="{9D8B030D-6E8A-4147-A177-3AD203B41FA5}">
                      <a16:colId xmlns:a16="http://schemas.microsoft.com/office/drawing/2014/main" val="3674735876"/>
                    </a:ext>
                  </a:extLst>
                </a:gridCol>
              </a:tblGrid>
              <a:tr h="524108">
                <a:tc>
                  <a:txBody>
                    <a:bodyPr/>
                    <a:lstStyle/>
                    <a:p>
                      <a:pPr algn="ctr"/>
                      <a:r>
                        <a:rPr lang="en-US" sz="1600" dirty="0">
                          <a:solidFill>
                            <a:schemeClr val="bg1"/>
                          </a:solidFill>
                          <a:latin typeface="Helvetica" pitchFamily="2" charset="0"/>
                        </a:rPr>
                        <a:t>CUET IT Business Incubator, Chattogram, Bangladesh</a:t>
                      </a:r>
                    </a:p>
                    <a:p>
                      <a:pPr algn="ctr"/>
                      <a:r>
                        <a:rPr lang="en-US" sz="1600" dirty="0">
                          <a:solidFill>
                            <a:schemeClr val="bg1"/>
                          </a:solidFill>
                          <a:latin typeface="Helvetica" pitchFamily="2" charset="0"/>
                        </a:rPr>
                        <a:t>25</a:t>
                      </a:r>
                      <a:r>
                        <a:rPr lang="en-US" sz="1600" baseline="30000" dirty="0">
                          <a:solidFill>
                            <a:schemeClr val="bg1"/>
                          </a:solidFill>
                          <a:latin typeface="Helvetica" pitchFamily="2" charset="0"/>
                        </a:rPr>
                        <a:t>th</a:t>
                      </a:r>
                      <a:r>
                        <a:rPr lang="en-US" sz="1600" dirty="0">
                          <a:solidFill>
                            <a:schemeClr val="bg1"/>
                          </a:solidFill>
                          <a:latin typeface="Helvetica" pitchFamily="2" charset="0"/>
                        </a:rPr>
                        <a:t> &amp; 26</a:t>
                      </a:r>
                      <a:r>
                        <a:rPr lang="en-US" sz="1600" baseline="30000" dirty="0">
                          <a:solidFill>
                            <a:schemeClr val="bg1"/>
                          </a:solidFill>
                          <a:latin typeface="Helvetica" pitchFamily="2" charset="0"/>
                        </a:rPr>
                        <a:t>th</a:t>
                      </a:r>
                      <a:r>
                        <a:rPr lang="en-US" sz="1600" dirty="0">
                          <a:solidFill>
                            <a:schemeClr val="bg1"/>
                          </a:solidFill>
                          <a:latin typeface="Helvetica" pitchFamily="2" charset="0"/>
                        </a:rPr>
                        <a:t> September 2024</a:t>
                      </a:r>
                    </a:p>
                  </a:txBody>
                  <a:tcPr>
                    <a:lnL>
                      <a:noFill/>
                    </a:lnL>
                    <a:lnR>
                      <a:noFill/>
                    </a:lnR>
                    <a:lnT w="12700" cmpd="sng">
                      <a:noFill/>
                    </a:lnT>
                    <a:lnB w="12700" cmpd="sng">
                      <a:noFill/>
                    </a:lnB>
                    <a:lnTlToBr w="12700" cmpd="sng">
                      <a:noFill/>
                      <a:prstDash val="solid"/>
                    </a:lnTlToBr>
                    <a:lnBlToTr w="12700" cmpd="sng">
                      <a:noFill/>
                      <a:prstDash val="solid"/>
                    </a:lnBlToTr>
                    <a:solidFill>
                      <a:srgbClr val="286AB3"/>
                    </a:solidFill>
                  </a:tcPr>
                </a:tc>
                <a:extLst>
                  <a:ext uri="{0D108BD9-81ED-4DB2-BD59-A6C34878D82A}">
                    <a16:rowId xmlns:a16="http://schemas.microsoft.com/office/drawing/2014/main" val="2193435611"/>
                  </a:ext>
                </a:extLst>
              </a:tr>
            </a:tbl>
          </a:graphicData>
        </a:graphic>
      </p:graphicFrame>
      <p:sp>
        <p:nvSpPr>
          <p:cNvPr id="8" name="Date Placeholder 6">
            <a:extLst>
              <a:ext uri="{FF2B5EF4-FFF2-40B4-BE49-F238E27FC236}">
                <a16:creationId xmlns:a16="http://schemas.microsoft.com/office/drawing/2014/main" id="{8FCCEF9A-C288-33E7-9844-BECDDEAA3909}"/>
              </a:ext>
            </a:extLst>
          </p:cNvPr>
          <p:cNvSpPr>
            <a:spLocks noGrp="1"/>
          </p:cNvSpPr>
          <p:nvPr>
            <p:ph type="dt" sz="half" idx="10"/>
          </p:nvPr>
        </p:nvSpPr>
        <p:spPr>
          <a:xfrm>
            <a:off x="44604" y="5915810"/>
            <a:ext cx="2876396" cy="412123"/>
          </a:xfrm>
          <a:ln>
            <a:noFill/>
          </a:ln>
        </p:spPr>
        <p:txBody>
          <a:bodyPr/>
          <a:lstStyle/>
          <a:p>
            <a:pPr algn="ctr"/>
            <a:r>
              <a:rPr lang="en-US" sz="20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September 2024</a:t>
            </a:r>
          </a:p>
        </p:txBody>
      </p:sp>
      <p:grpSp>
        <p:nvGrpSpPr>
          <p:cNvPr id="7" name="Group 12">
            <a:extLst>
              <a:ext uri="{FF2B5EF4-FFF2-40B4-BE49-F238E27FC236}">
                <a16:creationId xmlns:a16="http://schemas.microsoft.com/office/drawing/2014/main" id="{CEE05986-6384-5481-B39C-7A755B0A231A}"/>
              </a:ext>
            </a:extLst>
          </p:cNvPr>
          <p:cNvGrpSpPr/>
          <p:nvPr/>
        </p:nvGrpSpPr>
        <p:grpSpPr>
          <a:xfrm>
            <a:off x="11538857" y="5828369"/>
            <a:ext cx="338772" cy="362537"/>
            <a:chOff x="0" y="0"/>
            <a:chExt cx="812800" cy="869819"/>
          </a:xfrm>
        </p:grpSpPr>
        <p:sp>
          <p:nvSpPr>
            <p:cNvPr id="11" name="Freeform 13">
              <a:extLst>
                <a:ext uri="{FF2B5EF4-FFF2-40B4-BE49-F238E27FC236}">
                  <a16:creationId xmlns:a16="http://schemas.microsoft.com/office/drawing/2014/main" id="{FE76E154-40BB-1D2C-43F9-FEDFD78CAA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sz="1200"/>
            </a:p>
          </p:txBody>
        </p:sp>
        <p:sp>
          <p:nvSpPr>
            <p:cNvPr id="13" name="TextBox 14">
              <a:extLst>
                <a:ext uri="{FF2B5EF4-FFF2-40B4-BE49-F238E27FC236}">
                  <a16:creationId xmlns:a16="http://schemas.microsoft.com/office/drawing/2014/main" id="{D7D1497B-D300-12FF-1D99-6175309F61CF}"/>
                </a:ext>
              </a:extLst>
            </p:cNvPr>
            <p:cNvSpPr txBox="1"/>
            <p:nvPr/>
          </p:nvSpPr>
          <p:spPr>
            <a:xfrm>
              <a:off x="76200" y="52970"/>
              <a:ext cx="660400" cy="735303"/>
            </a:xfrm>
            <a:prstGeom prst="rect">
              <a:avLst/>
            </a:prstGeom>
          </p:spPr>
          <p:txBody>
            <a:bodyPr lIns="33867" tIns="33867" rIns="33867" bIns="33867" rtlCol="0" anchor="ctr"/>
            <a:lstStyle/>
            <a:p>
              <a:pPr algn="ctr">
                <a:lnSpc>
                  <a:spcPts val="1587"/>
                </a:lnSpc>
                <a:spcBef>
                  <a:spcPct val="0"/>
                </a:spcBef>
              </a:pPr>
              <a:r>
                <a:rPr lang="en-US" sz="1133" dirty="0">
                  <a:solidFill>
                    <a:srgbClr val="191919"/>
                  </a:solidFill>
                  <a:latin typeface="Gotham"/>
                  <a:ea typeface="Gotham"/>
                  <a:cs typeface="Gotham"/>
                  <a:sym typeface="Gotham"/>
                </a:rPr>
                <a:t>6</a:t>
              </a:r>
            </a:p>
          </p:txBody>
        </p:sp>
      </p:grpSp>
      <p:pic>
        <p:nvPicPr>
          <p:cNvPr id="5" name="Picture 2">
            <a:extLst>
              <a:ext uri="{FF2B5EF4-FFF2-40B4-BE49-F238E27FC236}">
                <a16:creationId xmlns:a16="http://schemas.microsoft.com/office/drawing/2014/main" id="{71CFA5F3-4D45-5E13-9727-E87414756FA6}"/>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a:stretch/>
        </p:blipFill>
        <p:spPr bwMode="auto">
          <a:xfrm>
            <a:off x="132734" y="443409"/>
            <a:ext cx="946917" cy="876158"/>
          </a:xfrm>
          <a:prstGeom prst="rect">
            <a:avLst/>
          </a:prstGeom>
          <a:noFill/>
          <a:ln w="9525">
            <a:noFill/>
            <a:miter lim="800000"/>
            <a:headEnd/>
            <a:tailEnd/>
          </a:ln>
          <a:effectLst/>
        </p:spPr>
      </p:pic>
      <p:pic>
        <p:nvPicPr>
          <p:cNvPr id="9" name="Picture 7">
            <a:extLst>
              <a:ext uri="{FF2B5EF4-FFF2-40B4-BE49-F238E27FC236}">
                <a16:creationId xmlns:a16="http://schemas.microsoft.com/office/drawing/2014/main" id="{FC3A6985-F55C-89DE-C43C-4EF19209E482}"/>
              </a:ext>
            </a:extLst>
          </p:cNvPr>
          <p:cNvPicPr>
            <a:picLocks noGrp="1" noRo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a:stretch/>
        </p:blipFill>
        <p:spPr bwMode="auto">
          <a:xfrm>
            <a:off x="10500850" y="654314"/>
            <a:ext cx="1493901" cy="665253"/>
          </a:xfrm>
          <a:prstGeom prst="rect">
            <a:avLst/>
          </a:prstGeom>
          <a:noFill/>
          <a:ln w="9525">
            <a:noFill/>
            <a:miter lim="800000"/>
            <a:headEnd/>
            <a:tailEnd/>
          </a:ln>
          <a:effectLst/>
        </p:spPr>
      </p:pic>
      <p:grpSp>
        <p:nvGrpSpPr>
          <p:cNvPr id="10" name="Group 9">
            <a:extLst>
              <a:ext uri="{FF2B5EF4-FFF2-40B4-BE49-F238E27FC236}">
                <a16:creationId xmlns:a16="http://schemas.microsoft.com/office/drawing/2014/main" id="{FB761BF3-0D36-B27C-E086-906DB81D4A17}"/>
              </a:ext>
            </a:extLst>
          </p:cNvPr>
          <p:cNvGrpSpPr/>
          <p:nvPr/>
        </p:nvGrpSpPr>
        <p:grpSpPr>
          <a:xfrm>
            <a:off x="520364" y="1820788"/>
            <a:ext cx="11061248" cy="4051729"/>
            <a:chOff x="520364" y="1820788"/>
            <a:chExt cx="11061248" cy="4051729"/>
          </a:xfrm>
        </p:grpSpPr>
        <p:sp>
          <p:nvSpPr>
            <p:cNvPr id="14" name="Rectangle 4">
              <a:extLst>
                <a:ext uri="{FF2B5EF4-FFF2-40B4-BE49-F238E27FC236}">
                  <a16:creationId xmlns:a16="http://schemas.microsoft.com/office/drawing/2014/main" id="{25610AF6-7452-1C7E-FDE0-14D9AD062711}"/>
                </a:ext>
              </a:extLst>
            </p:cNvPr>
            <p:cNvSpPr>
              <a:spLocks noChangeArrowheads="1"/>
            </p:cNvSpPr>
            <p:nvPr/>
          </p:nvSpPr>
          <p:spPr bwMode="auto">
            <a:xfrm>
              <a:off x="6139248" y="1820788"/>
              <a:ext cx="5431369"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rgbClr val="C00000"/>
                  </a:solidFill>
                  <a:effectLst/>
                  <a:latin typeface="Arial" panose="020B0604020202020204" pitchFamily="34" charset="0"/>
                </a:rPr>
                <a:t>Technology Used</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rgbClr val="7030A0"/>
                  </a:solidFill>
                  <a:effectLst/>
                  <a:latin typeface="Arial" panose="020B0604020202020204" pitchFamily="34" charset="0"/>
                </a:rPr>
                <a:t>TensorFlow, in Python programming language</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rgbClr val="7030A0"/>
                  </a:solidFill>
                  <a:effectLst/>
                  <a:latin typeface="Arial" panose="020B0604020202020204" pitchFamily="34" charset="0"/>
                </a:rPr>
                <a:t>OpenCV (Open Computer Vision Library), in Python programming language.</a:t>
              </a:r>
            </a:p>
          </p:txBody>
        </p:sp>
        <p:sp>
          <p:nvSpPr>
            <p:cNvPr id="15" name="TextBox 14">
              <a:extLst>
                <a:ext uri="{FF2B5EF4-FFF2-40B4-BE49-F238E27FC236}">
                  <a16:creationId xmlns:a16="http://schemas.microsoft.com/office/drawing/2014/main" id="{492CC385-633A-B576-8A21-4E564B7DCCA2}"/>
                </a:ext>
              </a:extLst>
            </p:cNvPr>
            <p:cNvSpPr txBox="1"/>
            <p:nvPr/>
          </p:nvSpPr>
          <p:spPr>
            <a:xfrm>
              <a:off x="912589" y="5503185"/>
              <a:ext cx="4791183" cy="369332"/>
            </a:xfrm>
            <a:prstGeom prst="rect">
              <a:avLst/>
            </a:prstGeom>
            <a:noFill/>
          </p:spPr>
          <p:txBody>
            <a:bodyPr wrap="none" rtlCol="0">
              <a:spAutoFit/>
            </a:bodyPr>
            <a:lstStyle/>
            <a:p>
              <a:pPr>
                <a:defRPr/>
              </a:pPr>
              <a:r>
                <a:rPr lang="en-US" dirty="0">
                  <a:cs typeface="Times New Roman" pitchFamily="18" charset="0"/>
                </a:rPr>
                <a:t>Fig: Transfer Learning Architecture Block Diagram</a:t>
              </a:r>
            </a:p>
          </p:txBody>
        </p:sp>
        <p:pic>
          <p:nvPicPr>
            <p:cNvPr id="20" name="Picture 19">
              <a:extLst>
                <a:ext uri="{FF2B5EF4-FFF2-40B4-BE49-F238E27FC236}">
                  <a16:creationId xmlns:a16="http://schemas.microsoft.com/office/drawing/2014/main" id="{73E08C96-D36D-62F0-0C88-C5F9C374AE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0364" y="2007427"/>
              <a:ext cx="5575635" cy="3505689"/>
            </a:xfrm>
            <a:prstGeom prst="rect">
              <a:avLst/>
            </a:prstGeom>
          </p:spPr>
        </p:pic>
        <p:sp>
          <p:nvSpPr>
            <p:cNvPr id="21" name="Rectangle 4">
              <a:extLst>
                <a:ext uri="{FF2B5EF4-FFF2-40B4-BE49-F238E27FC236}">
                  <a16:creationId xmlns:a16="http://schemas.microsoft.com/office/drawing/2014/main" id="{C22CA955-CFF5-2224-22B4-D723196A7019}"/>
                </a:ext>
              </a:extLst>
            </p:cNvPr>
            <p:cNvSpPr>
              <a:spLocks noChangeArrowheads="1"/>
            </p:cNvSpPr>
            <p:nvPr/>
          </p:nvSpPr>
          <p:spPr bwMode="auto">
            <a:xfrm>
              <a:off x="6150243" y="3928453"/>
              <a:ext cx="5431369"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rgbClr val="C00000"/>
                  </a:solidFill>
                  <a:effectLst/>
                  <a:latin typeface="Arial" panose="020B0604020202020204" pitchFamily="34" charset="0"/>
                </a:rPr>
                <a:t>Development tools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rgbClr val="7030A0"/>
                  </a:solidFill>
                  <a:effectLst/>
                  <a:latin typeface="Arial" panose="020B0604020202020204" pitchFamily="34" charset="0"/>
                </a:rPr>
                <a:t>Kaggle (Online platform with GPU support)</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rgbClr val="7030A0"/>
                  </a:solidFill>
                  <a:effectLst/>
                  <a:latin typeface="Arial" panose="020B0604020202020204" pitchFamily="34" charset="0"/>
                </a:rPr>
                <a:t>Google </a:t>
              </a:r>
              <a:r>
                <a:rPr kumimoji="0" lang="en-US" altLang="en-US" b="1" i="0" u="none" strike="noStrike" cap="none" normalizeH="0" baseline="0" dirty="0" err="1">
                  <a:ln>
                    <a:noFill/>
                  </a:ln>
                  <a:solidFill>
                    <a:srgbClr val="7030A0"/>
                  </a:solidFill>
                  <a:effectLst/>
                  <a:latin typeface="Arial" panose="020B0604020202020204" pitchFamily="34" charset="0"/>
                </a:rPr>
                <a:t>Colab</a:t>
              </a:r>
              <a:r>
                <a:rPr kumimoji="0" lang="en-US" altLang="en-US" b="1" i="0" u="none" strike="noStrike" cap="none" normalizeH="0" baseline="0" dirty="0">
                  <a:ln>
                    <a:noFill/>
                  </a:ln>
                  <a:solidFill>
                    <a:srgbClr val="7030A0"/>
                  </a:solidFill>
                  <a:effectLst/>
                  <a:latin typeface="Arial" panose="020B0604020202020204" pitchFamily="34" charset="0"/>
                </a:rPr>
                <a:t> (online platform with GPU support)</a:t>
              </a:r>
            </a:p>
          </p:txBody>
        </p:sp>
      </p:grpSp>
    </p:spTree>
    <p:extLst>
      <p:ext uri="{BB962C8B-B14F-4D97-AF65-F5344CB8AC3E}">
        <p14:creationId xmlns:p14="http://schemas.microsoft.com/office/powerpoint/2010/main" val="2963665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F14309D-E784-BB15-041C-BB8A47FC0669}"/>
              </a:ext>
            </a:extLst>
          </p:cNvPr>
          <p:cNvGrpSpPr>
            <a:grpSpLocks noGrp="1" noUngrp="1" noRot="1" noMove="1" noResize="1"/>
          </p:cNvGrpSpPr>
          <p:nvPr/>
        </p:nvGrpSpPr>
        <p:grpSpPr>
          <a:xfrm>
            <a:off x="0" y="0"/>
            <a:ext cx="12192000" cy="625651"/>
            <a:chOff x="0" y="0"/>
            <a:chExt cx="12192000" cy="625651"/>
          </a:xfrm>
        </p:grpSpPr>
        <p:sp>
          <p:nvSpPr>
            <p:cNvPr id="16" name="Flowchart: Process 15">
              <a:extLst>
                <a:ext uri="{FF2B5EF4-FFF2-40B4-BE49-F238E27FC236}">
                  <a16:creationId xmlns:a16="http://schemas.microsoft.com/office/drawing/2014/main" id="{64D1893A-FE95-B4FA-E3D5-33F349639D84}"/>
                </a:ext>
              </a:extLst>
            </p:cNvPr>
            <p:cNvSpPr>
              <a:spLocks noGrp="1" noRot="1" noMove="1" noResize="1" noEditPoints="1" noAdjustHandles="1" noChangeArrowheads="1" noChangeShapeType="1"/>
            </p:cNvSpPr>
            <p:nvPr/>
          </p:nvSpPr>
          <p:spPr>
            <a:xfrm>
              <a:off x="0" y="0"/>
              <a:ext cx="12192000" cy="441885"/>
            </a:xfrm>
            <a:prstGeom prst="flowChartProcess">
              <a:avLst/>
            </a:prstGeom>
            <a:solidFill>
              <a:srgbClr val="FAA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Process 17">
              <a:extLst>
                <a:ext uri="{FF2B5EF4-FFF2-40B4-BE49-F238E27FC236}">
                  <a16:creationId xmlns:a16="http://schemas.microsoft.com/office/drawing/2014/main" id="{31B6572D-CBD7-165B-E597-703C41B7DB3B}"/>
                </a:ext>
              </a:extLst>
            </p:cNvPr>
            <p:cNvSpPr>
              <a:spLocks noGrp="1" noRot="1" noMove="1" noResize="1" noEditPoints="1" noAdjustHandles="1" noChangeArrowheads="1" noChangeShapeType="1"/>
            </p:cNvSpPr>
            <p:nvPr/>
          </p:nvSpPr>
          <p:spPr>
            <a:xfrm>
              <a:off x="7199086" y="441885"/>
              <a:ext cx="4992913" cy="183766"/>
            </a:xfrm>
            <a:prstGeom prst="flowChartProcess">
              <a:avLst/>
            </a:prstGeom>
            <a:solidFill>
              <a:srgbClr val="4544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9"/>
          <p:cNvSpPr>
            <a:spLocks noGrp="1"/>
          </p:cNvSpPr>
          <p:nvPr>
            <p:ph type="title"/>
          </p:nvPr>
        </p:nvSpPr>
        <p:spPr/>
        <p:txBody>
          <a:bodyPr/>
          <a:lstStyle/>
          <a:p>
            <a:r>
              <a:rPr lang="en-US" b="1" dirty="0">
                <a:solidFill>
                  <a:srgbClr val="002060"/>
                </a:solidFill>
                <a:cs typeface="Times New Roman" pitchFamily="18" charset="0"/>
              </a:rPr>
              <a:t>Result and Discussion </a:t>
            </a:r>
            <a:endParaRPr lang="en-US" b="1" dirty="0">
              <a:solidFill>
                <a:srgbClr val="002060"/>
              </a:solidFill>
            </a:endParaRPr>
          </a:p>
        </p:txBody>
      </p:sp>
      <p:pic>
        <p:nvPicPr>
          <p:cNvPr id="3" name="Picture 2">
            <a:extLst>
              <a:ext uri="{FF2B5EF4-FFF2-40B4-BE49-F238E27FC236}">
                <a16:creationId xmlns:a16="http://schemas.microsoft.com/office/drawing/2014/main" id="{A3B236BD-4951-71CA-AFC7-67D090224820}"/>
              </a:ext>
            </a:extLst>
          </p:cNvPr>
          <p:cNvPicPr>
            <a:picLocks noChangeAspect="1"/>
          </p:cNvPicPr>
          <p:nvPr/>
        </p:nvPicPr>
        <p:blipFill>
          <a:blip r:embed="rId3"/>
          <a:stretch>
            <a:fillRect/>
          </a:stretch>
        </p:blipFill>
        <p:spPr>
          <a:xfrm>
            <a:off x="44604" y="6327933"/>
            <a:ext cx="12102790" cy="524107"/>
          </a:xfrm>
          <a:prstGeom prst="rect">
            <a:avLst/>
          </a:prstGeom>
        </p:spPr>
      </p:pic>
      <p:graphicFrame>
        <p:nvGraphicFramePr>
          <p:cNvPr id="4" name="Table 3">
            <a:extLst>
              <a:ext uri="{FF2B5EF4-FFF2-40B4-BE49-F238E27FC236}">
                <a16:creationId xmlns:a16="http://schemas.microsoft.com/office/drawing/2014/main" id="{83B40FCB-76D0-D787-6AD1-7B72C8B73858}"/>
              </a:ext>
            </a:extLst>
          </p:cNvPr>
          <p:cNvGraphicFramePr>
            <a:graphicFrameLocks noGrp="1" noDrilldown="1" noMove="1" noResize="1"/>
          </p:cNvGraphicFramePr>
          <p:nvPr/>
        </p:nvGraphicFramePr>
        <p:xfrm>
          <a:off x="44604" y="6330906"/>
          <a:ext cx="12102790" cy="579120"/>
        </p:xfrm>
        <a:graphic>
          <a:graphicData uri="http://schemas.openxmlformats.org/drawingml/2006/table">
            <a:tbl>
              <a:tblPr firstRow="1" bandRow="1">
                <a:tableStyleId>{3B4B98B0-60AC-42C2-AFA5-B58CD77FA1E5}</a:tableStyleId>
              </a:tblPr>
              <a:tblGrid>
                <a:gridCol w="12102790">
                  <a:extLst>
                    <a:ext uri="{9D8B030D-6E8A-4147-A177-3AD203B41FA5}">
                      <a16:colId xmlns:a16="http://schemas.microsoft.com/office/drawing/2014/main" val="3674735876"/>
                    </a:ext>
                  </a:extLst>
                </a:gridCol>
              </a:tblGrid>
              <a:tr h="524108">
                <a:tc>
                  <a:txBody>
                    <a:bodyPr/>
                    <a:lstStyle/>
                    <a:p>
                      <a:pPr algn="ctr"/>
                      <a:r>
                        <a:rPr lang="en-US" sz="1600" dirty="0">
                          <a:solidFill>
                            <a:schemeClr val="bg1"/>
                          </a:solidFill>
                          <a:latin typeface="Helvetica" pitchFamily="2" charset="0"/>
                        </a:rPr>
                        <a:t>CUET IT Business Incubator, Chattogram, Bangladesh</a:t>
                      </a:r>
                    </a:p>
                    <a:p>
                      <a:pPr algn="ctr"/>
                      <a:r>
                        <a:rPr lang="en-US" sz="1600" dirty="0">
                          <a:solidFill>
                            <a:schemeClr val="bg1"/>
                          </a:solidFill>
                          <a:latin typeface="Helvetica" pitchFamily="2" charset="0"/>
                        </a:rPr>
                        <a:t>25</a:t>
                      </a:r>
                      <a:r>
                        <a:rPr lang="en-US" sz="1600" baseline="30000" dirty="0">
                          <a:solidFill>
                            <a:schemeClr val="bg1"/>
                          </a:solidFill>
                          <a:latin typeface="Helvetica" pitchFamily="2" charset="0"/>
                        </a:rPr>
                        <a:t>th</a:t>
                      </a:r>
                      <a:r>
                        <a:rPr lang="en-US" sz="1600" dirty="0">
                          <a:solidFill>
                            <a:schemeClr val="bg1"/>
                          </a:solidFill>
                          <a:latin typeface="Helvetica" pitchFamily="2" charset="0"/>
                        </a:rPr>
                        <a:t> &amp; 26</a:t>
                      </a:r>
                      <a:r>
                        <a:rPr lang="en-US" sz="1600" baseline="30000" dirty="0">
                          <a:solidFill>
                            <a:schemeClr val="bg1"/>
                          </a:solidFill>
                          <a:latin typeface="Helvetica" pitchFamily="2" charset="0"/>
                        </a:rPr>
                        <a:t>th</a:t>
                      </a:r>
                      <a:r>
                        <a:rPr lang="en-US" sz="1600" dirty="0">
                          <a:solidFill>
                            <a:schemeClr val="bg1"/>
                          </a:solidFill>
                          <a:latin typeface="Helvetica" pitchFamily="2" charset="0"/>
                        </a:rPr>
                        <a:t> September 2024</a:t>
                      </a:r>
                    </a:p>
                  </a:txBody>
                  <a:tcPr>
                    <a:lnL>
                      <a:noFill/>
                    </a:lnL>
                    <a:lnR>
                      <a:noFill/>
                    </a:lnR>
                    <a:lnT w="12700" cmpd="sng">
                      <a:noFill/>
                    </a:lnT>
                    <a:lnB w="12700" cmpd="sng">
                      <a:noFill/>
                    </a:lnB>
                    <a:lnTlToBr w="12700" cmpd="sng">
                      <a:noFill/>
                      <a:prstDash val="solid"/>
                    </a:lnTlToBr>
                    <a:lnBlToTr w="12700" cmpd="sng">
                      <a:noFill/>
                      <a:prstDash val="solid"/>
                    </a:lnBlToTr>
                    <a:solidFill>
                      <a:srgbClr val="286AB3"/>
                    </a:solidFill>
                  </a:tcPr>
                </a:tc>
                <a:extLst>
                  <a:ext uri="{0D108BD9-81ED-4DB2-BD59-A6C34878D82A}">
                    <a16:rowId xmlns:a16="http://schemas.microsoft.com/office/drawing/2014/main" val="2193435611"/>
                  </a:ext>
                </a:extLst>
              </a:tr>
            </a:tbl>
          </a:graphicData>
        </a:graphic>
      </p:graphicFrame>
      <p:sp>
        <p:nvSpPr>
          <p:cNvPr id="8" name="Date Placeholder 6">
            <a:extLst>
              <a:ext uri="{FF2B5EF4-FFF2-40B4-BE49-F238E27FC236}">
                <a16:creationId xmlns:a16="http://schemas.microsoft.com/office/drawing/2014/main" id="{ABD5A150-5A0F-1EF3-3C33-1EB09668B927}"/>
              </a:ext>
            </a:extLst>
          </p:cNvPr>
          <p:cNvSpPr>
            <a:spLocks noGrp="1"/>
          </p:cNvSpPr>
          <p:nvPr>
            <p:ph type="dt" sz="half" idx="10"/>
          </p:nvPr>
        </p:nvSpPr>
        <p:spPr>
          <a:xfrm>
            <a:off x="44604" y="5915810"/>
            <a:ext cx="2876396" cy="412123"/>
          </a:xfrm>
          <a:ln>
            <a:noFill/>
          </a:ln>
        </p:spPr>
        <p:txBody>
          <a:bodyPr/>
          <a:lstStyle/>
          <a:p>
            <a:pPr algn="ctr"/>
            <a:r>
              <a:rPr lang="en-US" sz="20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September 2024</a:t>
            </a:r>
          </a:p>
        </p:txBody>
      </p:sp>
      <p:grpSp>
        <p:nvGrpSpPr>
          <p:cNvPr id="7" name="Group 12">
            <a:extLst>
              <a:ext uri="{FF2B5EF4-FFF2-40B4-BE49-F238E27FC236}">
                <a16:creationId xmlns:a16="http://schemas.microsoft.com/office/drawing/2014/main" id="{C30F4825-23C7-F32A-0FFF-42D94F8F2B69}"/>
              </a:ext>
            </a:extLst>
          </p:cNvPr>
          <p:cNvGrpSpPr/>
          <p:nvPr/>
        </p:nvGrpSpPr>
        <p:grpSpPr>
          <a:xfrm>
            <a:off x="11538857" y="5828369"/>
            <a:ext cx="338772" cy="362537"/>
            <a:chOff x="0" y="0"/>
            <a:chExt cx="812800" cy="869819"/>
          </a:xfrm>
        </p:grpSpPr>
        <p:sp>
          <p:nvSpPr>
            <p:cNvPr id="11" name="Freeform 13">
              <a:extLst>
                <a:ext uri="{FF2B5EF4-FFF2-40B4-BE49-F238E27FC236}">
                  <a16:creationId xmlns:a16="http://schemas.microsoft.com/office/drawing/2014/main" id="{DD95C75E-0071-237F-4A96-CD0E699D0EB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sz="1200"/>
            </a:p>
          </p:txBody>
        </p:sp>
        <p:sp>
          <p:nvSpPr>
            <p:cNvPr id="13" name="TextBox 14">
              <a:extLst>
                <a:ext uri="{FF2B5EF4-FFF2-40B4-BE49-F238E27FC236}">
                  <a16:creationId xmlns:a16="http://schemas.microsoft.com/office/drawing/2014/main" id="{07321A60-4628-15FE-188D-88864F7EEB5F}"/>
                </a:ext>
              </a:extLst>
            </p:cNvPr>
            <p:cNvSpPr txBox="1"/>
            <p:nvPr/>
          </p:nvSpPr>
          <p:spPr>
            <a:xfrm>
              <a:off x="76200" y="52970"/>
              <a:ext cx="660400" cy="735303"/>
            </a:xfrm>
            <a:prstGeom prst="rect">
              <a:avLst/>
            </a:prstGeom>
          </p:spPr>
          <p:txBody>
            <a:bodyPr lIns="33867" tIns="33867" rIns="33867" bIns="33867" rtlCol="0" anchor="ctr"/>
            <a:lstStyle/>
            <a:p>
              <a:pPr algn="ctr">
                <a:lnSpc>
                  <a:spcPts val="1587"/>
                </a:lnSpc>
                <a:spcBef>
                  <a:spcPct val="0"/>
                </a:spcBef>
              </a:pPr>
              <a:r>
                <a:rPr lang="en-US" sz="1133" dirty="0">
                  <a:solidFill>
                    <a:srgbClr val="191919"/>
                  </a:solidFill>
                  <a:latin typeface="Gotham"/>
                  <a:ea typeface="Gotham"/>
                  <a:cs typeface="Gotham"/>
                  <a:sym typeface="Gotham"/>
                </a:rPr>
                <a:t>7</a:t>
              </a:r>
            </a:p>
          </p:txBody>
        </p:sp>
      </p:grpSp>
      <p:pic>
        <p:nvPicPr>
          <p:cNvPr id="5" name="Picture 2">
            <a:extLst>
              <a:ext uri="{FF2B5EF4-FFF2-40B4-BE49-F238E27FC236}">
                <a16:creationId xmlns:a16="http://schemas.microsoft.com/office/drawing/2014/main" id="{75ED8FD8-84F9-FB4B-E7F8-A36D3FA4A673}"/>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a:stretch/>
        </p:blipFill>
        <p:spPr bwMode="auto">
          <a:xfrm>
            <a:off x="132734" y="443409"/>
            <a:ext cx="946917" cy="876158"/>
          </a:xfrm>
          <a:prstGeom prst="rect">
            <a:avLst/>
          </a:prstGeom>
          <a:noFill/>
          <a:ln w="9525">
            <a:noFill/>
            <a:miter lim="800000"/>
            <a:headEnd/>
            <a:tailEnd/>
          </a:ln>
          <a:effectLst/>
        </p:spPr>
      </p:pic>
      <p:pic>
        <p:nvPicPr>
          <p:cNvPr id="9" name="Picture 7">
            <a:extLst>
              <a:ext uri="{FF2B5EF4-FFF2-40B4-BE49-F238E27FC236}">
                <a16:creationId xmlns:a16="http://schemas.microsoft.com/office/drawing/2014/main" id="{2CD56D14-8BD3-96D5-D116-13ED5D585588}"/>
              </a:ext>
            </a:extLst>
          </p:cNvPr>
          <p:cNvPicPr>
            <a:picLocks noGrp="1" noRo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a:stretch/>
        </p:blipFill>
        <p:spPr bwMode="auto">
          <a:xfrm>
            <a:off x="10500850" y="654314"/>
            <a:ext cx="1493901" cy="665253"/>
          </a:xfrm>
          <a:prstGeom prst="rect">
            <a:avLst/>
          </a:prstGeom>
          <a:noFill/>
          <a:ln w="9525">
            <a:noFill/>
            <a:miter lim="800000"/>
            <a:headEnd/>
            <a:tailEnd/>
          </a:ln>
          <a:effectLst/>
        </p:spPr>
      </p:pic>
      <p:graphicFrame>
        <p:nvGraphicFramePr>
          <p:cNvPr id="6" name="Table 5">
            <a:extLst>
              <a:ext uri="{FF2B5EF4-FFF2-40B4-BE49-F238E27FC236}">
                <a16:creationId xmlns:a16="http://schemas.microsoft.com/office/drawing/2014/main" id="{F6CE1712-0E44-9633-AD88-C4C4208287DC}"/>
              </a:ext>
            </a:extLst>
          </p:cNvPr>
          <p:cNvGraphicFramePr>
            <a:graphicFrameLocks noGrp="1"/>
          </p:cNvGraphicFramePr>
          <p:nvPr>
            <p:extLst>
              <p:ext uri="{D42A27DB-BD31-4B8C-83A1-F6EECF244321}">
                <p14:modId xmlns:p14="http://schemas.microsoft.com/office/powerpoint/2010/main" val="2331941005"/>
              </p:ext>
            </p:extLst>
          </p:nvPr>
        </p:nvGraphicFramePr>
        <p:xfrm>
          <a:off x="716438" y="1995619"/>
          <a:ext cx="5571237" cy="1152933"/>
        </p:xfrm>
        <a:graphic>
          <a:graphicData uri="http://schemas.openxmlformats.org/drawingml/2006/table">
            <a:tbl>
              <a:tblPr firstRow="1" bandRow="1">
                <a:tableStyleId>{3B4B98B0-60AC-42C2-AFA5-B58CD77FA1E5}</a:tableStyleId>
              </a:tblPr>
              <a:tblGrid>
                <a:gridCol w="795891">
                  <a:extLst>
                    <a:ext uri="{9D8B030D-6E8A-4147-A177-3AD203B41FA5}">
                      <a16:colId xmlns:a16="http://schemas.microsoft.com/office/drawing/2014/main" val="2501167894"/>
                    </a:ext>
                  </a:extLst>
                </a:gridCol>
                <a:gridCol w="795891">
                  <a:extLst>
                    <a:ext uri="{9D8B030D-6E8A-4147-A177-3AD203B41FA5}">
                      <a16:colId xmlns:a16="http://schemas.microsoft.com/office/drawing/2014/main" val="3641290852"/>
                    </a:ext>
                  </a:extLst>
                </a:gridCol>
                <a:gridCol w="795891">
                  <a:extLst>
                    <a:ext uri="{9D8B030D-6E8A-4147-A177-3AD203B41FA5}">
                      <a16:colId xmlns:a16="http://schemas.microsoft.com/office/drawing/2014/main" val="2834986169"/>
                    </a:ext>
                  </a:extLst>
                </a:gridCol>
                <a:gridCol w="795891">
                  <a:extLst>
                    <a:ext uri="{9D8B030D-6E8A-4147-A177-3AD203B41FA5}">
                      <a16:colId xmlns:a16="http://schemas.microsoft.com/office/drawing/2014/main" val="1214910215"/>
                    </a:ext>
                  </a:extLst>
                </a:gridCol>
                <a:gridCol w="795891">
                  <a:extLst>
                    <a:ext uri="{9D8B030D-6E8A-4147-A177-3AD203B41FA5}">
                      <a16:colId xmlns:a16="http://schemas.microsoft.com/office/drawing/2014/main" val="4176843271"/>
                    </a:ext>
                  </a:extLst>
                </a:gridCol>
                <a:gridCol w="795891">
                  <a:extLst>
                    <a:ext uri="{9D8B030D-6E8A-4147-A177-3AD203B41FA5}">
                      <a16:colId xmlns:a16="http://schemas.microsoft.com/office/drawing/2014/main" val="2898451907"/>
                    </a:ext>
                  </a:extLst>
                </a:gridCol>
                <a:gridCol w="795891">
                  <a:extLst>
                    <a:ext uri="{9D8B030D-6E8A-4147-A177-3AD203B41FA5}">
                      <a16:colId xmlns:a16="http://schemas.microsoft.com/office/drawing/2014/main" val="3296314997"/>
                    </a:ext>
                  </a:extLst>
                </a:gridCol>
              </a:tblGrid>
              <a:tr h="448249">
                <a:tc>
                  <a:txBody>
                    <a:bodyPr/>
                    <a:lstStyle/>
                    <a:p>
                      <a:pPr algn="ctr"/>
                      <a:r>
                        <a:rPr lang="en-US" sz="1200" dirty="0">
                          <a:solidFill>
                            <a:schemeClr val="bg1"/>
                          </a:solidFill>
                        </a:rPr>
                        <a:t>Model</a:t>
                      </a:r>
                    </a:p>
                  </a:txBody>
                  <a:tcPr marL="62359" marR="62359" marT="31179" marB="31179">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1200" dirty="0">
                          <a:solidFill>
                            <a:schemeClr val="bg1"/>
                          </a:solidFill>
                        </a:rPr>
                        <a:t>Train Loss</a:t>
                      </a:r>
                    </a:p>
                  </a:txBody>
                  <a:tcPr marL="62359" marR="62359" marT="31179" marB="3117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1200" dirty="0">
                          <a:solidFill>
                            <a:schemeClr val="bg1"/>
                          </a:solidFill>
                        </a:rPr>
                        <a:t>Validation Loss</a:t>
                      </a:r>
                    </a:p>
                  </a:txBody>
                  <a:tcPr marL="62359" marR="62359" marT="31179" marB="3117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1200" dirty="0">
                          <a:solidFill>
                            <a:schemeClr val="bg1"/>
                          </a:solidFill>
                        </a:rPr>
                        <a:t>Test Loss</a:t>
                      </a:r>
                    </a:p>
                  </a:txBody>
                  <a:tcPr marL="62359" marR="62359" marT="31179" marB="3117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1200" dirty="0">
                          <a:solidFill>
                            <a:schemeClr val="bg1"/>
                          </a:solidFill>
                        </a:rPr>
                        <a:t>Train Accuracy</a:t>
                      </a:r>
                    </a:p>
                  </a:txBody>
                  <a:tcPr marL="62359" marR="62359" marT="31179" marB="3117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1200" dirty="0">
                          <a:solidFill>
                            <a:schemeClr val="bg1"/>
                          </a:solidFill>
                        </a:rPr>
                        <a:t>Validation Accuracy</a:t>
                      </a:r>
                    </a:p>
                  </a:txBody>
                  <a:tcPr marL="62359" marR="62359" marT="31179" marB="3117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1200" dirty="0">
                          <a:solidFill>
                            <a:schemeClr val="bg1"/>
                          </a:solidFill>
                        </a:rPr>
                        <a:t>Test Accuracy</a:t>
                      </a:r>
                    </a:p>
                  </a:txBody>
                  <a:tcPr marL="62359" marR="62359" marT="31179" marB="31179">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3642199126"/>
                  </a:ext>
                </a:extLst>
              </a:tr>
              <a:tr h="256435">
                <a:tc>
                  <a:txBody>
                    <a:bodyPr/>
                    <a:lstStyle/>
                    <a:p>
                      <a:r>
                        <a:rPr lang="en-US" sz="1200" dirty="0" err="1">
                          <a:solidFill>
                            <a:schemeClr val="bg1"/>
                          </a:solidFill>
                        </a:rPr>
                        <a:t>Xception</a:t>
                      </a:r>
                      <a:endParaRPr lang="en-US" sz="1200" dirty="0">
                        <a:solidFill>
                          <a:schemeClr val="bg1"/>
                        </a:solidFill>
                      </a:endParaRPr>
                    </a:p>
                  </a:txBody>
                  <a:tcPr marL="62359" marR="62359" marT="31179" marB="31179">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3"/>
                    </a:solidFill>
                  </a:tcPr>
                </a:tc>
                <a:tc>
                  <a:txBody>
                    <a:bodyPr/>
                    <a:lstStyle/>
                    <a:p>
                      <a:pPr algn="ctr"/>
                      <a:r>
                        <a:rPr lang="en-US" sz="1200" dirty="0"/>
                        <a:t>0.15</a:t>
                      </a:r>
                    </a:p>
                  </a:txBody>
                  <a:tcPr marL="62359" marR="62359" marT="31179" marB="31179">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sz="1200" dirty="0"/>
                        <a:t>0.31</a:t>
                      </a:r>
                    </a:p>
                  </a:txBody>
                  <a:tcPr marL="62359" marR="62359" marT="31179" marB="31179">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sz="1200" dirty="0"/>
                        <a:t>0.40</a:t>
                      </a:r>
                    </a:p>
                  </a:txBody>
                  <a:tcPr marL="62359" marR="62359" marT="31179" marB="31179">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sz="1200" dirty="0"/>
                        <a:t>99.97%</a:t>
                      </a:r>
                    </a:p>
                  </a:txBody>
                  <a:tcPr marL="62359" marR="62359" marT="31179" marB="31179">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sz="1200" dirty="0"/>
                        <a:t>95%</a:t>
                      </a:r>
                    </a:p>
                  </a:txBody>
                  <a:tcPr marL="62359" marR="62359" marT="31179" marB="31179">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sz="1200" dirty="0"/>
                        <a:t>92%</a:t>
                      </a:r>
                    </a:p>
                  </a:txBody>
                  <a:tcPr marL="62359" marR="62359" marT="31179" marB="31179">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68956264"/>
                  </a:ext>
                </a:extLst>
              </a:tr>
              <a:tr h="448249">
                <a:tc>
                  <a:txBody>
                    <a:bodyPr/>
                    <a:lstStyle/>
                    <a:p>
                      <a:r>
                        <a:rPr lang="en-US" sz="1200" dirty="0">
                          <a:solidFill>
                            <a:schemeClr val="bg1"/>
                          </a:solidFill>
                        </a:rPr>
                        <a:t>EfficientNet-B3</a:t>
                      </a:r>
                    </a:p>
                  </a:txBody>
                  <a:tcPr marL="62359" marR="62359" marT="31179" marB="31179">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1200" dirty="0"/>
                        <a:t>0.14</a:t>
                      </a:r>
                    </a:p>
                  </a:txBody>
                  <a:tcPr marL="62359" marR="62359" marT="31179" marB="31179" anchor="ctr">
                    <a:lnB w="12700" cap="flat" cmpd="sng" algn="ctr">
                      <a:solidFill>
                        <a:schemeClr val="tx1"/>
                      </a:solidFill>
                      <a:prstDash val="solid"/>
                      <a:round/>
                      <a:headEnd type="none" w="med" len="med"/>
                      <a:tailEnd type="none" w="med" len="med"/>
                    </a:lnB>
                  </a:tcPr>
                </a:tc>
                <a:tc>
                  <a:txBody>
                    <a:bodyPr/>
                    <a:lstStyle/>
                    <a:p>
                      <a:pPr algn="ctr"/>
                      <a:r>
                        <a:rPr lang="en-US" sz="1200" dirty="0"/>
                        <a:t>0.33</a:t>
                      </a:r>
                    </a:p>
                  </a:txBody>
                  <a:tcPr marL="62359" marR="62359" marT="31179" marB="31179" anchor="ctr">
                    <a:lnB w="12700" cap="flat" cmpd="sng" algn="ctr">
                      <a:solidFill>
                        <a:schemeClr val="tx1"/>
                      </a:solidFill>
                      <a:prstDash val="solid"/>
                      <a:round/>
                      <a:headEnd type="none" w="med" len="med"/>
                      <a:tailEnd type="none" w="med" len="med"/>
                    </a:lnB>
                  </a:tcPr>
                </a:tc>
                <a:tc>
                  <a:txBody>
                    <a:bodyPr/>
                    <a:lstStyle/>
                    <a:p>
                      <a:pPr algn="ctr"/>
                      <a:r>
                        <a:rPr lang="en-US" sz="1200" dirty="0"/>
                        <a:t>0.33</a:t>
                      </a:r>
                    </a:p>
                  </a:txBody>
                  <a:tcPr marL="62359" marR="62359" marT="31179" marB="31179" anchor="ctr">
                    <a:lnB w="12700" cap="flat" cmpd="sng" algn="ctr">
                      <a:solidFill>
                        <a:schemeClr val="tx1"/>
                      </a:solidFill>
                      <a:prstDash val="solid"/>
                      <a:round/>
                      <a:headEnd type="none" w="med" len="med"/>
                      <a:tailEnd type="none" w="med" len="med"/>
                    </a:lnB>
                  </a:tcPr>
                </a:tc>
                <a:tc>
                  <a:txBody>
                    <a:bodyPr/>
                    <a:lstStyle/>
                    <a:p>
                      <a:pPr algn="ctr"/>
                      <a:r>
                        <a:rPr lang="en-US" sz="1200" dirty="0"/>
                        <a:t>100%</a:t>
                      </a:r>
                    </a:p>
                  </a:txBody>
                  <a:tcPr marL="62359" marR="62359" marT="31179" marB="31179" anchor="ctr">
                    <a:lnB w="12700" cap="flat" cmpd="sng" algn="ctr">
                      <a:solidFill>
                        <a:schemeClr val="tx1"/>
                      </a:solidFill>
                      <a:prstDash val="solid"/>
                      <a:round/>
                      <a:headEnd type="none" w="med" len="med"/>
                      <a:tailEnd type="none" w="med" len="med"/>
                    </a:lnB>
                  </a:tcPr>
                </a:tc>
                <a:tc>
                  <a:txBody>
                    <a:bodyPr/>
                    <a:lstStyle/>
                    <a:p>
                      <a:pPr algn="ctr"/>
                      <a:r>
                        <a:rPr lang="en-US" sz="1200" dirty="0"/>
                        <a:t>94%</a:t>
                      </a:r>
                    </a:p>
                  </a:txBody>
                  <a:tcPr marL="62359" marR="62359" marT="31179" marB="31179" anchor="ctr">
                    <a:lnB w="12700" cap="flat" cmpd="sng" algn="ctr">
                      <a:solidFill>
                        <a:schemeClr val="tx1"/>
                      </a:solidFill>
                      <a:prstDash val="solid"/>
                      <a:round/>
                      <a:headEnd type="none" w="med" len="med"/>
                      <a:tailEnd type="none" w="med" len="med"/>
                    </a:lnB>
                  </a:tcPr>
                </a:tc>
                <a:tc>
                  <a:txBody>
                    <a:bodyPr/>
                    <a:lstStyle/>
                    <a:p>
                      <a:pPr algn="ctr"/>
                      <a:r>
                        <a:rPr lang="en-US" sz="1200" dirty="0"/>
                        <a:t>94%</a:t>
                      </a:r>
                    </a:p>
                  </a:txBody>
                  <a:tcPr marL="62359" marR="62359" marT="31179" marB="31179"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8637423"/>
                  </a:ext>
                </a:extLst>
              </a:tr>
            </a:tbl>
          </a:graphicData>
        </a:graphic>
      </p:graphicFrame>
      <p:graphicFrame>
        <p:nvGraphicFramePr>
          <p:cNvPr id="2" name="Table 1">
            <a:extLst>
              <a:ext uri="{FF2B5EF4-FFF2-40B4-BE49-F238E27FC236}">
                <a16:creationId xmlns:a16="http://schemas.microsoft.com/office/drawing/2014/main" id="{43578A3B-6ADB-7DC1-DA45-F936B42FF092}"/>
              </a:ext>
            </a:extLst>
          </p:cNvPr>
          <p:cNvGraphicFramePr>
            <a:graphicFrameLocks noGrp="1"/>
          </p:cNvGraphicFramePr>
          <p:nvPr>
            <p:extLst>
              <p:ext uri="{D42A27DB-BD31-4B8C-83A1-F6EECF244321}">
                <p14:modId xmlns:p14="http://schemas.microsoft.com/office/powerpoint/2010/main" val="2047889254"/>
              </p:ext>
            </p:extLst>
          </p:nvPr>
        </p:nvGraphicFramePr>
        <p:xfrm>
          <a:off x="707013" y="3289271"/>
          <a:ext cx="5571240" cy="2642422"/>
        </p:xfrm>
        <a:graphic>
          <a:graphicData uri="http://schemas.openxmlformats.org/drawingml/2006/table">
            <a:tbl>
              <a:tblPr firstRow="1" bandRow="1">
                <a:tableStyleId>{3B4B98B0-60AC-42C2-AFA5-B58CD77FA1E5}</a:tableStyleId>
              </a:tblPr>
              <a:tblGrid>
                <a:gridCol w="1178349">
                  <a:extLst>
                    <a:ext uri="{9D8B030D-6E8A-4147-A177-3AD203B41FA5}">
                      <a16:colId xmlns:a16="http://schemas.microsoft.com/office/drawing/2014/main" val="450484987"/>
                    </a:ext>
                  </a:extLst>
                </a:gridCol>
                <a:gridCol w="1652120">
                  <a:extLst>
                    <a:ext uri="{9D8B030D-6E8A-4147-A177-3AD203B41FA5}">
                      <a16:colId xmlns:a16="http://schemas.microsoft.com/office/drawing/2014/main" val="1241431183"/>
                    </a:ext>
                  </a:extLst>
                </a:gridCol>
                <a:gridCol w="887013">
                  <a:extLst>
                    <a:ext uri="{9D8B030D-6E8A-4147-A177-3AD203B41FA5}">
                      <a16:colId xmlns:a16="http://schemas.microsoft.com/office/drawing/2014/main" val="729228645"/>
                    </a:ext>
                  </a:extLst>
                </a:gridCol>
                <a:gridCol w="939358">
                  <a:extLst>
                    <a:ext uri="{9D8B030D-6E8A-4147-A177-3AD203B41FA5}">
                      <a16:colId xmlns:a16="http://schemas.microsoft.com/office/drawing/2014/main" val="4131003787"/>
                    </a:ext>
                  </a:extLst>
                </a:gridCol>
                <a:gridCol w="914400">
                  <a:extLst>
                    <a:ext uri="{9D8B030D-6E8A-4147-A177-3AD203B41FA5}">
                      <a16:colId xmlns:a16="http://schemas.microsoft.com/office/drawing/2014/main" val="1270961805"/>
                    </a:ext>
                  </a:extLst>
                </a:gridCol>
              </a:tblGrid>
              <a:tr h="286153">
                <a:tc>
                  <a:txBody>
                    <a:bodyPr/>
                    <a:lstStyle/>
                    <a:p>
                      <a:pPr algn="ctr"/>
                      <a:r>
                        <a:rPr lang="en-US" sz="1300" dirty="0">
                          <a:solidFill>
                            <a:schemeClr val="bg1"/>
                          </a:solidFill>
                        </a:rPr>
                        <a:t>Models</a:t>
                      </a:r>
                    </a:p>
                  </a:txBody>
                  <a:tcPr marL="59284" marR="59284" marT="29642" marB="29642">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sz="1300" dirty="0">
                          <a:solidFill>
                            <a:schemeClr val="bg1"/>
                          </a:solidFill>
                        </a:rPr>
                        <a:t>Classes</a:t>
                      </a:r>
                    </a:p>
                  </a:txBody>
                  <a:tcPr marL="59284" marR="59284" marT="29642" marB="29642">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sz="1300" dirty="0">
                          <a:solidFill>
                            <a:schemeClr val="bg1"/>
                          </a:solidFill>
                        </a:rPr>
                        <a:t>Precision</a:t>
                      </a:r>
                    </a:p>
                  </a:txBody>
                  <a:tcPr marL="59284" marR="59284" marT="29642" marB="29642">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sz="1300" dirty="0">
                          <a:solidFill>
                            <a:schemeClr val="bg1"/>
                          </a:solidFill>
                        </a:rPr>
                        <a:t>Recall</a:t>
                      </a:r>
                    </a:p>
                  </a:txBody>
                  <a:tcPr marL="59284" marR="59284" marT="29642" marB="29642">
                    <a:lnT w="12700" cap="flat" cmpd="sng" algn="ctr">
                      <a:solidFill>
                        <a:schemeClr val="tx1"/>
                      </a:solidFill>
                      <a:prstDash val="solid"/>
                      <a:round/>
                      <a:headEnd type="none" w="med" len="med"/>
                      <a:tailEnd type="none" w="med" len="med"/>
                    </a:lnT>
                    <a:solidFill>
                      <a:srgbClr val="00B0F0"/>
                    </a:solidFill>
                  </a:tcPr>
                </a:tc>
                <a:tc>
                  <a:txBody>
                    <a:bodyPr/>
                    <a:lstStyle/>
                    <a:p>
                      <a:pPr algn="ctr"/>
                      <a:r>
                        <a:rPr lang="en-US" sz="1300" dirty="0">
                          <a:solidFill>
                            <a:schemeClr val="bg1"/>
                          </a:solidFill>
                        </a:rPr>
                        <a:t>F1-score</a:t>
                      </a:r>
                    </a:p>
                  </a:txBody>
                  <a:tcPr marL="59284" marR="59284" marT="29642" marB="29642">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00B0F0"/>
                    </a:solidFill>
                  </a:tcPr>
                </a:tc>
                <a:extLst>
                  <a:ext uri="{0D108BD9-81ED-4DB2-BD59-A6C34878D82A}">
                    <a16:rowId xmlns:a16="http://schemas.microsoft.com/office/drawing/2014/main" val="107191846"/>
                  </a:ext>
                </a:extLst>
              </a:tr>
              <a:tr h="286153">
                <a:tc rowSpan="4">
                  <a:txBody>
                    <a:bodyPr/>
                    <a:lstStyle/>
                    <a:p>
                      <a:pPr algn="ctr"/>
                      <a:r>
                        <a:rPr lang="en-US" sz="1300" dirty="0" err="1"/>
                        <a:t>Xception</a:t>
                      </a:r>
                      <a:endParaRPr lang="en-US" sz="1300" dirty="0"/>
                    </a:p>
                  </a:txBody>
                  <a:tcPr marL="67938" marR="67938" marT="33970" marB="33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300" dirty="0"/>
                        <a:t>Cataract</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300" dirty="0"/>
                        <a:t>0.93</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300" dirty="0"/>
                        <a:t>0.96</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300" dirty="0"/>
                        <a:t>0.95</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5455239"/>
                  </a:ext>
                </a:extLst>
              </a:tr>
              <a:tr h="319050">
                <a:tc vMerge="1">
                  <a:txBody>
                    <a:bodyPr/>
                    <a:lstStyle/>
                    <a:p>
                      <a:endParaRPr lang="en-US" sz="1400" dirty="0"/>
                    </a:p>
                  </a:txBody>
                  <a:tcPr marL="70207" marR="70207" marT="35104" marB="35104">
                    <a:lnL w="12700" cap="flat" cmpd="sng" algn="ctr">
                      <a:solidFill>
                        <a:schemeClr val="tx1"/>
                      </a:solidFill>
                      <a:prstDash val="solid"/>
                      <a:round/>
                      <a:headEnd type="none" w="med" len="med"/>
                      <a:tailEnd type="none" w="med" len="med"/>
                    </a:lnL>
                  </a:tcPr>
                </a:tc>
                <a:tc>
                  <a:txBody>
                    <a:bodyPr/>
                    <a:lstStyle/>
                    <a:p>
                      <a:pPr algn="ctr"/>
                      <a:r>
                        <a:rPr lang="en-US" sz="1300" dirty="0"/>
                        <a:t>Diabetic Retinopathy</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0.98</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1.00</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0.99</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2109947"/>
                  </a:ext>
                </a:extLst>
              </a:tr>
              <a:tr h="286153">
                <a:tc vMerge="1">
                  <a:txBody>
                    <a:bodyPr/>
                    <a:lstStyle/>
                    <a:p>
                      <a:endParaRPr lang="en-US" sz="1400" dirty="0"/>
                    </a:p>
                  </a:txBody>
                  <a:tcPr marL="70207" marR="70207" marT="35104" marB="35104">
                    <a:lnL w="12700" cap="flat" cmpd="sng" algn="ctr">
                      <a:solidFill>
                        <a:schemeClr val="tx1"/>
                      </a:solidFill>
                      <a:prstDash val="solid"/>
                      <a:round/>
                      <a:headEnd type="none" w="med" len="med"/>
                      <a:tailEnd type="none" w="med" len="med"/>
                    </a:lnL>
                  </a:tcPr>
                </a:tc>
                <a:tc>
                  <a:txBody>
                    <a:bodyPr/>
                    <a:lstStyle/>
                    <a:p>
                      <a:pPr algn="ctr"/>
                      <a:r>
                        <a:rPr lang="en-US" sz="1300" dirty="0"/>
                        <a:t>Glaucoma</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0.90</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0.82</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0.86</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2331187"/>
                  </a:ext>
                </a:extLst>
              </a:tr>
              <a:tr h="286153">
                <a:tc vMerge="1">
                  <a:txBody>
                    <a:bodyPr/>
                    <a:lstStyle/>
                    <a:p>
                      <a:endParaRPr lang="en-US" sz="1400" dirty="0"/>
                    </a:p>
                  </a:txBody>
                  <a:tcPr marL="70207" marR="70207" marT="35104" marB="35104">
                    <a:lnL w="12700" cap="flat" cmpd="sng" algn="ctr">
                      <a:solidFill>
                        <a:schemeClr val="tx1"/>
                      </a:solidFill>
                      <a:prstDash val="solid"/>
                      <a:round/>
                      <a:headEnd type="none" w="med" len="med"/>
                      <a:tailEnd type="none" w="med" len="med"/>
                    </a:lnL>
                  </a:tcPr>
                </a:tc>
                <a:tc>
                  <a:txBody>
                    <a:bodyPr/>
                    <a:lstStyle/>
                    <a:p>
                      <a:pPr algn="ctr"/>
                      <a:r>
                        <a:rPr lang="en-US" sz="1300" dirty="0"/>
                        <a:t>Normal</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0.86</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0.90</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0.88</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9968601"/>
                  </a:ext>
                </a:extLst>
              </a:tr>
              <a:tr h="286153">
                <a:tc rowSpan="4">
                  <a:txBody>
                    <a:bodyPr/>
                    <a:lstStyle/>
                    <a:p>
                      <a:pPr algn="ctr"/>
                      <a:r>
                        <a:rPr lang="en-US" sz="1300" dirty="0"/>
                        <a:t>EfficientNet-B3</a:t>
                      </a:r>
                    </a:p>
                  </a:txBody>
                  <a:tcPr marL="67938" marR="67938" marT="33970" marB="339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Cataract</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0.96</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0.97</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0.97</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4419027"/>
                  </a:ext>
                </a:extLst>
              </a:tr>
              <a:tr h="320301">
                <a:tc vMerge="1">
                  <a:txBody>
                    <a:bodyPr/>
                    <a:lstStyle/>
                    <a:p>
                      <a:endParaRPr lang="en-US" sz="1400" dirty="0"/>
                    </a:p>
                  </a:txBody>
                  <a:tcPr marL="70207" marR="70207" marT="35104" marB="35104">
                    <a:lnL w="12700" cap="flat" cmpd="sng" algn="ctr">
                      <a:solidFill>
                        <a:schemeClr val="tx1"/>
                      </a:solidFill>
                      <a:prstDash val="solid"/>
                      <a:round/>
                      <a:headEnd type="none" w="med" len="med"/>
                      <a:tailEnd type="none" w="med" len="med"/>
                    </a:lnL>
                  </a:tcPr>
                </a:tc>
                <a:tc>
                  <a:txBody>
                    <a:bodyPr/>
                    <a:lstStyle/>
                    <a:p>
                      <a:pPr algn="ctr"/>
                      <a:r>
                        <a:rPr lang="en-US" sz="1300" dirty="0"/>
                        <a:t>Diabetic Retinopathy</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1.00</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1.00</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1.00</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4656150"/>
                  </a:ext>
                </a:extLst>
              </a:tr>
              <a:tr h="286153">
                <a:tc vMerge="1">
                  <a:txBody>
                    <a:bodyPr/>
                    <a:lstStyle/>
                    <a:p>
                      <a:endParaRPr lang="en-US" sz="1400" dirty="0"/>
                    </a:p>
                  </a:txBody>
                  <a:tcPr marL="70207" marR="70207" marT="35104" marB="35104">
                    <a:lnL w="12700" cap="flat" cmpd="sng" algn="ctr">
                      <a:solidFill>
                        <a:schemeClr val="tx1"/>
                      </a:solidFill>
                      <a:prstDash val="solid"/>
                      <a:round/>
                      <a:headEnd type="none" w="med" len="med"/>
                      <a:tailEnd type="none" w="med" len="med"/>
                    </a:lnL>
                  </a:tcPr>
                </a:tc>
                <a:tc>
                  <a:txBody>
                    <a:bodyPr/>
                    <a:lstStyle/>
                    <a:p>
                      <a:pPr algn="ctr"/>
                      <a:r>
                        <a:rPr lang="en-US" sz="1300" dirty="0"/>
                        <a:t>Glaucoma</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0.91</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0.89</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0.90</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0725101"/>
                  </a:ext>
                </a:extLst>
              </a:tr>
              <a:tr h="286153">
                <a:tc vMerge="1">
                  <a:txBody>
                    <a:bodyPr/>
                    <a:lstStyle/>
                    <a:p>
                      <a:endParaRPr lang="en-US" sz="1400" dirty="0"/>
                    </a:p>
                  </a:txBody>
                  <a:tcPr marL="70207" marR="70207" marT="35104" marB="35104">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300" dirty="0"/>
                        <a:t>Normal</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0.90</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0.91</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0.90</a:t>
                      </a:r>
                    </a:p>
                  </a:txBody>
                  <a:tcPr marL="59284" marR="59284" marT="29642" marB="2964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0583303"/>
                  </a:ext>
                </a:extLst>
              </a:tr>
            </a:tbl>
          </a:graphicData>
        </a:graphic>
      </p:graphicFrame>
      <p:sp>
        <p:nvSpPr>
          <p:cNvPr id="12" name="Rectangle 4">
            <a:extLst>
              <a:ext uri="{FF2B5EF4-FFF2-40B4-BE49-F238E27FC236}">
                <a16:creationId xmlns:a16="http://schemas.microsoft.com/office/drawing/2014/main" id="{B0EF0E01-F487-6FCF-9FF5-C8015DB53CFF}"/>
              </a:ext>
            </a:extLst>
          </p:cNvPr>
          <p:cNvSpPr>
            <a:spLocks noChangeArrowheads="1"/>
          </p:cNvSpPr>
          <p:nvPr/>
        </p:nvSpPr>
        <p:spPr bwMode="auto">
          <a:xfrm>
            <a:off x="6817979" y="1888208"/>
            <a:ext cx="4714145"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lang="en-US" altLang="en-US" b="1" dirty="0">
                <a:solidFill>
                  <a:srgbClr val="7030A0"/>
                </a:solidFill>
                <a:latin typeface="Arial" panose="020B0604020202020204" pitchFamily="34" charset="0"/>
              </a:rPr>
              <a:t>Equations for Result Evaluation</a:t>
            </a:r>
          </a:p>
        </p:txBody>
      </p:sp>
      <p:pic>
        <p:nvPicPr>
          <p:cNvPr id="17" name="Picture 16">
            <a:extLst>
              <a:ext uri="{FF2B5EF4-FFF2-40B4-BE49-F238E27FC236}">
                <a16:creationId xmlns:a16="http://schemas.microsoft.com/office/drawing/2014/main" id="{AE92A902-450E-9EE6-4DD9-DB927DAB0F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43820" y="2387129"/>
            <a:ext cx="3180567" cy="557180"/>
          </a:xfrm>
          <a:prstGeom prst="rect">
            <a:avLst/>
          </a:prstGeom>
        </p:spPr>
      </p:pic>
      <p:pic>
        <p:nvPicPr>
          <p:cNvPr id="20" name="Picture 19">
            <a:extLst>
              <a:ext uri="{FF2B5EF4-FFF2-40B4-BE49-F238E27FC236}">
                <a16:creationId xmlns:a16="http://schemas.microsoft.com/office/drawing/2014/main" id="{9441FF05-C09D-6B66-7D1A-80836C81E14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00177" y="4794168"/>
            <a:ext cx="2510891" cy="1163571"/>
          </a:xfrm>
          <a:prstGeom prst="rect">
            <a:avLst/>
          </a:prstGeom>
        </p:spPr>
      </p:pic>
      <p:pic>
        <p:nvPicPr>
          <p:cNvPr id="22" name="Picture 21">
            <a:extLst>
              <a:ext uri="{FF2B5EF4-FFF2-40B4-BE49-F238E27FC236}">
                <a16:creationId xmlns:a16="http://schemas.microsoft.com/office/drawing/2014/main" id="{D99CFC85-7040-EB18-0864-DFFDFC3AB3A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43820" y="4237848"/>
            <a:ext cx="2785898" cy="464316"/>
          </a:xfrm>
          <a:prstGeom prst="rect">
            <a:avLst/>
          </a:prstGeom>
        </p:spPr>
      </p:pic>
      <p:pic>
        <p:nvPicPr>
          <p:cNvPr id="24" name="Picture 23">
            <a:extLst>
              <a:ext uri="{FF2B5EF4-FFF2-40B4-BE49-F238E27FC236}">
                <a16:creationId xmlns:a16="http://schemas.microsoft.com/office/drawing/2014/main" id="{2685BDBF-4C73-99BB-19D8-14263364C32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943820" y="3766585"/>
            <a:ext cx="1857266" cy="371454"/>
          </a:xfrm>
          <a:prstGeom prst="rect">
            <a:avLst/>
          </a:prstGeom>
        </p:spPr>
      </p:pic>
      <p:pic>
        <p:nvPicPr>
          <p:cNvPr id="26" name="Picture 25">
            <a:extLst>
              <a:ext uri="{FF2B5EF4-FFF2-40B4-BE49-F238E27FC236}">
                <a16:creationId xmlns:a16="http://schemas.microsoft.com/office/drawing/2014/main" id="{63EE4F59-BF2E-B620-B4B2-8E1CCEB91FB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943820" y="3110867"/>
            <a:ext cx="2042992" cy="475925"/>
          </a:xfrm>
          <a:prstGeom prst="rect">
            <a:avLst/>
          </a:prstGeom>
        </p:spPr>
      </p:pic>
    </p:spTree>
    <p:extLst>
      <p:ext uri="{BB962C8B-B14F-4D97-AF65-F5344CB8AC3E}">
        <p14:creationId xmlns:p14="http://schemas.microsoft.com/office/powerpoint/2010/main" val="129735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F14309D-E784-BB15-041C-BB8A47FC0669}"/>
              </a:ext>
            </a:extLst>
          </p:cNvPr>
          <p:cNvGrpSpPr>
            <a:grpSpLocks noGrp="1" noUngrp="1" noRot="1" noMove="1" noResize="1"/>
          </p:cNvGrpSpPr>
          <p:nvPr/>
        </p:nvGrpSpPr>
        <p:grpSpPr>
          <a:xfrm>
            <a:off x="0" y="0"/>
            <a:ext cx="12192000" cy="625651"/>
            <a:chOff x="0" y="0"/>
            <a:chExt cx="12192000" cy="625651"/>
          </a:xfrm>
        </p:grpSpPr>
        <p:sp>
          <p:nvSpPr>
            <p:cNvPr id="16" name="Flowchart: Process 15">
              <a:extLst>
                <a:ext uri="{FF2B5EF4-FFF2-40B4-BE49-F238E27FC236}">
                  <a16:creationId xmlns:a16="http://schemas.microsoft.com/office/drawing/2014/main" id="{64D1893A-FE95-B4FA-E3D5-33F349639D84}"/>
                </a:ext>
              </a:extLst>
            </p:cNvPr>
            <p:cNvSpPr>
              <a:spLocks noGrp="1" noRot="1" noMove="1" noResize="1" noEditPoints="1" noAdjustHandles="1" noChangeArrowheads="1" noChangeShapeType="1"/>
            </p:cNvSpPr>
            <p:nvPr/>
          </p:nvSpPr>
          <p:spPr>
            <a:xfrm>
              <a:off x="0" y="0"/>
              <a:ext cx="12192000" cy="441885"/>
            </a:xfrm>
            <a:prstGeom prst="flowChartProcess">
              <a:avLst/>
            </a:prstGeom>
            <a:solidFill>
              <a:srgbClr val="FAA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Process 17">
              <a:extLst>
                <a:ext uri="{FF2B5EF4-FFF2-40B4-BE49-F238E27FC236}">
                  <a16:creationId xmlns:a16="http://schemas.microsoft.com/office/drawing/2014/main" id="{31B6572D-CBD7-165B-E597-703C41B7DB3B}"/>
                </a:ext>
              </a:extLst>
            </p:cNvPr>
            <p:cNvSpPr>
              <a:spLocks noGrp="1" noRot="1" noMove="1" noResize="1" noEditPoints="1" noAdjustHandles="1" noChangeArrowheads="1" noChangeShapeType="1"/>
            </p:cNvSpPr>
            <p:nvPr/>
          </p:nvSpPr>
          <p:spPr>
            <a:xfrm>
              <a:off x="7199086" y="441885"/>
              <a:ext cx="4992913" cy="183766"/>
            </a:xfrm>
            <a:prstGeom prst="flowChartProcess">
              <a:avLst/>
            </a:prstGeom>
            <a:solidFill>
              <a:srgbClr val="4544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9"/>
          <p:cNvSpPr>
            <a:spLocks noGrp="1"/>
          </p:cNvSpPr>
          <p:nvPr>
            <p:ph type="title"/>
          </p:nvPr>
        </p:nvSpPr>
        <p:spPr/>
        <p:txBody>
          <a:bodyPr/>
          <a:lstStyle/>
          <a:p>
            <a:r>
              <a:rPr lang="en-US" b="1" dirty="0">
                <a:solidFill>
                  <a:srgbClr val="002060"/>
                </a:solidFill>
                <a:cs typeface="Times New Roman" pitchFamily="18" charset="0"/>
              </a:rPr>
              <a:t>Result and Discussion </a:t>
            </a:r>
            <a:endParaRPr lang="en-US" b="1" dirty="0">
              <a:solidFill>
                <a:srgbClr val="002060"/>
              </a:solidFill>
            </a:endParaRPr>
          </a:p>
        </p:txBody>
      </p:sp>
      <p:pic>
        <p:nvPicPr>
          <p:cNvPr id="3" name="Picture 2">
            <a:extLst>
              <a:ext uri="{FF2B5EF4-FFF2-40B4-BE49-F238E27FC236}">
                <a16:creationId xmlns:a16="http://schemas.microsoft.com/office/drawing/2014/main" id="{A3B236BD-4951-71CA-AFC7-67D090224820}"/>
              </a:ext>
            </a:extLst>
          </p:cNvPr>
          <p:cNvPicPr>
            <a:picLocks noChangeAspect="1"/>
          </p:cNvPicPr>
          <p:nvPr/>
        </p:nvPicPr>
        <p:blipFill>
          <a:blip r:embed="rId3"/>
          <a:stretch>
            <a:fillRect/>
          </a:stretch>
        </p:blipFill>
        <p:spPr>
          <a:xfrm>
            <a:off x="44604" y="6327933"/>
            <a:ext cx="12102790" cy="524107"/>
          </a:xfrm>
          <a:prstGeom prst="rect">
            <a:avLst/>
          </a:prstGeom>
        </p:spPr>
      </p:pic>
      <p:sp>
        <p:nvSpPr>
          <p:cNvPr id="17" name="Rectangle 4">
            <a:extLst>
              <a:ext uri="{FF2B5EF4-FFF2-40B4-BE49-F238E27FC236}">
                <a16:creationId xmlns:a16="http://schemas.microsoft.com/office/drawing/2014/main" id="{0C581EFC-810A-46C9-8CDD-13D56D27AD9E}"/>
              </a:ext>
            </a:extLst>
          </p:cNvPr>
          <p:cNvSpPr>
            <a:spLocks noChangeArrowheads="1"/>
          </p:cNvSpPr>
          <p:nvPr/>
        </p:nvSpPr>
        <p:spPr bwMode="auto">
          <a:xfrm>
            <a:off x="606193" y="4243789"/>
            <a:ext cx="10083804"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1" i="0" u="none" strike="noStrike" cap="none" normalizeH="0" baseline="0" dirty="0">
                <a:ln>
                  <a:noFill/>
                </a:ln>
                <a:solidFill>
                  <a:srgbClr val="C00000"/>
                </a:solidFill>
                <a:effectLst/>
                <a:latin typeface="Arial" panose="020B0604020202020204" pitchFamily="34" charset="0"/>
              </a:rPr>
              <a:t>Important Notes:</a:t>
            </a:r>
          </a:p>
          <a:p>
            <a:pPr marR="0" lvl="0" algn="l"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rgbClr val="7030A0"/>
                </a:solidFill>
                <a:effectLst/>
                <a:latin typeface="Arial" panose="020B0604020202020204" pitchFamily="34" charset="0"/>
              </a:rPr>
              <a:t>(Over 94% validation, 99.97% train, and 94% test accuracy)            EfficientNetB3, </a:t>
            </a:r>
            <a:r>
              <a:rPr kumimoji="0" lang="en-US" altLang="en-US" b="1" i="0" u="none" strike="noStrike" cap="none" normalizeH="0" baseline="0" dirty="0" err="1">
                <a:ln>
                  <a:noFill/>
                </a:ln>
                <a:solidFill>
                  <a:srgbClr val="7030A0"/>
                </a:solidFill>
                <a:effectLst/>
                <a:latin typeface="Arial" panose="020B0604020202020204" pitchFamily="34" charset="0"/>
              </a:rPr>
              <a:t>Xception</a:t>
            </a:r>
            <a:endParaRPr kumimoji="0" lang="en-US" altLang="en-US" b="1" i="0" u="none" strike="noStrike" cap="none" normalizeH="0" baseline="0" dirty="0">
              <a:ln>
                <a:noFill/>
              </a:ln>
              <a:solidFill>
                <a:srgbClr val="7030A0"/>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83B40FCB-76D0-D787-6AD1-7B72C8B73858}"/>
              </a:ext>
            </a:extLst>
          </p:cNvPr>
          <p:cNvGraphicFramePr>
            <a:graphicFrameLocks noGrp="1" noDrilldown="1" noMove="1" noResize="1"/>
          </p:cNvGraphicFramePr>
          <p:nvPr/>
        </p:nvGraphicFramePr>
        <p:xfrm>
          <a:off x="44604" y="6330906"/>
          <a:ext cx="12102790" cy="579120"/>
        </p:xfrm>
        <a:graphic>
          <a:graphicData uri="http://schemas.openxmlformats.org/drawingml/2006/table">
            <a:tbl>
              <a:tblPr firstRow="1" bandRow="1">
                <a:tableStyleId>{3B4B98B0-60AC-42C2-AFA5-B58CD77FA1E5}</a:tableStyleId>
              </a:tblPr>
              <a:tblGrid>
                <a:gridCol w="12102790">
                  <a:extLst>
                    <a:ext uri="{9D8B030D-6E8A-4147-A177-3AD203B41FA5}">
                      <a16:colId xmlns:a16="http://schemas.microsoft.com/office/drawing/2014/main" val="3674735876"/>
                    </a:ext>
                  </a:extLst>
                </a:gridCol>
              </a:tblGrid>
              <a:tr h="524108">
                <a:tc>
                  <a:txBody>
                    <a:bodyPr/>
                    <a:lstStyle/>
                    <a:p>
                      <a:pPr algn="ctr"/>
                      <a:r>
                        <a:rPr lang="en-US" sz="1600" dirty="0">
                          <a:solidFill>
                            <a:schemeClr val="bg1"/>
                          </a:solidFill>
                          <a:latin typeface="Helvetica" pitchFamily="2" charset="0"/>
                        </a:rPr>
                        <a:t>CUET IT Business Incubator, Chattogram, Bangladesh</a:t>
                      </a:r>
                    </a:p>
                    <a:p>
                      <a:pPr algn="ctr"/>
                      <a:r>
                        <a:rPr lang="en-US" sz="1600" dirty="0">
                          <a:solidFill>
                            <a:schemeClr val="bg1"/>
                          </a:solidFill>
                          <a:latin typeface="Helvetica" pitchFamily="2" charset="0"/>
                        </a:rPr>
                        <a:t>25</a:t>
                      </a:r>
                      <a:r>
                        <a:rPr lang="en-US" sz="1600" baseline="30000" dirty="0">
                          <a:solidFill>
                            <a:schemeClr val="bg1"/>
                          </a:solidFill>
                          <a:latin typeface="Helvetica" pitchFamily="2" charset="0"/>
                        </a:rPr>
                        <a:t>th</a:t>
                      </a:r>
                      <a:r>
                        <a:rPr lang="en-US" sz="1600" dirty="0">
                          <a:solidFill>
                            <a:schemeClr val="bg1"/>
                          </a:solidFill>
                          <a:latin typeface="Helvetica" pitchFamily="2" charset="0"/>
                        </a:rPr>
                        <a:t> &amp; 26</a:t>
                      </a:r>
                      <a:r>
                        <a:rPr lang="en-US" sz="1600" baseline="30000" dirty="0">
                          <a:solidFill>
                            <a:schemeClr val="bg1"/>
                          </a:solidFill>
                          <a:latin typeface="Helvetica" pitchFamily="2" charset="0"/>
                        </a:rPr>
                        <a:t>th</a:t>
                      </a:r>
                      <a:r>
                        <a:rPr lang="en-US" sz="1600" dirty="0">
                          <a:solidFill>
                            <a:schemeClr val="bg1"/>
                          </a:solidFill>
                          <a:latin typeface="Helvetica" pitchFamily="2" charset="0"/>
                        </a:rPr>
                        <a:t> September 2024</a:t>
                      </a:r>
                    </a:p>
                  </a:txBody>
                  <a:tcPr>
                    <a:lnL>
                      <a:noFill/>
                    </a:lnL>
                    <a:lnR>
                      <a:noFill/>
                    </a:lnR>
                    <a:lnT w="12700" cmpd="sng">
                      <a:noFill/>
                    </a:lnT>
                    <a:lnB w="12700" cmpd="sng">
                      <a:noFill/>
                    </a:lnB>
                    <a:lnTlToBr w="12700" cmpd="sng">
                      <a:noFill/>
                      <a:prstDash val="solid"/>
                    </a:lnTlToBr>
                    <a:lnBlToTr w="12700" cmpd="sng">
                      <a:noFill/>
                      <a:prstDash val="solid"/>
                    </a:lnBlToTr>
                    <a:solidFill>
                      <a:srgbClr val="286AB3"/>
                    </a:solidFill>
                  </a:tcPr>
                </a:tc>
                <a:extLst>
                  <a:ext uri="{0D108BD9-81ED-4DB2-BD59-A6C34878D82A}">
                    <a16:rowId xmlns:a16="http://schemas.microsoft.com/office/drawing/2014/main" val="2193435611"/>
                  </a:ext>
                </a:extLst>
              </a:tr>
            </a:tbl>
          </a:graphicData>
        </a:graphic>
      </p:graphicFrame>
      <p:sp>
        <p:nvSpPr>
          <p:cNvPr id="8" name="Date Placeholder 6">
            <a:extLst>
              <a:ext uri="{FF2B5EF4-FFF2-40B4-BE49-F238E27FC236}">
                <a16:creationId xmlns:a16="http://schemas.microsoft.com/office/drawing/2014/main" id="{ABD5A150-5A0F-1EF3-3C33-1EB09668B927}"/>
              </a:ext>
            </a:extLst>
          </p:cNvPr>
          <p:cNvSpPr>
            <a:spLocks noGrp="1"/>
          </p:cNvSpPr>
          <p:nvPr>
            <p:ph type="dt" sz="half" idx="10"/>
          </p:nvPr>
        </p:nvSpPr>
        <p:spPr>
          <a:xfrm>
            <a:off x="44604" y="5915810"/>
            <a:ext cx="2876396" cy="412123"/>
          </a:xfrm>
          <a:ln>
            <a:noFill/>
          </a:ln>
        </p:spPr>
        <p:txBody>
          <a:bodyPr/>
          <a:lstStyle/>
          <a:p>
            <a:pPr algn="ctr"/>
            <a:r>
              <a:rPr lang="en-US" sz="20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September 2024</a:t>
            </a:r>
          </a:p>
        </p:txBody>
      </p:sp>
      <p:grpSp>
        <p:nvGrpSpPr>
          <p:cNvPr id="7" name="Group 12">
            <a:extLst>
              <a:ext uri="{FF2B5EF4-FFF2-40B4-BE49-F238E27FC236}">
                <a16:creationId xmlns:a16="http://schemas.microsoft.com/office/drawing/2014/main" id="{C30F4825-23C7-F32A-0FFF-42D94F8F2B69}"/>
              </a:ext>
            </a:extLst>
          </p:cNvPr>
          <p:cNvGrpSpPr/>
          <p:nvPr/>
        </p:nvGrpSpPr>
        <p:grpSpPr>
          <a:xfrm>
            <a:off x="11538857" y="5828369"/>
            <a:ext cx="338772" cy="362537"/>
            <a:chOff x="0" y="0"/>
            <a:chExt cx="812800" cy="869819"/>
          </a:xfrm>
        </p:grpSpPr>
        <p:sp>
          <p:nvSpPr>
            <p:cNvPr id="11" name="Freeform 13">
              <a:extLst>
                <a:ext uri="{FF2B5EF4-FFF2-40B4-BE49-F238E27FC236}">
                  <a16:creationId xmlns:a16="http://schemas.microsoft.com/office/drawing/2014/main" id="{DD95C75E-0071-237F-4A96-CD0E699D0EB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sz="1200"/>
            </a:p>
          </p:txBody>
        </p:sp>
        <p:sp>
          <p:nvSpPr>
            <p:cNvPr id="13" name="TextBox 14">
              <a:extLst>
                <a:ext uri="{FF2B5EF4-FFF2-40B4-BE49-F238E27FC236}">
                  <a16:creationId xmlns:a16="http://schemas.microsoft.com/office/drawing/2014/main" id="{07321A60-4628-15FE-188D-88864F7EEB5F}"/>
                </a:ext>
              </a:extLst>
            </p:cNvPr>
            <p:cNvSpPr txBox="1"/>
            <p:nvPr/>
          </p:nvSpPr>
          <p:spPr>
            <a:xfrm>
              <a:off x="76200" y="52970"/>
              <a:ext cx="660400" cy="735303"/>
            </a:xfrm>
            <a:prstGeom prst="rect">
              <a:avLst/>
            </a:prstGeom>
          </p:spPr>
          <p:txBody>
            <a:bodyPr lIns="33867" tIns="33867" rIns="33867" bIns="33867" rtlCol="0" anchor="ctr"/>
            <a:lstStyle/>
            <a:p>
              <a:pPr algn="ctr">
                <a:lnSpc>
                  <a:spcPts val="1587"/>
                </a:lnSpc>
                <a:spcBef>
                  <a:spcPct val="0"/>
                </a:spcBef>
              </a:pPr>
              <a:r>
                <a:rPr lang="en-US" sz="1133" dirty="0">
                  <a:solidFill>
                    <a:srgbClr val="191919"/>
                  </a:solidFill>
                  <a:latin typeface="Gotham"/>
                  <a:ea typeface="Gotham"/>
                  <a:cs typeface="Gotham"/>
                  <a:sym typeface="Gotham"/>
                </a:rPr>
                <a:t>8</a:t>
              </a:r>
            </a:p>
          </p:txBody>
        </p:sp>
      </p:grpSp>
      <p:pic>
        <p:nvPicPr>
          <p:cNvPr id="5" name="Picture 2">
            <a:extLst>
              <a:ext uri="{FF2B5EF4-FFF2-40B4-BE49-F238E27FC236}">
                <a16:creationId xmlns:a16="http://schemas.microsoft.com/office/drawing/2014/main" id="{75ED8FD8-84F9-FB4B-E7F8-A36D3FA4A673}"/>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a:stretch/>
        </p:blipFill>
        <p:spPr bwMode="auto">
          <a:xfrm>
            <a:off x="132734" y="443409"/>
            <a:ext cx="946917" cy="876158"/>
          </a:xfrm>
          <a:prstGeom prst="rect">
            <a:avLst/>
          </a:prstGeom>
          <a:noFill/>
          <a:ln w="9525">
            <a:noFill/>
            <a:miter lim="800000"/>
            <a:headEnd/>
            <a:tailEnd/>
          </a:ln>
          <a:effectLst/>
        </p:spPr>
      </p:pic>
      <p:pic>
        <p:nvPicPr>
          <p:cNvPr id="9" name="Picture 7">
            <a:extLst>
              <a:ext uri="{FF2B5EF4-FFF2-40B4-BE49-F238E27FC236}">
                <a16:creationId xmlns:a16="http://schemas.microsoft.com/office/drawing/2014/main" id="{2CD56D14-8BD3-96D5-D116-13ED5D585588}"/>
              </a:ext>
            </a:extLst>
          </p:cNvPr>
          <p:cNvPicPr>
            <a:picLocks noGrp="1" noRo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a:stretch/>
        </p:blipFill>
        <p:spPr bwMode="auto">
          <a:xfrm>
            <a:off x="10500850" y="654314"/>
            <a:ext cx="1493901" cy="665253"/>
          </a:xfrm>
          <a:prstGeom prst="rect">
            <a:avLst/>
          </a:prstGeom>
          <a:noFill/>
          <a:ln w="9525">
            <a:noFill/>
            <a:miter lim="800000"/>
            <a:headEnd/>
            <a:tailEnd/>
          </a:ln>
          <a:effectLst/>
        </p:spPr>
      </p:pic>
      <p:sp>
        <p:nvSpPr>
          <p:cNvPr id="2" name="Arrow: Right 1">
            <a:extLst>
              <a:ext uri="{FF2B5EF4-FFF2-40B4-BE49-F238E27FC236}">
                <a16:creationId xmlns:a16="http://schemas.microsoft.com/office/drawing/2014/main" id="{EBB642A7-2652-522E-8835-E83C0CDA476E}"/>
              </a:ext>
            </a:extLst>
          </p:cNvPr>
          <p:cNvSpPr/>
          <p:nvPr/>
        </p:nvSpPr>
        <p:spPr>
          <a:xfrm>
            <a:off x="7117237" y="4889974"/>
            <a:ext cx="650449" cy="102280"/>
          </a:xfrm>
          <a:prstGeom prst="rightArrow">
            <a:avLst/>
          </a:prstGeom>
          <a:solidFill>
            <a:schemeClr val="tx1"/>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922ED17-49C2-63E6-A527-C53660DF4725}"/>
              </a:ext>
            </a:extLst>
          </p:cNvPr>
          <p:cNvGrpSpPr/>
          <p:nvPr/>
        </p:nvGrpSpPr>
        <p:grpSpPr>
          <a:xfrm>
            <a:off x="747597" y="1952362"/>
            <a:ext cx="10811591" cy="2412250"/>
            <a:chOff x="747597" y="1858092"/>
            <a:chExt cx="10545717" cy="2352929"/>
          </a:xfrm>
        </p:grpSpPr>
        <p:pic>
          <p:nvPicPr>
            <p:cNvPr id="12" name="Picture 11">
              <a:extLst>
                <a:ext uri="{FF2B5EF4-FFF2-40B4-BE49-F238E27FC236}">
                  <a16:creationId xmlns:a16="http://schemas.microsoft.com/office/drawing/2014/main" id="{F6127CF0-54CE-BAD6-5FFF-F162853994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49462" y="1858092"/>
              <a:ext cx="5143852" cy="2045523"/>
            </a:xfrm>
            <a:prstGeom prst="rect">
              <a:avLst/>
            </a:prstGeom>
          </p:spPr>
        </p:pic>
        <p:pic>
          <p:nvPicPr>
            <p:cNvPr id="19" name="Picture 18">
              <a:extLst>
                <a:ext uri="{FF2B5EF4-FFF2-40B4-BE49-F238E27FC236}">
                  <a16:creationId xmlns:a16="http://schemas.microsoft.com/office/drawing/2014/main" id="{9D2640B4-E204-06C2-008B-51ED3C1C1A9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7597" y="1980279"/>
              <a:ext cx="4645862" cy="1787866"/>
            </a:xfrm>
            <a:prstGeom prst="rect">
              <a:avLst/>
            </a:prstGeom>
          </p:spPr>
        </p:pic>
        <p:sp>
          <p:nvSpPr>
            <p:cNvPr id="20" name="TextBox 19">
              <a:extLst>
                <a:ext uri="{FF2B5EF4-FFF2-40B4-BE49-F238E27FC236}">
                  <a16:creationId xmlns:a16="http://schemas.microsoft.com/office/drawing/2014/main" id="{A5FFC6C7-3277-4ABA-FDC3-A4227E5175C0}"/>
                </a:ext>
              </a:extLst>
            </p:cNvPr>
            <p:cNvSpPr txBox="1"/>
            <p:nvPr/>
          </p:nvSpPr>
          <p:spPr>
            <a:xfrm>
              <a:off x="1301809" y="3821943"/>
              <a:ext cx="3917737" cy="341943"/>
            </a:xfrm>
            <a:prstGeom prst="rect">
              <a:avLst/>
            </a:prstGeom>
            <a:noFill/>
          </p:spPr>
          <p:txBody>
            <a:bodyPr wrap="square" rtlCol="0">
              <a:spAutoFit/>
            </a:bodyPr>
            <a:lstStyle/>
            <a:p>
              <a:r>
                <a:rPr lang="en-US" dirty="0"/>
                <a:t>Fig: </a:t>
              </a:r>
              <a:r>
                <a:rPr lang="en-US" dirty="0" err="1"/>
                <a:t>Xception</a:t>
              </a:r>
              <a:r>
                <a:rPr lang="en-US" dirty="0"/>
                <a:t> (0.188 validation loss)</a:t>
              </a:r>
            </a:p>
          </p:txBody>
        </p:sp>
        <p:sp>
          <p:nvSpPr>
            <p:cNvPr id="21" name="TextBox 20">
              <a:extLst>
                <a:ext uri="{FF2B5EF4-FFF2-40B4-BE49-F238E27FC236}">
                  <a16:creationId xmlns:a16="http://schemas.microsoft.com/office/drawing/2014/main" id="{055186E3-2705-DAAD-3A34-325402F5136D}"/>
                </a:ext>
              </a:extLst>
            </p:cNvPr>
            <p:cNvSpPr txBox="1"/>
            <p:nvPr/>
          </p:nvSpPr>
          <p:spPr>
            <a:xfrm>
              <a:off x="6897017" y="3869078"/>
              <a:ext cx="4260585" cy="341943"/>
            </a:xfrm>
            <a:prstGeom prst="rect">
              <a:avLst/>
            </a:prstGeom>
            <a:noFill/>
          </p:spPr>
          <p:txBody>
            <a:bodyPr wrap="square" rtlCol="0">
              <a:spAutoFit/>
            </a:bodyPr>
            <a:lstStyle/>
            <a:p>
              <a:r>
                <a:rPr lang="en-US" dirty="0"/>
                <a:t>Fig: EfficientNet-B3 (0.302 validation loss)</a:t>
              </a:r>
            </a:p>
          </p:txBody>
        </p:sp>
      </p:grpSp>
      <p:sp>
        <p:nvSpPr>
          <p:cNvPr id="14" name="Rectangle 4">
            <a:extLst>
              <a:ext uri="{FF2B5EF4-FFF2-40B4-BE49-F238E27FC236}">
                <a16:creationId xmlns:a16="http://schemas.microsoft.com/office/drawing/2014/main" id="{47BFAE1B-94E9-1D4E-82D6-C26B3096B17A}"/>
              </a:ext>
            </a:extLst>
          </p:cNvPr>
          <p:cNvSpPr>
            <a:spLocks noChangeArrowheads="1"/>
          </p:cNvSpPr>
          <p:nvPr/>
        </p:nvSpPr>
        <p:spPr bwMode="auto">
          <a:xfrm>
            <a:off x="559080" y="5092029"/>
            <a:ext cx="11705191"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150000"/>
              </a:lnSpc>
              <a:spcBef>
                <a:spcPct val="0"/>
              </a:spcBef>
              <a:spcAft>
                <a:spcPct val="0"/>
              </a:spcAft>
              <a:buFont typeface="Wingdings" panose="05000000000000000000" pitchFamily="2" charset="2"/>
              <a:buChar char="q"/>
            </a:pPr>
            <a:r>
              <a:rPr kumimoji="0" lang="en-US" altLang="en-US" b="1" i="0" u="none" strike="noStrike" cap="none" normalizeH="0" baseline="0" dirty="0">
                <a:ln>
                  <a:noFill/>
                </a:ln>
                <a:solidFill>
                  <a:srgbClr val="7030A0"/>
                </a:solidFill>
                <a:effectLst/>
                <a:latin typeface="Arial" panose="020B0604020202020204" pitchFamily="34" charset="0"/>
              </a:rPr>
              <a:t>EfficientNet-B3 &amp; test phase more than 94% accuracy, True : False= 564 : 36 (Confusion matrices)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1" i="0" u="none" strike="noStrike" cap="none" normalizeH="0" baseline="0" dirty="0" err="1">
                <a:ln>
                  <a:noFill/>
                </a:ln>
                <a:solidFill>
                  <a:srgbClr val="7030A0"/>
                </a:solidFill>
                <a:effectLst/>
                <a:latin typeface="Arial" panose="020B0604020202020204" pitchFamily="34" charset="0"/>
              </a:rPr>
              <a:t>Xception</a:t>
            </a:r>
            <a:r>
              <a:rPr kumimoji="0" lang="en-US" altLang="en-US" b="1" i="0" u="none" strike="noStrike" cap="none" normalizeH="0" baseline="0" dirty="0">
                <a:ln>
                  <a:noFill/>
                </a:ln>
                <a:solidFill>
                  <a:srgbClr val="7030A0"/>
                </a:solidFill>
                <a:effectLst/>
                <a:latin typeface="Arial" panose="020B0604020202020204" pitchFamily="34" charset="0"/>
              </a:rPr>
              <a:t> &amp; test phase more than 92% accuracy, True : False= 552 : 48 (Confusion matrices)</a:t>
            </a:r>
          </a:p>
        </p:txBody>
      </p:sp>
    </p:spTree>
    <p:extLst>
      <p:ext uri="{BB962C8B-B14F-4D97-AF65-F5344CB8AC3E}">
        <p14:creationId xmlns:p14="http://schemas.microsoft.com/office/powerpoint/2010/main" val="4246817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94C681F9-AC68-46BE-5DF2-E7B38E70CBB2}"/>
              </a:ext>
            </a:extLst>
          </p:cNvPr>
          <p:cNvGrpSpPr>
            <a:grpSpLocks noGrp="1" noUngrp="1" noRot="1" noMove="1" noResize="1"/>
          </p:cNvGrpSpPr>
          <p:nvPr/>
        </p:nvGrpSpPr>
        <p:grpSpPr>
          <a:xfrm>
            <a:off x="0" y="0"/>
            <a:ext cx="12192000" cy="625651"/>
            <a:chOff x="0" y="0"/>
            <a:chExt cx="12192000" cy="625651"/>
          </a:xfrm>
        </p:grpSpPr>
        <p:sp>
          <p:nvSpPr>
            <p:cNvPr id="17" name="Flowchart: Process 16">
              <a:extLst>
                <a:ext uri="{FF2B5EF4-FFF2-40B4-BE49-F238E27FC236}">
                  <a16:creationId xmlns:a16="http://schemas.microsoft.com/office/drawing/2014/main" id="{2AE6C908-5757-C9C6-3B4A-F53406F6E141}"/>
                </a:ext>
              </a:extLst>
            </p:cNvPr>
            <p:cNvSpPr>
              <a:spLocks noGrp="1" noRot="1" noMove="1" noResize="1" noEditPoints="1" noAdjustHandles="1" noChangeArrowheads="1" noChangeShapeType="1"/>
            </p:cNvSpPr>
            <p:nvPr/>
          </p:nvSpPr>
          <p:spPr>
            <a:xfrm>
              <a:off x="0" y="0"/>
              <a:ext cx="12192000" cy="441885"/>
            </a:xfrm>
            <a:prstGeom prst="flowChartProcess">
              <a:avLst/>
            </a:prstGeom>
            <a:solidFill>
              <a:srgbClr val="FAA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Process 17">
              <a:extLst>
                <a:ext uri="{FF2B5EF4-FFF2-40B4-BE49-F238E27FC236}">
                  <a16:creationId xmlns:a16="http://schemas.microsoft.com/office/drawing/2014/main" id="{E5689F24-5E8F-F026-5BB4-1B1C3F554594}"/>
                </a:ext>
              </a:extLst>
            </p:cNvPr>
            <p:cNvSpPr>
              <a:spLocks noGrp="1" noRot="1" noMove="1" noResize="1" noEditPoints="1" noAdjustHandles="1" noChangeArrowheads="1" noChangeShapeType="1"/>
            </p:cNvSpPr>
            <p:nvPr/>
          </p:nvSpPr>
          <p:spPr>
            <a:xfrm>
              <a:off x="7199086" y="441885"/>
              <a:ext cx="4992913" cy="183766"/>
            </a:xfrm>
            <a:prstGeom prst="flowChartProcess">
              <a:avLst/>
            </a:prstGeom>
            <a:solidFill>
              <a:srgbClr val="4544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9"/>
          <p:cNvSpPr>
            <a:spLocks noGrp="1"/>
          </p:cNvSpPr>
          <p:nvPr>
            <p:ph type="title"/>
          </p:nvPr>
        </p:nvSpPr>
        <p:spPr/>
        <p:txBody>
          <a:bodyPr/>
          <a:lstStyle/>
          <a:p>
            <a:r>
              <a:rPr lang="en-US" b="1" dirty="0">
                <a:solidFill>
                  <a:srgbClr val="002060"/>
                </a:solidFill>
                <a:cs typeface="Times New Roman" pitchFamily="18" charset="0"/>
              </a:rPr>
              <a:t>Conclusion</a:t>
            </a:r>
            <a:endParaRPr lang="en-US" b="1" dirty="0">
              <a:solidFill>
                <a:srgbClr val="002060"/>
              </a:solidFill>
            </a:endParaRPr>
          </a:p>
        </p:txBody>
      </p:sp>
      <p:pic>
        <p:nvPicPr>
          <p:cNvPr id="3" name="Picture 2">
            <a:extLst>
              <a:ext uri="{FF2B5EF4-FFF2-40B4-BE49-F238E27FC236}">
                <a16:creationId xmlns:a16="http://schemas.microsoft.com/office/drawing/2014/main" id="{A3B236BD-4951-71CA-AFC7-67D090224820}"/>
              </a:ext>
            </a:extLst>
          </p:cNvPr>
          <p:cNvPicPr>
            <a:picLocks noChangeAspect="1"/>
          </p:cNvPicPr>
          <p:nvPr/>
        </p:nvPicPr>
        <p:blipFill>
          <a:blip r:embed="rId3"/>
          <a:stretch>
            <a:fillRect/>
          </a:stretch>
        </p:blipFill>
        <p:spPr>
          <a:xfrm>
            <a:off x="44604" y="6327933"/>
            <a:ext cx="12102790" cy="524107"/>
          </a:xfrm>
          <a:prstGeom prst="rect">
            <a:avLst/>
          </a:prstGeom>
        </p:spPr>
      </p:pic>
      <p:sp>
        <p:nvSpPr>
          <p:cNvPr id="15" name="Rectangle 4">
            <a:extLst>
              <a:ext uri="{FF2B5EF4-FFF2-40B4-BE49-F238E27FC236}">
                <a16:creationId xmlns:a16="http://schemas.microsoft.com/office/drawing/2014/main" id="{89A26383-FA35-4180-9C17-DB6B623E0978}"/>
              </a:ext>
            </a:extLst>
          </p:cNvPr>
          <p:cNvSpPr>
            <a:spLocks noChangeArrowheads="1"/>
          </p:cNvSpPr>
          <p:nvPr/>
        </p:nvSpPr>
        <p:spPr bwMode="auto">
          <a:xfrm>
            <a:off x="807266" y="1519678"/>
            <a:ext cx="10775134"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50000"/>
              </a:lnSpc>
              <a:spcBef>
                <a:spcPct val="0"/>
              </a:spcBef>
              <a:spcAft>
                <a:spcPct val="0"/>
              </a:spcAft>
              <a:buClrTx/>
              <a:buSzTx/>
              <a:tabLst/>
            </a:pPr>
            <a:endParaRPr kumimoji="0" lang="en-US" altLang="en-US" b="1" i="0" u="none" strike="noStrike" cap="none" normalizeH="0" baseline="0" dirty="0">
              <a:ln>
                <a:noFill/>
              </a:ln>
              <a:solidFill>
                <a:srgbClr val="7030A0"/>
              </a:solidFill>
              <a:effectLst/>
              <a:latin typeface="Arial" panose="020B0604020202020204"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1" i="0" u="none" strike="noStrike" cap="none" normalizeH="0" baseline="0" dirty="0">
                <a:ln>
                  <a:noFill/>
                </a:ln>
                <a:solidFill>
                  <a:srgbClr val="7030A0"/>
                </a:solidFill>
                <a:effectLst/>
                <a:latin typeface="Arial" panose="020B0604020202020204" pitchFamily="34" charset="0"/>
              </a:rPr>
              <a:t>Promotes innovation in eye disease diagnostics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1" i="0" u="none" strike="noStrike" cap="none" normalizeH="0" baseline="0" dirty="0">
                <a:ln>
                  <a:noFill/>
                </a:ln>
                <a:solidFill>
                  <a:srgbClr val="FF0000"/>
                </a:solidFill>
                <a:effectLst/>
                <a:latin typeface="Arial" panose="020B0604020202020204" pitchFamily="34" charset="0"/>
              </a:rPr>
              <a:t>99.97% accuracy </a:t>
            </a:r>
            <a:r>
              <a:rPr kumimoji="0" lang="en-US" altLang="en-US" b="1" i="0" u="none" strike="noStrike" cap="none" normalizeH="0" baseline="0" dirty="0">
                <a:ln>
                  <a:noFill/>
                </a:ln>
                <a:solidFill>
                  <a:srgbClr val="7030A0"/>
                </a:solidFill>
                <a:effectLst/>
                <a:latin typeface="Arial" panose="020B0604020202020204" pitchFamily="34" charset="0"/>
              </a:rPr>
              <a:t>from two different models, </a:t>
            </a:r>
            <a:r>
              <a:rPr kumimoji="0" lang="en-US" altLang="en-US" b="1" i="0" u="none" strike="noStrike" cap="none" normalizeH="0" baseline="0" dirty="0">
                <a:ln>
                  <a:noFill/>
                </a:ln>
                <a:solidFill>
                  <a:srgbClr val="FF0000"/>
                </a:solidFill>
                <a:effectLst/>
                <a:latin typeface="Arial" panose="020B0604020202020204" pitchFamily="34" charset="0"/>
              </a:rPr>
              <a:t>97% precision</a:t>
            </a:r>
            <a:r>
              <a:rPr kumimoji="0" lang="en-US" altLang="en-US" b="1" i="0" u="none" strike="noStrike" cap="none" normalizeH="0" baseline="0" dirty="0">
                <a:ln>
                  <a:noFill/>
                </a:ln>
                <a:solidFill>
                  <a:srgbClr val="7030A0"/>
                </a:solidFill>
                <a:effectLst/>
                <a:latin typeface="Arial" panose="020B0604020202020204" pitchFamily="34" charset="0"/>
              </a:rPr>
              <a:t>, </a:t>
            </a:r>
            <a:r>
              <a:rPr kumimoji="0" lang="en-US" altLang="en-US" b="1" i="0" u="none" strike="noStrike" cap="none" normalizeH="0" baseline="0" dirty="0">
                <a:ln>
                  <a:noFill/>
                </a:ln>
                <a:solidFill>
                  <a:srgbClr val="FF0000"/>
                </a:solidFill>
                <a:effectLst/>
                <a:latin typeface="Arial" panose="020B0604020202020204" pitchFamily="34" charset="0"/>
              </a:rPr>
              <a:t>98% recall</a:t>
            </a:r>
            <a:r>
              <a:rPr kumimoji="0" lang="en-US" altLang="en-US" b="1" i="0" u="none" strike="noStrike" cap="none" normalizeH="0" baseline="0" dirty="0">
                <a:ln>
                  <a:noFill/>
                </a:ln>
                <a:solidFill>
                  <a:srgbClr val="7030A0"/>
                </a:solidFill>
                <a:effectLst/>
                <a:latin typeface="Arial" panose="020B0604020202020204" pitchFamily="34" charset="0"/>
              </a:rPr>
              <a:t>, and </a:t>
            </a:r>
            <a:r>
              <a:rPr kumimoji="0" lang="en-US" altLang="en-US" b="1" i="0" u="none" strike="noStrike" cap="none" normalizeH="0" baseline="0" dirty="0">
                <a:ln>
                  <a:noFill/>
                </a:ln>
                <a:solidFill>
                  <a:srgbClr val="FF0000"/>
                </a:solidFill>
                <a:effectLst/>
                <a:latin typeface="Arial" panose="020B0604020202020204" pitchFamily="34" charset="0"/>
              </a:rPr>
              <a:t>97% f1-score </a:t>
            </a:r>
            <a:r>
              <a:rPr kumimoji="0" lang="en-US" altLang="en-US" b="1" i="0" u="none" strike="noStrike" cap="none" normalizeH="0" baseline="0" dirty="0">
                <a:ln>
                  <a:noFill/>
                </a:ln>
                <a:solidFill>
                  <a:srgbClr val="7030A0"/>
                </a:solidFill>
                <a:effectLst/>
                <a:latin typeface="Arial" panose="020B0604020202020204" pitchFamily="34" charset="0"/>
              </a:rPr>
              <a:t>among two different models.</a:t>
            </a:r>
          </a:p>
          <a:p>
            <a:pPr marL="342900" indent="-342900" algn="just" eaLnBrk="0" fontAlgn="base" hangingPunct="0">
              <a:lnSpc>
                <a:spcPct val="150000"/>
              </a:lnSpc>
              <a:spcBef>
                <a:spcPct val="0"/>
              </a:spcBef>
              <a:spcAft>
                <a:spcPct val="0"/>
              </a:spcAft>
              <a:buFont typeface="Wingdings" panose="05000000000000000000" pitchFamily="2" charset="2"/>
              <a:buChar char="q"/>
            </a:pPr>
            <a:r>
              <a:rPr kumimoji="0" lang="en-US" altLang="en-US" b="1" i="0" u="none" strike="noStrike" cap="none" normalizeH="0" baseline="0" dirty="0">
                <a:ln>
                  <a:noFill/>
                </a:ln>
                <a:solidFill>
                  <a:srgbClr val="7030A0"/>
                </a:solidFill>
                <a:effectLst/>
                <a:latin typeface="Arial" panose="020B0604020202020204" pitchFamily="34" charset="0"/>
              </a:rPr>
              <a:t>Useful clinical applications and utilize </a:t>
            </a:r>
            <a:r>
              <a:rPr kumimoji="0" lang="en-US" altLang="en-US" sz="1800" b="1" i="0" u="none" strike="noStrike" cap="none" normalizeH="0" baseline="0" dirty="0">
                <a:ln>
                  <a:noFill/>
                </a:ln>
                <a:solidFill>
                  <a:srgbClr val="7030A0"/>
                </a:solidFill>
                <a:effectLst/>
                <a:latin typeface="Arial" panose="020B0604020202020204" pitchFamily="34" charset="0"/>
              </a:rPr>
              <a:t>larger datasets encompassing </a:t>
            </a:r>
            <a:r>
              <a:rPr lang="en-US" altLang="en-US" b="1" dirty="0">
                <a:solidFill>
                  <a:schemeClr val="accent6">
                    <a:lumMod val="75000"/>
                  </a:schemeClr>
                </a:solidFill>
                <a:latin typeface="Arial" panose="020B0604020202020204" pitchFamily="34" charset="0"/>
              </a:rPr>
              <a:t>various eye disease subtypes</a:t>
            </a:r>
            <a:r>
              <a:rPr kumimoji="0" lang="en-US" altLang="en-US" sz="1800" b="1" i="0" u="none" strike="noStrike" cap="none" normalizeH="0" baseline="0" dirty="0">
                <a:ln>
                  <a:noFill/>
                </a:ln>
                <a:solidFill>
                  <a:srgbClr val="7030A0"/>
                </a:solidFill>
                <a:effectLst/>
                <a:latin typeface="Arial" panose="020B0604020202020204" pitchFamily="34" charset="0"/>
              </a:rPr>
              <a:t>, image qualities and </a:t>
            </a:r>
            <a:r>
              <a:rPr lang="en-US" altLang="en-US" b="1" dirty="0">
                <a:solidFill>
                  <a:srgbClr val="7030A0"/>
                </a:solidFill>
                <a:latin typeface="Arial" panose="020B0604020202020204" pitchFamily="34" charset="0"/>
              </a:rPr>
              <a:t>improve robustness</a:t>
            </a:r>
          </a:p>
          <a:p>
            <a:pPr marL="342900" indent="-342900" algn="just" eaLnBrk="0" fontAlgn="base" hangingPunct="0">
              <a:lnSpc>
                <a:spcPct val="150000"/>
              </a:lnSpc>
              <a:spcBef>
                <a:spcPct val="0"/>
              </a:spcBef>
              <a:spcAft>
                <a:spcPct val="0"/>
              </a:spcAft>
              <a:buFont typeface="Wingdings" panose="05000000000000000000" pitchFamily="2" charset="2"/>
              <a:buChar char="q"/>
            </a:pPr>
            <a:r>
              <a:rPr kumimoji="0" lang="en-US" altLang="en-US" sz="1800" b="1" i="0" u="none" strike="noStrike" cap="none" normalizeH="0" baseline="0" dirty="0">
                <a:ln>
                  <a:noFill/>
                </a:ln>
                <a:solidFill>
                  <a:srgbClr val="7030A0"/>
                </a:solidFill>
                <a:effectLst/>
                <a:latin typeface="Arial" panose="020B0604020202020204" pitchFamily="34" charset="0"/>
              </a:rPr>
              <a:t>Consider collaborating with medical institutions for </a:t>
            </a:r>
            <a:r>
              <a:rPr kumimoji="0" lang="en-US" altLang="en-US" sz="1800" b="1" i="0" u="none" strike="noStrike" cap="none" normalizeH="0" baseline="0" dirty="0">
                <a:ln>
                  <a:noFill/>
                </a:ln>
                <a:solidFill>
                  <a:schemeClr val="accent6">
                    <a:lumMod val="75000"/>
                  </a:schemeClr>
                </a:solidFill>
                <a:effectLst/>
                <a:latin typeface="Arial" panose="020B0604020202020204" pitchFamily="34" charset="0"/>
              </a:rPr>
              <a:t>wider data access employ better data augmentation</a:t>
            </a:r>
            <a:r>
              <a:rPr kumimoji="0" lang="en-US" altLang="en-US" sz="1800" b="1" i="0" u="none" strike="noStrike" cap="none" normalizeH="0" baseline="0" dirty="0">
                <a:ln>
                  <a:noFill/>
                </a:ln>
                <a:solidFill>
                  <a:srgbClr val="7030A0"/>
                </a:solidFill>
                <a:effectLst/>
                <a:latin typeface="Arial" panose="020B0604020202020204" pitchFamily="34" charset="0"/>
              </a:rPr>
              <a:t> techniques like flipping, rotating, and zooming to balance the dataset</a:t>
            </a:r>
            <a:endParaRPr kumimoji="0" lang="en-US" altLang="en-US" b="1" i="0" u="none" strike="noStrike" cap="none" normalizeH="0" baseline="0" dirty="0">
              <a:ln>
                <a:noFill/>
              </a:ln>
              <a:solidFill>
                <a:srgbClr val="7030A0"/>
              </a:solidFill>
              <a:effectLst/>
              <a:latin typeface="Arial" panose="020B0604020202020204" pitchFamily="34" charset="0"/>
            </a:endParaRPr>
          </a:p>
          <a:p>
            <a:pPr marL="342900" indent="-342900" algn="just" eaLnBrk="0" fontAlgn="base" hangingPunct="0">
              <a:lnSpc>
                <a:spcPct val="150000"/>
              </a:lnSpc>
              <a:spcBef>
                <a:spcPct val="0"/>
              </a:spcBef>
              <a:spcAft>
                <a:spcPct val="0"/>
              </a:spcAft>
              <a:buFont typeface="Wingdings" panose="05000000000000000000" pitchFamily="2" charset="2"/>
              <a:buChar char="q"/>
            </a:pPr>
            <a:r>
              <a:rPr kumimoji="0" lang="en-US" altLang="en-US" b="1" i="0" u="none" strike="noStrike" cap="none" normalizeH="0" baseline="0" dirty="0">
                <a:ln>
                  <a:noFill/>
                </a:ln>
                <a:solidFill>
                  <a:srgbClr val="7030A0"/>
                </a:solidFill>
                <a:effectLst/>
                <a:latin typeface="Arial" panose="020B0604020202020204" pitchFamily="34" charset="0"/>
              </a:rPr>
              <a:t>Acting as a springboard for </a:t>
            </a:r>
            <a:r>
              <a:rPr kumimoji="0" lang="en-US" altLang="en-US" b="1" i="0" u="none" strike="noStrike" cap="none" normalizeH="0" baseline="0" dirty="0">
                <a:ln>
                  <a:noFill/>
                </a:ln>
                <a:solidFill>
                  <a:srgbClr val="C00000"/>
                </a:solidFill>
                <a:effectLst/>
                <a:latin typeface="Arial" panose="020B0604020202020204" pitchFamily="34" charset="0"/>
              </a:rPr>
              <a:t>further research </a:t>
            </a:r>
            <a:r>
              <a:rPr kumimoji="0" lang="en-US" altLang="en-US" b="1" i="0" u="none" strike="noStrike" cap="none" normalizeH="0" baseline="0" dirty="0">
                <a:ln>
                  <a:noFill/>
                </a:ln>
                <a:solidFill>
                  <a:srgbClr val="7030A0"/>
                </a:solidFill>
                <a:effectLst/>
                <a:latin typeface="Arial" panose="020B0604020202020204" pitchFamily="34" charset="0"/>
              </a:rPr>
              <a:t>and </a:t>
            </a:r>
            <a:r>
              <a:rPr kumimoji="0" lang="en-US" altLang="en-US" sz="1800" b="1" i="0" u="none" strike="noStrike" cap="none" normalizeH="0" baseline="0" dirty="0">
                <a:ln>
                  <a:noFill/>
                </a:ln>
                <a:solidFill>
                  <a:srgbClr val="7030A0"/>
                </a:solidFill>
                <a:effectLst/>
                <a:latin typeface="Arial" panose="020B0604020202020204" pitchFamily="34" charset="0"/>
              </a:rPr>
              <a:t>Real world compared to </a:t>
            </a:r>
            <a:r>
              <a:rPr kumimoji="0" lang="en-US" altLang="en-US" sz="1800" b="1" i="0" u="none" strike="noStrike" cap="none" normalizeH="0" baseline="0" dirty="0">
                <a:ln>
                  <a:noFill/>
                </a:ln>
                <a:solidFill>
                  <a:srgbClr val="C00000"/>
                </a:solidFill>
                <a:effectLst/>
                <a:latin typeface="Arial" panose="020B0604020202020204" pitchFamily="34" charset="0"/>
              </a:rPr>
              <a:t>conventional</a:t>
            </a:r>
            <a:r>
              <a:rPr kumimoji="0" lang="en-US" altLang="en-US" sz="1800" b="1" i="0" u="none" strike="noStrike" cap="none" normalizeH="0" baseline="0" dirty="0">
                <a:ln>
                  <a:noFill/>
                </a:ln>
                <a:solidFill>
                  <a:srgbClr val="7030A0"/>
                </a:solidFill>
                <a:effectLst/>
                <a:latin typeface="Arial" panose="020B0604020202020204" pitchFamily="34" charset="0"/>
              </a:rPr>
              <a:t> </a:t>
            </a:r>
            <a:r>
              <a:rPr kumimoji="0" lang="en-US" altLang="en-US" sz="1800" b="1" i="0" u="none" strike="noStrike" cap="none" normalizeH="0" baseline="0" dirty="0">
                <a:ln>
                  <a:noFill/>
                </a:ln>
                <a:solidFill>
                  <a:srgbClr val="C00000"/>
                </a:solidFill>
                <a:effectLst/>
                <a:latin typeface="Arial" panose="020B0604020202020204" pitchFamily="34" charset="0"/>
              </a:rPr>
              <a:t>diagnostic techniques</a:t>
            </a:r>
            <a:r>
              <a:rPr kumimoji="0" lang="en-US" altLang="en-US" sz="1800" b="1" i="0" u="none" strike="noStrike" cap="none" normalizeH="0" baseline="0" dirty="0">
                <a:ln>
                  <a:noFill/>
                </a:ln>
                <a:solidFill>
                  <a:srgbClr val="7030A0"/>
                </a:solidFill>
                <a:effectLst/>
                <a:latin typeface="Arial" panose="020B0604020202020204" pitchFamily="34" charset="0"/>
              </a:rPr>
              <a:t>, conduct thorough </a:t>
            </a:r>
            <a:r>
              <a:rPr kumimoji="0" lang="en-US" altLang="en-US" sz="1800" b="1" i="0" u="none" strike="noStrike" cap="none" normalizeH="0" baseline="0" dirty="0">
                <a:ln>
                  <a:noFill/>
                </a:ln>
                <a:solidFill>
                  <a:srgbClr val="C00000"/>
                </a:solidFill>
                <a:effectLst/>
                <a:latin typeface="Arial" panose="020B0604020202020204" pitchFamily="34" charset="0"/>
              </a:rPr>
              <a:t>clinical trials</a:t>
            </a:r>
          </a:p>
        </p:txBody>
      </p:sp>
      <p:graphicFrame>
        <p:nvGraphicFramePr>
          <p:cNvPr id="4" name="Table 3">
            <a:extLst>
              <a:ext uri="{FF2B5EF4-FFF2-40B4-BE49-F238E27FC236}">
                <a16:creationId xmlns:a16="http://schemas.microsoft.com/office/drawing/2014/main" id="{298B7177-A495-F495-E5A4-BC03E4077E6A}"/>
              </a:ext>
            </a:extLst>
          </p:cNvPr>
          <p:cNvGraphicFramePr>
            <a:graphicFrameLocks noGrp="1" noDrilldown="1" noMove="1" noResize="1"/>
          </p:cNvGraphicFramePr>
          <p:nvPr/>
        </p:nvGraphicFramePr>
        <p:xfrm>
          <a:off x="44604" y="6330906"/>
          <a:ext cx="12102790" cy="579120"/>
        </p:xfrm>
        <a:graphic>
          <a:graphicData uri="http://schemas.openxmlformats.org/drawingml/2006/table">
            <a:tbl>
              <a:tblPr firstRow="1" bandRow="1">
                <a:tableStyleId>{3B4B98B0-60AC-42C2-AFA5-B58CD77FA1E5}</a:tableStyleId>
              </a:tblPr>
              <a:tblGrid>
                <a:gridCol w="12102790">
                  <a:extLst>
                    <a:ext uri="{9D8B030D-6E8A-4147-A177-3AD203B41FA5}">
                      <a16:colId xmlns:a16="http://schemas.microsoft.com/office/drawing/2014/main" val="3674735876"/>
                    </a:ext>
                  </a:extLst>
                </a:gridCol>
              </a:tblGrid>
              <a:tr h="524108">
                <a:tc>
                  <a:txBody>
                    <a:bodyPr/>
                    <a:lstStyle/>
                    <a:p>
                      <a:pPr algn="ctr"/>
                      <a:r>
                        <a:rPr lang="en-US" sz="1600" dirty="0">
                          <a:solidFill>
                            <a:schemeClr val="bg1"/>
                          </a:solidFill>
                          <a:latin typeface="Helvetica" pitchFamily="2" charset="0"/>
                        </a:rPr>
                        <a:t>CUET IT Business Incubator, Chattogram, Bangladesh</a:t>
                      </a:r>
                    </a:p>
                    <a:p>
                      <a:pPr algn="ctr"/>
                      <a:r>
                        <a:rPr lang="en-US" sz="1600" dirty="0">
                          <a:solidFill>
                            <a:schemeClr val="bg1"/>
                          </a:solidFill>
                          <a:latin typeface="Helvetica" pitchFamily="2" charset="0"/>
                        </a:rPr>
                        <a:t>25</a:t>
                      </a:r>
                      <a:r>
                        <a:rPr lang="en-US" sz="1600" baseline="30000" dirty="0">
                          <a:solidFill>
                            <a:schemeClr val="bg1"/>
                          </a:solidFill>
                          <a:latin typeface="Helvetica" pitchFamily="2" charset="0"/>
                        </a:rPr>
                        <a:t>th</a:t>
                      </a:r>
                      <a:r>
                        <a:rPr lang="en-US" sz="1600" dirty="0">
                          <a:solidFill>
                            <a:schemeClr val="bg1"/>
                          </a:solidFill>
                          <a:latin typeface="Helvetica" pitchFamily="2" charset="0"/>
                        </a:rPr>
                        <a:t> &amp; 26</a:t>
                      </a:r>
                      <a:r>
                        <a:rPr lang="en-US" sz="1600" baseline="30000" dirty="0">
                          <a:solidFill>
                            <a:schemeClr val="bg1"/>
                          </a:solidFill>
                          <a:latin typeface="Helvetica" pitchFamily="2" charset="0"/>
                        </a:rPr>
                        <a:t>th</a:t>
                      </a:r>
                      <a:r>
                        <a:rPr lang="en-US" sz="1600" dirty="0">
                          <a:solidFill>
                            <a:schemeClr val="bg1"/>
                          </a:solidFill>
                          <a:latin typeface="Helvetica" pitchFamily="2" charset="0"/>
                        </a:rPr>
                        <a:t> September 2024</a:t>
                      </a:r>
                    </a:p>
                  </a:txBody>
                  <a:tcPr>
                    <a:lnL>
                      <a:noFill/>
                    </a:lnL>
                    <a:lnR>
                      <a:noFill/>
                    </a:lnR>
                    <a:lnT w="12700" cmpd="sng">
                      <a:noFill/>
                    </a:lnT>
                    <a:lnB w="12700" cmpd="sng">
                      <a:noFill/>
                    </a:lnB>
                    <a:lnTlToBr w="12700" cmpd="sng">
                      <a:noFill/>
                      <a:prstDash val="solid"/>
                    </a:lnTlToBr>
                    <a:lnBlToTr w="12700" cmpd="sng">
                      <a:noFill/>
                      <a:prstDash val="solid"/>
                    </a:lnBlToTr>
                    <a:solidFill>
                      <a:srgbClr val="286AB3"/>
                    </a:solidFill>
                  </a:tcPr>
                </a:tc>
                <a:extLst>
                  <a:ext uri="{0D108BD9-81ED-4DB2-BD59-A6C34878D82A}">
                    <a16:rowId xmlns:a16="http://schemas.microsoft.com/office/drawing/2014/main" val="2193435611"/>
                  </a:ext>
                </a:extLst>
              </a:tr>
            </a:tbl>
          </a:graphicData>
        </a:graphic>
      </p:graphicFrame>
      <p:sp>
        <p:nvSpPr>
          <p:cNvPr id="8" name="Date Placeholder 6">
            <a:extLst>
              <a:ext uri="{FF2B5EF4-FFF2-40B4-BE49-F238E27FC236}">
                <a16:creationId xmlns:a16="http://schemas.microsoft.com/office/drawing/2014/main" id="{50C875A1-D58E-3E71-6AFD-822073791D30}"/>
              </a:ext>
            </a:extLst>
          </p:cNvPr>
          <p:cNvSpPr>
            <a:spLocks noGrp="1"/>
          </p:cNvSpPr>
          <p:nvPr>
            <p:ph type="dt" sz="half" idx="10"/>
          </p:nvPr>
        </p:nvSpPr>
        <p:spPr>
          <a:xfrm>
            <a:off x="44604" y="5915810"/>
            <a:ext cx="2876396" cy="412123"/>
          </a:xfrm>
          <a:ln>
            <a:noFill/>
          </a:ln>
        </p:spPr>
        <p:txBody>
          <a:bodyPr/>
          <a:lstStyle/>
          <a:p>
            <a:pPr algn="ctr"/>
            <a:r>
              <a:rPr lang="en-US" sz="20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September 2024</a:t>
            </a:r>
          </a:p>
        </p:txBody>
      </p:sp>
      <p:grpSp>
        <p:nvGrpSpPr>
          <p:cNvPr id="7" name="Group 12">
            <a:extLst>
              <a:ext uri="{FF2B5EF4-FFF2-40B4-BE49-F238E27FC236}">
                <a16:creationId xmlns:a16="http://schemas.microsoft.com/office/drawing/2014/main" id="{C9768D52-D28E-E272-CB17-A773BFE0DE11}"/>
              </a:ext>
            </a:extLst>
          </p:cNvPr>
          <p:cNvGrpSpPr/>
          <p:nvPr/>
        </p:nvGrpSpPr>
        <p:grpSpPr>
          <a:xfrm>
            <a:off x="11538857" y="5828369"/>
            <a:ext cx="338772" cy="362537"/>
            <a:chOff x="0" y="0"/>
            <a:chExt cx="812800" cy="869819"/>
          </a:xfrm>
        </p:grpSpPr>
        <p:sp>
          <p:nvSpPr>
            <p:cNvPr id="11" name="Freeform 13">
              <a:extLst>
                <a:ext uri="{FF2B5EF4-FFF2-40B4-BE49-F238E27FC236}">
                  <a16:creationId xmlns:a16="http://schemas.microsoft.com/office/drawing/2014/main" id="{9C2FC593-083E-D097-E53A-D082260AD6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sz="1200"/>
            </a:p>
          </p:txBody>
        </p:sp>
        <p:sp>
          <p:nvSpPr>
            <p:cNvPr id="12" name="TextBox 14">
              <a:extLst>
                <a:ext uri="{FF2B5EF4-FFF2-40B4-BE49-F238E27FC236}">
                  <a16:creationId xmlns:a16="http://schemas.microsoft.com/office/drawing/2014/main" id="{D5A1EE3E-217B-CAD1-035C-0D6CD2AFD200}"/>
                </a:ext>
              </a:extLst>
            </p:cNvPr>
            <p:cNvSpPr txBox="1"/>
            <p:nvPr/>
          </p:nvSpPr>
          <p:spPr>
            <a:xfrm>
              <a:off x="76200" y="52970"/>
              <a:ext cx="660400" cy="735303"/>
            </a:xfrm>
            <a:prstGeom prst="rect">
              <a:avLst/>
            </a:prstGeom>
          </p:spPr>
          <p:txBody>
            <a:bodyPr lIns="33867" tIns="33867" rIns="33867" bIns="33867" rtlCol="0" anchor="ctr"/>
            <a:lstStyle/>
            <a:p>
              <a:pPr algn="ctr">
                <a:lnSpc>
                  <a:spcPts val="1587"/>
                </a:lnSpc>
                <a:spcBef>
                  <a:spcPct val="0"/>
                </a:spcBef>
              </a:pPr>
              <a:r>
                <a:rPr lang="en-US" sz="1133" dirty="0">
                  <a:solidFill>
                    <a:srgbClr val="191919"/>
                  </a:solidFill>
                  <a:latin typeface="Gotham"/>
                  <a:ea typeface="Gotham"/>
                  <a:cs typeface="Gotham"/>
                  <a:sym typeface="Gotham"/>
                </a:rPr>
                <a:t>9</a:t>
              </a:r>
            </a:p>
          </p:txBody>
        </p:sp>
      </p:grpSp>
      <p:pic>
        <p:nvPicPr>
          <p:cNvPr id="5" name="Picture 2">
            <a:extLst>
              <a:ext uri="{FF2B5EF4-FFF2-40B4-BE49-F238E27FC236}">
                <a16:creationId xmlns:a16="http://schemas.microsoft.com/office/drawing/2014/main" id="{5C0B4CD1-529B-FBC5-0C7D-471F33324537}"/>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a:stretch/>
        </p:blipFill>
        <p:spPr bwMode="auto">
          <a:xfrm>
            <a:off x="132734" y="443409"/>
            <a:ext cx="946917" cy="876158"/>
          </a:xfrm>
          <a:prstGeom prst="rect">
            <a:avLst/>
          </a:prstGeom>
          <a:noFill/>
          <a:ln w="9525">
            <a:noFill/>
            <a:miter lim="800000"/>
            <a:headEnd/>
            <a:tailEnd/>
          </a:ln>
          <a:effectLst/>
        </p:spPr>
      </p:pic>
      <p:pic>
        <p:nvPicPr>
          <p:cNvPr id="9" name="Picture 7">
            <a:extLst>
              <a:ext uri="{FF2B5EF4-FFF2-40B4-BE49-F238E27FC236}">
                <a16:creationId xmlns:a16="http://schemas.microsoft.com/office/drawing/2014/main" id="{DDA9D695-71EC-CE57-3D29-B80C8822EDAC}"/>
              </a:ext>
            </a:extLst>
          </p:cNvPr>
          <p:cNvPicPr>
            <a:picLocks noGrp="1" noRo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a:stretch/>
        </p:blipFill>
        <p:spPr bwMode="auto">
          <a:xfrm>
            <a:off x="10500850" y="654314"/>
            <a:ext cx="1493901" cy="665253"/>
          </a:xfrm>
          <a:prstGeom prst="rect">
            <a:avLst/>
          </a:prstGeom>
          <a:noFill/>
          <a:ln w="9525">
            <a:noFill/>
            <a:miter lim="800000"/>
            <a:headEnd/>
            <a:tailEnd/>
          </a:ln>
          <a:effectLst/>
        </p:spPr>
      </p:pic>
    </p:spTree>
    <p:extLst>
      <p:ext uri="{BB962C8B-B14F-4D97-AF65-F5344CB8AC3E}">
        <p14:creationId xmlns:p14="http://schemas.microsoft.com/office/powerpoint/2010/main" val="159400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96A3608-5FA3-9812-27E5-87E515069584}"/>
              </a:ext>
            </a:extLst>
          </p:cNvPr>
          <p:cNvGrpSpPr>
            <a:grpSpLocks noGrp="1" noUngrp="1" noRot="1" noMove="1" noResize="1"/>
          </p:cNvGrpSpPr>
          <p:nvPr/>
        </p:nvGrpSpPr>
        <p:grpSpPr>
          <a:xfrm>
            <a:off x="0" y="0"/>
            <a:ext cx="12192000" cy="625651"/>
            <a:chOff x="0" y="0"/>
            <a:chExt cx="12192000" cy="625651"/>
          </a:xfrm>
        </p:grpSpPr>
        <p:sp>
          <p:nvSpPr>
            <p:cNvPr id="17" name="Flowchart: Process 16">
              <a:extLst>
                <a:ext uri="{FF2B5EF4-FFF2-40B4-BE49-F238E27FC236}">
                  <a16:creationId xmlns:a16="http://schemas.microsoft.com/office/drawing/2014/main" id="{FC6AE912-D415-0ED7-EC7D-89D70249AE49}"/>
                </a:ext>
              </a:extLst>
            </p:cNvPr>
            <p:cNvSpPr>
              <a:spLocks noGrp="1" noRot="1" noMove="1" noResize="1" noEditPoints="1" noAdjustHandles="1" noChangeArrowheads="1" noChangeShapeType="1"/>
            </p:cNvSpPr>
            <p:nvPr/>
          </p:nvSpPr>
          <p:spPr>
            <a:xfrm>
              <a:off x="0" y="0"/>
              <a:ext cx="12192000" cy="441885"/>
            </a:xfrm>
            <a:prstGeom prst="flowChartProcess">
              <a:avLst/>
            </a:prstGeom>
            <a:solidFill>
              <a:srgbClr val="FAA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Process 17">
              <a:extLst>
                <a:ext uri="{FF2B5EF4-FFF2-40B4-BE49-F238E27FC236}">
                  <a16:creationId xmlns:a16="http://schemas.microsoft.com/office/drawing/2014/main" id="{383098B1-F485-98AC-58FD-BC2028A6F6EE}"/>
                </a:ext>
              </a:extLst>
            </p:cNvPr>
            <p:cNvSpPr>
              <a:spLocks noGrp="1" noRot="1" noMove="1" noResize="1" noEditPoints="1" noAdjustHandles="1" noChangeArrowheads="1" noChangeShapeType="1"/>
            </p:cNvSpPr>
            <p:nvPr/>
          </p:nvSpPr>
          <p:spPr>
            <a:xfrm>
              <a:off x="7199086" y="441885"/>
              <a:ext cx="4992913" cy="183766"/>
            </a:xfrm>
            <a:prstGeom prst="flowChartProcess">
              <a:avLst/>
            </a:prstGeom>
            <a:solidFill>
              <a:srgbClr val="4544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9"/>
          <p:cNvSpPr>
            <a:spLocks noGrp="1"/>
          </p:cNvSpPr>
          <p:nvPr>
            <p:ph type="title"/>
          </p:nvPr>
        </p:nvSpPr>
        <p:spPr/>
        <p:txBody>
          <a:bodyPr/>
          <a:lstStyle/>
          <a:p>
            <a:r>
              <a:rPr lang="en-US" b="1" dirty="0">
                <a:solidFill>
                  <a:srgbClr val="002060"/>
                </a:solidFill>
              </a:rPr>
              <a:t>Reference </a:t>
            </a:r>
          </a:p>
        </p:txBody>
      </p:sp>
      <p:pic>
        <p:nvPicPr>
          <p:cNvPr id="3" name="Picture 2">
            <a:extLst>
              <a:ext uri="{FF2B5EF4-FFF2-40B4-BE49-F238E27FC236}">
                <a16:creationId xmlns:a16="http://schemas.microsoft.com/office/drawing/2014/main" id="{A3B236BD-4951-71CA-AFC7-67D090224820}"/>
              </a:ext>
            </a:extLst>
          </p:cNvPr>
          <p:cNvPicPr>
            <a:picLocks noChangeAspect="1"/>
          </p:cNvPicPr>
          <p:nvPr/>
        </p:nvPicPr>
        <p:blipFill>
          <a:blip r:embed="rId3"/>
          <a:stretch>
            <a:fillRect/>
          </a:stretch>
        </p:blipFill>
        <p:spPr>
          <a:xfrm>
            <a:off x="44604" y="6327933"/>
            <a:ext cx="12102790" cy="524107"/>
          </a:xfrm>
          <a:prstGeom prst="rect">
            <a:avLst/>
          </a:prstGeom>
        </p:spPr>
      </p:pic>
      <p:sp>
        <p:nvSpPr>
          <p:cNvPr id="13" name="Rectangle 4">
            <a:extLst>
              <a:ext uri="{FF2B5EF4-FFF2-40B4-BE49-F238E27FC236}">
                <a16:creationId xmlns:a16="http://schemas.microsoft.com/office/drawing/2014/main" id="{6D07D2FA-44C2-47AC-B18F-66E98F629585}"/>
              </a:ext>
            </a:extLst>
          </p:cNvPr>
          <p:cNvSpPr>
            <a:spLocks noChangeArrowheads="1"/>
          </p:cNvSpPr>
          <p:nvPr/>
        </p:nvSpPr>
        <p:spPr bwMode="auto">
          <a:xfrm>
            <a:off x="606193" y="1921191"/>
            <a:ext cx="10976208" cy="4012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950" b="1" i="0" u="none" strike="noStrike" cap="none" normalizeH="0" baseline="0" dirty="0">
                <a:ln>
                  <a:noFill/>
                </a:ln>
                <a:solidFill>
                  <a:srgbClr val="7030A0"/>
                </a:solidFill>
                <a:effectLst/>
                <a:latin typeface="Arial" panose="020B0604020202020204" pitchFamily="34" charset="0"/>
              </a:rPr>
              <a:t>[1]“Glaucoma | National Eye Institute.” Accessed: Jul. 04, 2024. [Online]. Available: https://www.nei.nih.gov/learn-about-eye-health/eye-conditions-and-diseases/glaucoma</a:t>
            </a:r>
          </a:p>
          <a:p>
            <a:pPr marR="0" lvl="0" algn="just" defTabSz="914400" rtl="0" eaLnBrk="0" fontAlgn="base" latinLnBrk="0" hangingPunct="0">
              <a:lnSpc>
                <a:spcPct val="150000"/>
              </a:lnSpc>
              <a:spcBef>
                <a:spcPct val="0"/>
              </a:spcBef>
              <a:spcAft>
                <a:spcPct val="0"/>
              </a:spcAft>
              <a:buClrTx/>
              <a:buSzTx/>
              <a:tabLst/>
            </a:pPr>
            <a:r>
              <a:rPr kumimoji="0" lang="en-US" altLang="en-US" sz="950" b="1" i="0" u="none" strike="noStrike" cap="none" normalizeH="0" baseline="0" dirty="0">
                <a:ln>
                  <a:noFill/>
                </a:ln>
                <a:solidFill>
                  <a:srgbClr val="7030A0"/>
                </a:solidFill>
                <a:effectLst/>
                <a:latin typeface="Arial" panose="020B0604020202020204" pitchFamily="34" charset="0"/>
              </a:rPr>
              <a:t>[2]“Cataracts | Johns Hopkins Medicine.” Accessed: Jul. 04, 2024. [Online]. Available: https://www.hopkinsmedicine.org/health/conditions-and-diseases/cataracts</a:t>
            </a:r>
          </a:p>
          <a:p>
            <a:pPr marR="0" lvl="0" algn="just" defTabSz="914400" rtl="0" eaLnBrk="0" fontAlgn="base" latinLnBrk="0" hangingPunct="0">
              <a:lnSpc>
                <a:spcPct val="150000"/>
              </a:lnSpc>
              <a:spcBef>
                <a:spcPct val="0"/>
              </a:spcBef>
              <a:spcAft>
                <a:spcPct val="0"/>
              </a:spcAft>
              <a:buClrTx/>
              <a:buSzTx/>
              <a:tabLst/>
            </a:pPr>
            <a:r>
              <a:rPr kumimoji="0" lang="en-US" altLang="en-US" sz="950" b="1" i="0" u="none" strike="noStrike" cap="none" normalizeH="0" baseline="0" dirty="0">
                <a:ln>
                  <a:noFill/>
                </a:ln>
                <a:solidFill>
                  <a:srgbClr val="7030A0"/>
                </a:solidFill>
                <a:effectLst/>
                <a:latin typeface="Arial" panose="020B0604020202020204" pitchFamily="34" charset="0"/>
              </a:rPr>
              <a:t>[3]M. </a:t>
            </a:r>
            <a:r>
              <a:rPr kumimoji="0" lang="en-US" altLang="en-US" sz="950" b="1" i="0" u="none" strike="noStrike" cap="none" normalizeH="0" baseline="0" dirty="0" err="1">
                <a:ln>
                  <a:noFill/>
                </a:ln>
                <a:solidFill>
                  <a:srgbClr val="7030A0"/>
                </a:solidFill>
                <a:effectLst/>
                <a:latin typeface="Arial" panose="020B0604020202020204" pitchFamily="34" charset="0"/>
              </a:rPr>
              <a:t>Asirvatham</a:t>
            </a:r>
            <a:r>
              <a:rPr kumimoji="0" lang="en-US" altLang="en-US" sz="950" b="1" i="0" u="none" strike="noStrike" cap="none" normalizeH="0" baseline="0" dirty="0">
                <a:ln>
                  <a:noFill/>
                </a:ln>
                <a:solidFill>
                  <a:srgbClr val="7030A0"/>
                </a:solidFill>
                <a:effectLst/>
                <a:latin typeface="Arial" panose="020B0604020202020204" pitchFamily="34" charset="0"/>
              </a:rPr>
              <a:t>, M. </a:t>
            </a:r>
            <a:r>
              <a:rPr kumimoji="0" lang="en-US" altLang="en-US" sz="950" b="1" i="0" u="none" strike="noStrike" cap="none" normalizeH="0" baseline="0" dirty="0" err="1">
                <a:ln>
                  <a:noFill/>
                </a:ln>
                <a:solidFill>
                  <a:srgbClr val="7030A0"/>
                </a:solidFill>
                <a:effectLst/>
                <a:latin typeface="Arial" panose="020B0604020202020204" pitchFamily="34" charset="0"/>
              </a:rPr>
              <a:t>Vijayaraj</a:t>
            </a:r>
            <a:r>
              <a:rPr kumimoji="0" lang="en-US" altLang="en-US" sz="950" b="1" i="0" u="none" strike="noStrike" cap="none" normalizeH="0" baseline="0" dirty="0">
                <a:ln>
                  <a:noFill/>
                </a:ln>
                <a:solidFill>
                  <a:srgbClr val="7030A0"/>
                </a:solidFill>
                <a:effectLst/>
                <a:latin typeface="Arial" panose="020B0604020202020204" pitchFamily="34" charset="0"/>
              </a:rPr>
              <a:t>, T. Manikandan, A. Vignesh, E. E. Nithila, and J. N. Jothi, “Hybrid Deep Learning Network to Classify Eye Diseases,” in 2022 6th International Conference on Trends in Electronics and Informatics, ICOEI 2022 - Proceedings, Institute of Electrical and Electronics Engineers Inc., 2022, pp. 1335–1342. </a:t>
            </a:r>
            <a:r>
              <a:rPr kumimoji="0" lang="en-US" altLang="en-US" sz="950" b="1" i="0" u="none" strike="noStrike" cap="none" normalizeH="0" baseline="0" dirty="0" err="1">
                <a:ln>
                  <a:noFill/>
                </a:ln>
                <a:solidFill>
                  <a:srgbClr val="7030A0"/>
                </a:solidFill>
                <a:effectLst/>
                <a:latin typeface="Arial" panose="020B0604020202020204" pitchFamily="34" charset="0"/>
              </a:rPr>
              <a:t>doi</a:t>
            </a:r>
            <a:r>
              <a:rPr kumimoji="0" lang="en-US" altLang="en-US" sz="950" b="1" i="0" u="none" strike="noStrike" cap="none" normalizeH="0" baseline="0" dirty="0">
                <a:ln>
                  <a:noFill/>
                </a:ln>
                <a:solidFill>
                  <a:srgbClr val="7030A0"/>
                </a:solidFill>
                <a:effectLst/>
                <a:latin typeface="Arial" panose="020B0604020202020204" pitchFamily="34" charset="0"/>
              </a:rPr>
              <a:t>: 10.1109/ICOEI53556.2022.9776916.</a:t>
            </a:r>
          </a:p>
          <a:p>
            <a:pPr marR="0" lvl="0" algn="just" defTabSz="914400" rtl="0" eaLnBrk="0" fontAlgn="base" latinLnBrk="0" hangingPunct="0">
              <a:lnSpc>
                <a:spcPct val="150000"/>
              </a:lnSpc>
              <a:spcBef>
                <a:spcPct val="0"/>
              </a:spcBef>
              <a:spcAft>
                <a:spcPct val="0"/>
              </a:spcAft>
              <a:buClrTx/>
              <a:buSzTx/>
              <a:tabLst/>
            </a:pPr>
            <a:r>
              <a:rPr kumimoji="0" lang="en-US" altLang="en-US" sz="950" b="1" i="0" u="none" strike="noStrike" cap="none" normalizeH="0" baseline="0" dirty="0">
                <a:ln>
                  <a:noFill/>
                </a:ln>
                <a:solidFill>
                  <a:srgbClr val="7030A0"/>
                </a:solidFill>
                <a:effectLst/>
                <a:latin typeface="Arial" panose="020B0604020202020204" pitchFamily="34" charset="0"/>
              </a:rPr>
              <a:t>[4]Y. C. </a:t>
            </a:r>
            <a:r>
              <a:rPr kumimoji="0" lang="en-US" altLang="en-US" sz="950" b="1" i="0" u="none" strike="noStrike" cap="none" normalizeH="0" baseline="0" dirty="0" err="1">
                <a:ln>
                  <a:noFill/>
                </a:ln>
                <a:solidFill>
                  <a:srgbClr val="7030A0"/>
                </a:solidFill>
                <a:effectLst/>
                <a:latin typeface="Arial" panose="020B0604020202020204" pitchFamily="34" charset="0"/>
              </a:rPr>
              <a:t>Tham</a:t>
            </a:r>
            <a:r>
              <a:rPr kumimoji="0" lang="en-US" altLang="en-US" sz="950" b="1" i="0" u="none" strike="noStrike" cap="none" normalizeH="0" baseline="0" dirty="0">
                <a:ln>
                  <a:noFill/>
                </a:ln>
                <a:solidFill>
                  <a:srgbClr val="7030A0"/>
                </a:solidFill>
                <a:effectLst/>
                <a:latin typeface="Arial" panose="020B0604020202020204" pitchFamily="34" charset="0"/>
              </a:rPr>
              <a:t>, X. Li, T. Y. Wong, H. A. Quigley, T. Aung, and C. Y. Cheng, “Global prevalence of glaucoma and projections of glaucoma burden through 2040: A systematic review and meta-analysis,” Ophthalmology, vol. 121, no. 11, pp. 2081–2090, Nov. 2014, </a:t>
            </a:r>
            <a:r>
              <a:rPr kumimoji="0" lang="en-US" altLang="en-US" sz="950" b="1" i="0" u="none" strike="noStrike" cap="none" normalizeH="0" baseline="0" dirty="0" err="1">
                <a:ln>
                  <a:noFill/>
                </a:ln>
                <a:solidFill>
                  <a:srgbClr val="7030A0"/>
                </a:solidFill>
                <a:effectLst/>
                <a:latin typeface="Arial" panose="020B0604020202020204" pitchFamily="34" charset="0"/>
              </a:rPr>
              <a:t>doi</a:t>
            </a:r>
            <a:r>
              <a:rPr kumimoji="0" lang="en-US" altLang="en-US" sz="950" b="1" i="0" u="none" strike="noStrike" cap="none" normalizeH="0" baseline="0" dirty="0">
                <a:ln>
                  <a:noFill/>
                </a:ln>
                <a:solidFill>
                  <a:srgbClr val="7030A0"/>
                </a:solidFill>
                <a:effectLst/>
                <a:latin typeface="Arial" panose="020B0604020202020204" pitchFamily="34" charset="0"/>
              </a:rPr>
              <a:t>: 10.1016/j.ophtha.2014.05.013.</a:t>
            </a:r>
          </a:p>
          <a:p>
            <a:pPr marR="0" lvl="0" algn="just" defTabSz="914400" rtl="0" eaLnBrk="0" fontAlgn="base" latinLnBrk="0" hangingPunct="0">
              <a:lnSpc>
                <a:spcPct val="150000"/>
              </a:lnSpc>
              <a:spcBef>
                <a:spcPct val="0"/>
              </a:spcBef>
              <a:spcAft>
                <a:spcPct val="0"/>
              </a:spcAft>
              <a:buClrTx/>
              <a:buSzTx/>
              <a:tabLst/>
            </a:pPr>
            <a:r>
              <a:rPr kumimoji="0" lang="en-US" altLang="en-US" sz="950" b="1" i="0" u="none" strike="noStrike" cap="none" normalizeH="0" baseline="0" dirty="0">
                <a:ln>
                  <a:noFill/>
                </a:ln>
                <a:solidFill>
                  <a:srgbClr val="7030A0"/>
                </a:solidFill>
                <a:effectLst/>
                <a:latin typeface="Arial" panose="020B0604020202020204" pitchFamily="34" charset="0"/>
              </a:rPr>
              <a:t>[5]Y. Cui, R. Sun, B. Liu, Z. Liu, and T. T. Toe, “Eye Diseases Classification Using Transfer Learning of Residual Neural Network,” in 2023 3rd International Symposium on Computer Technology and Information Science, ISCTIS 2023, Institute of Electrical and Electronics Engineers Inc., 2023, pp. 244–248. </a:t>
            </a:r>
            <a:r>
              <a:rPr kumimoji="0" lang="en-US" altLang="en-US" sz="950" b="1" i="0" u="none" strike="noStrike" cap="none" normalizeH="0" baseline="0" dirty="0" err="1">
                <a:ln>
                  <a:noFill/>
                </a:ln>
                <a:solidFill>
                  <a:srgbClr val="7030A0"/>
                </a:solidFill>
                <a:effectLst/>
                <a:latin typeface="Arial" panose="020B0604020202020204" pitchFamily="34" charset="0"/>
              </a:rPr>
              <a:t>doi</a:t>
            </a:r>
            <a:r>
              <a:rPr kumimoji="0" lang="en-US" altLang="en-US" sz="950" b="1" i="0" u="none" strike="noStrike" cap="none" normalizeH="0" baseline="0" dirty="0">
                <a:ln>
                  <a:noFill/>
                </a:ln>
                <a:solidFill>
                  <a:srgbClr val="7030A0"/>
                </a:solidFill>
                <a:effectLst/>
                <a:latin typeface="Arial" panose="020B0604020202020204" pitchFamily="34" charset="0"/>
              </a:rPr>
              <a:t>: 10.1109/ISCTIS58954.2023.10213138.</a:t>
            </a:r>
          </a:p>
          <a:p>
            <a:pPr marR="0" lvl="0" algn="just" defTabSz="914400" rtl="0" eaLnBrk="0" fontAlgn="base" latinLnBrk="0" hangingPunct="0">
              <a:lnSpc>
                <a:spcPct val="150000"/>
              </a:lnSpc>
              <a:spcBef>
                <a:spcPct val="0"/>
              </a:spcBef>
              <a:spcAft>
                <a:spcPct val="0"/>
              </a:spcAft>
              <a:buClrTx/>
              <a:buSzTx/>
              <a:tabLst/>
            </a:pPr>
            <a:r>
              <a:rPr kumimoji="0" lang="en-US" altLang="en-US" sz="950" b="1" i="0" u="none" strike="noStrike" cap="none" normalizeH="0" baseline="0" dirty="0">
                <a:ln>
                  <a:noFill/>
                </a:ln>
                <a:solidFill>
                  <a:srgbClr val="7030A0"/>
                </a:solidFill>
                <a:effectLst/>
                <a:latin typeface="Arial" panose="020B0604020202020204" pitchFamily="34" charset="0"/>
              </a:rPr>
              <a:t>[6]K. S. Grover and N. Kapoor, “Detection of Glaucoma and Diabetic Retinopathy Using Fundus Images and Deep Learning,” in 5th IEEE International Conference on Cybernetics, Cognition and Machine Learning Applications, ICCCMLA 2023, Institute of Electrical and Electronics Engineers Inc., 2023, pp. 407–412.doi: 10.1109/ICCCMLA58983.2023.10346704.</a:t>
            </a:r>
          </a:p>
          <a:p>
            <a:pPr marR="0" lvl="0" algn="just" defTabSz="914400" rtl="0" eaLnBrk="0" fontAlgn="base" latinLnBrk="0" hangingPunct="0">
              <a:lnSpc>
                <a:spcPct val="150000"/>
              </a:lnSpc>
              <a:spcBef>
                <a:spcPct val="0"/>
              </a:spcBef>
              <a:spcAft>
                <a:spcPct val="0"/>
              </a:spcAft>
              <a:buClrTx/>
              <a:buSzTx/>
              <a:tabLst/>
            </a:pPr>
            <a:r>
              <a:rPr kumimoji="0" lang="en-US" altLang="en-US" sz="950" b="1" i="0" u="none" strike="noStrike" cap="none" normalizeH="0" baseline="0" dirty="0">
                <a:ln>
                  <a:noFill/>
                </a:ln>
                <a:solidFill>
                  <a:srgbClr val="7030A0"/>
                </a:solidFill>
                <a:effectLst/>
                <a:latin typeface="Arial" panose="020B0604020202020204" pitchFamily="34" charset="0"/>
              </a:rPr>
              <a:t>[7]D. </a:t>
            </a:r>
            <a:r>
              <a:rPr kumimoji="0" lang="en-US" altLang="en-US" sz="950" b="1" i="0" u="none" strike="noStrike" cap="none" normalizeH="0" baseline="0" dirty="0" err="1">
                <a:ln>
                  <a:noFill/>
                </a:ln>
                <a:solidFill>
                  <a:srgbClr val="7030A0"/>
                </a:solidFill>
                <a:effectLst/>
                <a:latin typeface="Arial" panose="020B0604020202020204" pitchFamily="34" charset="0"/>
              </a:rPr>
              <a:t>Selvathi</a:t>
            </a:r>
            <a:r>
              <a:rPr kumimoji="0" lang="en-US" altLang="en-US" sz="950" b="1" i="0" u="none" strike="noStrike" cap="none" normalizeH="0" baseline="0" dirty="0">
                <a:ln>
                  <a:noFill/>
                </a:ln>
                <a:solidFill>
                  <a:srgbClr val="7030A0"/>
                </a:solidFill>
                <a:effectLst/>
                <a:latin typeface="Arial" panose="020B0604020202020204" pitchFamily="34" charset="0"/>
              </a:rPr>
              <a:t>, K. </a:t>
            </a:r>
            <a:r>
              <a:rPr kumimoji="0" lang="en-US" altLang="en-US" sz="950" b="1" i="0" u="none" strike="noStrike" cap="none" normalizeH="0" baseline="0" dirty="0" err="1">
                <a:ln>
                  <a:noFill/>
                </a:ln>
                <a:solidFill>
                  <a:srgbClr val="7030A0"/>
                </a:solidFill>
                <a:effectLst/>
                <a:latin typeface="Arial" panose="020B0604020202020204" pitchFamily="34" charset="0"/>
              </a:rPr>
              <a:t>Suganya</a:t>
            </a:r>
            <a:r>
              <a:rPr kumimoji="0" lang="en-US" altLang="en-US" sz="950" b="1" i="0" u="none" strike="noStrike" cap="none" normalizeH="0" baseline="0" dirty="0">
                <a:ln>
                  <a:noFill/>
                </a:ln>
                <a:solidFill>
                  <a:srgbClr val="7030A0"/>
                </a:solidFill>
                <a:effectLst/>
                <a:latin typeface="Arial" panose="020B0604020202020204" pitchFamily="34" charset="0"/>
              </a:rPr>
              <a:t>, and / Pg Student, “Support Vector Machine Based Method for Automatic Detection of Diabetic Eye Disease using Thermal Images.”</a:t>
            </a:r>
          </a:p>
          <a:p>
            <a:pPr marR="0" lvl="0" algn="just" defTabSz="914400" rtl="0" eaLnBrk="0" fontAlgn="base" latinLnBrk="0" hangingPunct="0">
              <a:lnSpc>
                <a:spcPct val="150000"/>
              </a:lnSpc>
              <a:spcBef>
                <a:spcPct val="0"/>
              </a:spcBef>
              <a:spcAft>
                <a:spcPct val="0"/>
              </a:spcAft>
              <a:buClrTx/>
              <a:buSzTx/>
              <a:tabLst/>
            </a:pPr>
            <a:r>
              <a:rPr kumimoji="0" lang="en-US" altLang="en-US" sz="950" b="1" i="0" u="none" strike="noStrike" cap="none" normalizeH="0" baseline="0" dirty="0">
                <a:ln>
                  <a:noFill/>
                </a:ln>
                <a:solidFill>
                  <a:srgbClr val="7030A0"/>
                </a:solidFill>
                <a:effectLst/>
                <a:latin typeface="Arial" panose="020B0604020202020204" pitchFamily="34" charset="0"/>
              </a:rPr>
              <a:t>[8]M. Shreya, S. Shah, and J. W. Bakal, “Deep Learning for the Detection of Diabetic Retinopathy,” 2022. [Online]. Available: www.ijraset.com</a:t>
            </a:r>
          </a:p>
          <a:p>
            <a:pPr marR="0" lvl="0" algn="just" defTabSz="914400" rtl="0" eaLnBrk="0" fontAlgn="base" latinLnBrk="0" hangingPunct="0">
              <a:lnSpc>
                <a:spcPct val="150000"/>
              </a:lnSpc>
              <a:spcBef>
                <a:spcPct val="0"/>
              </a:spcBef>
              <a:spcAft>
                <a:spcPct val="0"/>
              </a:spcAft>
              <a:buClrTx/>
              <a:buSzTx/>
              <a:tabLst/>
            </a:pPr>
            <a:r>
              <a:rPr kumimoji="0" lang="en-US" altLang="en-US" sz="950" b="1" i="0" u="none" strike="noStrike" cap="none" normalizeH="0" baseline="0" dirty="0">
                <a:ln>
                  <a:noFill/>
                </a:ln>
                <a:solidFill>
                  <a:srgbClr val="7030A0"/>
                </a:solidFill>
                <a:effectLst/>
                <a:latin typeface="Arial" panose="020B0604020202020204" pitchFamily="34" charset="0"/>
              </a:rPr>
              <a:t>[9]R. Singh, N. Sharma, and R. Gupta, “The Proposed Convolutional Neural Network Architecture for the Detection and Classification of Eye Diseases,” in 2023 IEEE International Conference on Research Methodologies in Knowledge Management, Artificial Intelligence and Telecommunication Engineering, RMKMATE 2023, Institute of Electrical and Electronics Engineers Inc., 2023. </a:t>
            </a:r>
            <a:r>
              <a:rPr kumimoji="0" lang="en-US" altLang="en-US" sz="950" b="1" i="0" u="none" strike="noStrike" cap="none" normalizeH="0" baseline="0" dirty="0" err="1">
                <a:ln>
                  <a:noFill/>
                </a:ln>
                <a:solidFill>
                  <a:srgbClr val="7030A0"/>
                </a:solidFill>
                <a:effectLst/>
                <a:latin typeface="Arial" panose="020B0604020202020204" pitchFamily="34" charset="0"/>
              </a:rPr>
              <a:t>doi</a:t>
            </a:r>
            <a:r>
              <a:rPr kumimoji="0" lang="en-US" altLang="en-US" sz="950" b="1" i="0" u="none" strike="noStrike" cap="none" normalizeH="0" baseline="0" dirty="0">
                <a:ln>
                  <a:noFill/>
                </a:ln>
                <a:solidFill>
                  <a:srgbClr val="7030A0"/>
                </a:solidFill>
                <a:effectLst/>
                <a:latin typeface="Arial" panose="020B0604020202020204" pitchFamily="34" charset="0"/>
              </a:rPr>
              <a:t>: 10.1109/RMKMATE59243.2023.10368670.</a:t>
            </a:r>
          </a:p>
          <a:p>
            <a:pPr marR="0" lvl="0" algn="just" defTabSz="914400" rtl="0" eaLnBrk="0" fontAlgn="base" latinLnBrk="0" hangingPunct="0">
              <a:lnSpc>
                <a:spcPct val="150000"/>
              </a:lnSpc>
              <a:spcBef>
                <a:spcPct val="0"/>
              </a:spcBef>
              <a:spcAft>
                <a:spcPct val="0"/>
              </a:spcAft>
              <a:buClrTx/>
              <a:buSzTx/>
              <a:tabLst/>
            </a:pPr>
            <a:r>
              <a:rPr kumimoji="0" lang="en-US" altLang="en-US" sz="950" b="1" i="0" u="none" strike="noStrike" cap="none" normalizeH="0" baseline="0" dirty="0">
                <a:ln>
                  <a:noFill/>
                </a:ln>
                <a:solidFill>
                  <a:srgbClr val="7030A0"/>
                </a:solidFill>
                <a:effectLst/>
                <a:latin typeface="Arial" panose="020B0604020202020204" pitchFamily="34" charset="0"/>
              </a:rPr>
              <a:t>[10]M. S. H. </a:t>
            </a:r>
            <a:r>
              <a:rPr kumimoji="0" lang="en-US" altLang="en-US" sz="950" b="1" i="0" u="none" strike="noStrike" cap="none" normalizeH="0" baseline="0" dirty="0" err="1">
                <a:ln>
                  <a:noFill/>
                </a:ln>
                <a:solidFill>
                  <a:srgbClr val="7030A0"/>
                </a:solidFill>
                <a:effectLst/>
                <a:latin typeface="Arial" panose="020B0604020202020204" pitchFamily="34" charset="0"/>
              </a:rPr>
              <a:t>Shojol</a:t>
            </a:r>
            <a:r>
              <a:rPr kumimoji="0" lang="en-US" altLang="en-US" sz="950" b="1" i="0" u="none" strike="noStrike" cap="none" normalizeH="0" baseline="0" dirty="0">
                <a:ln>
                  <a:noFill/>
                </a:ln>
                <a:solidFill>
                  <a:srgbClr val="7030A0"/>
                </a:solidFill>
                <a:effectLst/>
                <a:latin typeface="Arial" panose="020B0604020202020204" pitchFamily="34" charset="0"/>
              </a:rPr>
              <a:t>, M. A. I. Siddique, and F. Haque, “Enhanced Convolutional Neural Networks for Early Detection and Classification of Ophthalmic Diseases,” in 2023 International Conference on Information and Communication Technology for Sustainable Development, ICICT4SD 2023 - Proceedings, Institute of Electrical and Electronics Engineers Inc., 2023, pp. 209–213. </a:t>
            </a:r>
            <a:r>
              <a:rPr kumimoji="0" lang="en-US" altLang="en-US" sz="950" b="1" i="0" u="none" strike="noStrike" cap="none" normalizeH="0" baseline="0" dirty="0" err="1">
                <a:ln>
                  <a:noFill/>
                </a:ln>
                <a:solidFill>
                  <a:srgbClr val="7030A0"/>
                </a:solidFill>
                <a:effectLst/>
                <a:latin typeface="Arial" panose="020B0604020202020204" pitchFamily="34" charset="0"/>
              </a:rPr>
              <a:t>doi</a:t>
            </a:r>
            <a:r>
              <a:rPr kumimoji="0" lang="en-US" altLang="en-US" sz="950" b="1" i="0" u="none" strike="noStrike" cap="none" normalizeH="0" baseline="0" dirty="0">
                <a:ln>
                  <a:noFill/>
                </a:ln>
                <a:solidFill>
                  <a:srgbClr val="7030A0"/>
                </a:solidFill>
                <a:effectLst/>
                <a:latin typeface="Arial" panose="020B0604020202020204" pitchFamily="34" charset="0"/>
              </a:rPr>
              <a:t>: 10.1109/ICICT4SD59951.2023.10303558.</a:t>
            </a:r>
          </a:p>
        </p:txBody>
      </p:sp>
      <p:graphicFrame>
        <p:nvGraphicFramePr>
          <p:cNvPr id="4" name="Table 3">
            <a:extLst>
              <a:ext uri="{FF2B5EF4-FFF2-40B4-BE49-F238E27FC236}">
                <a16:creationId xmlns:a16="http://schemas.microsoft.com/office/drawing/2014/main" id="{45EBEF04-6E16-4C75-A794-72BAE3AE6A94}"/>
              </a:ext>
            </a:extLst>
          </p:cNvPr>
          <p:cNvGraphicFramePr>
            <a:graphicFrameLocks noGrp="1" noDrilldown="1" noMove="1" noResize="1"/>
          </p:cNvGraphicFramePr>
          <p:nvPr>
            <p:extLst>
              <p:ext uri="{D42A27DB-BD31-4B8C-83A1-F6EECF244321}">
                <p14:modId xmlns:p14="http://schemas.microsoft.com/office/powerpoint/2010/main" val="848390602"/>
              </p:ext>
            </p:extLst>
          </p:nvPr>
        </p:nvGraphicFramePr>
        <p:xfrm>
          <a:off x="44604" y="6330906"/>
          <a:ext cx="12102790" cy="579120"/>
        </p:xfrm>
        <a:graphic>
          <a:graphicData uri="http://schemas.openxmlformats.org/drawingml/2006/table">
            <a:tbl>
              <a:tblPr firstRow="1" bandRow="1">
                <a:tableStyleId>{3B4B98B0-60AC-42C2-AFA5-B58CD77FA1E5}</a:tableStyleId>
              </a:tblPr>
              <a:tblGrid>
                <a:gridCol w="12102790">
                  <a:extLst>
                    <a:ext uri="{9D8B030D-6E8A-4147-A177-3AD203B41FA5}">
                      <a16:colId xmlns:a16="http://schemas.microsoft.com/office/drawing/2014/main" val="3674735876"/>
                    </a:ext>
                  </a:extLst>
                </a:gridCol>
              </a:tblGrid>
              <a:tr h="524108">
                <a:tc>
                  <a:txBody>
                    <a:bodyPr/>
                    <a:lstStyle/>
                    <a:p>
                      <a:pPr algn="ctr"/>
                      <a:r>
                        <a:rPr lang="en-US" sz="1600" dirty="0">
                          <a:solidFill>
                            <a:schemeClr val="bg1"/>
                          </a:solidFill>
                          <a:latin typeface="Helvetica" pitchFamily="2" charset="0"/>
                        </a:rPr>
                        <a:t>CUET IT Business Incubator, Chattogram, Bangladesh</a:t>
                      </a:r>
                    </a:p>
                    <a:p>
                      <a:pPr algn="ctr"/>
                      <a:r>
                        <a:rPr lang="en-US" sz="1600" dirty="0">
                          <a:solidFill>
                            <a:schemeClr val="bg1"/>
                          </a:solidFill>
                          <a:latin typeface="Helvetica" pitchFamily="2" charset="0"/>
                        </a:rPr>
                        <a:t>25</a:t>
                      </a:r>
                      <a:r>
                        <a:rPr lang="en-US" sz="1600" baseline="30000" dirty="0">
                          <a:solidFill>
                            <a:schemeClr val="bg1"/>
                          </a:solidFill>
                          <a:latin typeface="Helvetica" pitchFamily="2" charset="0"/>
                        </a:rPr>
                        <a:t>th</a:t>
                      </a:r>
                      <a:r>
                        <a:rPr lang="en-US" sz="1600" dirty="0">
                          <a:solidFill>
                            <a:schemeClr val="bg1"/>
                          </a:solidFill>
                          <a:latin typeface="Helvetica" pitchFamily="2" charset="0"/>
                        </a:rPr>
                        <a:t> &amp; 26</a:t>
                      </a:r>
                      <a:r>
                        <a:rPr lang="en-US" sz="1600" baseline="30000" dirty="0">
                          <a:solidFill>
                            <a:schemeClr val="bg1"/>
                          </a:solidFill>
                          <a:latin typeface="Helvetica" pitchFamily="2" charset="0"/>
                        </a:rPr>
                        <a:t>th</a:t>
                      </a:r>
                      <a:r>
                        <a:rPr lang="en-US" sz="1600" dirty="0">
                          <a:solidFill>
                            <a:schemeClr val="bg1"/>
                          </a:solidFill>
                          <a:latin typeface="Helvetica" pitchFamily="2" charset="0"/>
                        </a:rPr>
                        <a:t> September 2024</a:t>
                      </a:r>
                    </a:p>
                  </a:txBody>
                  <a:tcPr>
                    <a:lnL>
                      <a:noFill/>
                    </a:lnL>
                    <a:lnR>
                      <a:noFill/>
                    </a:lnR>
                    <a:lnT w="12700" cmpd="sng">
                      <a:noFill/>
                    </a:lnT>
                    <a:lnB w="12700" cmpd="sng">
                      <a:noFill/>
                    </a:lnB>
                    <a:lnTlToBr w="12700" cmpd="sng">
                      <a:noFill/>
                      <a:prstDash val="solid"/>
                    </a:lnTlToBr>
                    <a:lnBlToTr w="12700" cmpd="sng">
                      <a:noFill/>
                      <a:prstDash val="solid"/>
                    </a:lnBlToTr>
                    <a:solidFill>
                      <a:srgbClr val="286AB3"/>
                    </a:solidFill>
                  </a:tcPr>
                </a:tc>
                <a:extLst>
                  <a:ext uri="{0D108BD9-81ED-4DB2-BD59-A6C34878D82A}">
                    <a16:rowId xmlns:a16="http://schemas.microsoft.com/office/drawing/2014/main" val="2193435611"/>
                  </a:ext>
                </a:extLst>
              </a:tr>
            </a:tbl>
          </a:graphicData>
        </a:graphic>
      </p:graphicFrame>
      <p:sp>
        <p:nvSpPr>
          <p:cNvPr id="8" name="Date Placeholder 6">
            <a:extLst>
              <a:ext uri="{FF2B5EF4-FFF2-40B4-BE49-F238E27FC236}">
                <a16:creationId xmlns:a16="http://schemas.microsoft.com/office/drawing/2014/main" id="{DD4BE7E3-A7E1-DFA9-D911-C5F87EEE8AF5}"/>
              </a:ext>
            </a:extLst>
          </p:cNvPr>
          <p:cNvSpPr>
            <a:spLocks noGrp="1"/>
          </p:cNvSpPr>
          <p:nvPr>
            <p:ph type="dt" sz="half" idx="10"/>
          </p:nvPr>
        </p:nvSpPr>
        <p:spPr>
          <a:xfrm>
            <a:off x="44604" y="5915810"/>
            <a:ext cx="2876396" cy="412123"/>
          </a:xfrm>
          <a:ln>
            <a:noFill/>
          </a:ln>
        </p:spPr>
        <p:txBody>
          <a:bodyPr/>
          <a:lstStyle/>
          <a:p>
            <a:pPr algn="ctr"/>
            <a:r>
              <a:rPr lang="en-US" sz="20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September 2024</a:t>
            </a:r>
          </a:p>
        </p:txBody>
      </p:sp>
      <p:grpSp>
        <p:nvGrpSpPr>
          <p:cNvPr id="7" name="Group 12">
            <a:extLst>
              <a:ext uri="{FF2B5EF4-FFF2-40B4-BE49-F238E27FC236}">
                <a16:creationId xmlns:a16="http://schemas.microsoft.com/office/drawing/2014/main" id="{FB586724-E370-A63B-1F7B-F9DC5FF568CD}"/>
              </a:ext>
            </a:extLst>
          </p:cNvPr>
          <p:cNvGrpSpPr/>
          <p:nvPr/>
        </p:nvGrpSpPr>
        <p:grpSpPr>
          <a:xfrm>
            <a:off x="11538857" y="5828369"/>
            <a:ext cx="338772" cy="362537"/>
            <a:chOff x="0" y="0"/>
            <a:chExt cx="812800" cy="869819"/>
          </a:xfrm>
        </p:grpSpPr>
        <p:sp>
          <p:nvSpPr>
            <p:cNvPr id="11" name="Freeform 13">
              <a:extLst>
                <a:ext uri="{FF2B5EF4-FFF2-40B4-BE49-F238E27FC236}">
                  <a16:creationId xmlns:a16="http://schemas.microsoft.com/office/drawing/2014/main" id="{E67150DB-574B-A285-F54F-FF31EAE420B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sz="1200"/>
            </a:p>
          </p:txBody>
        </p:sp>
        <p:sp>
          <p:nvSpPr>
            <p:cNvPr id="12" name="TextBox 14">
              <a:extLst>
                <a:ext uri="{FF2B5EF4-FFF2-40B4-BE49-F238E27FC236}">
                  <a16:creationId xmlns:a16="http://schemas.microsoft.com/office/drawing/2014/main" id="{1EBDFB08-407A-EAFD-4170-06E766B52093}"/>
                </a:ext>
              </a:extLst>
            </p:cNvPr>
            <p:cNvSpPr txBox="1"/>
            <p:nvPr/>
          </p:nvSpPr>
          <p:spPr>
            <a:xfrm>
              <a:off x="76200" y="52970"/>
              <a:ext cx="660400" cy="735303"/>
            </a:xfrm>
            <a:prstGeom prst="rect">
              <a:avLst/>
            </a:prstGeom>
          </p:spPr>
          <p:txBody>
            <a:bodyPr lIns="33867" tIns="33867" rIns="33867" bIns="33867" rtlCol="0" anchor="ctr"/>
            <a:lstStyle/>
            <a:p>
              <a:pPr algn="ctr">
                <a:lnSpc>
                  <a:spcPts val="1587"/>
                </a:lnSpc>
                <a:spcBef>
                  <a:spcPct val="0"/>
                </a:spcBef>
              </a:pPr>
              <a:r>
                <a:rPr lang="en-US" sz="1133" dirty="0">
                  <a:solidFill>
                    <a:srgbClr val="191919"/>
                  </a:solidFill>
                  <a:latin typeface="Gotham"/>
                  <a:ea typeface="Gotham"/>
                  <a:cs typeface="Gotham"/>
                  <a:sym typeface="Gotham"/>
                </a:rPr>
                <a:t>10</a:t>
              </a:r>
            </a:p>
          </p:txBody>
        </p:sp>
      </p:grpSp>
      <p:pic>
        <p:nvPicPr>
          <p:cNvPr id="5" name="Picture 2">
            <a:extLst>
              <a:ext uri="{FF2B5EF4-FFF2-40B4-BE49-F238E27FC236}">
                <a16:creationId xmlns:a16="http://schemas.microsoft.com/office/drawing/2014/main" id="{8C6A5114-8364-C669-09BB-77BBCC2DA69D}"/>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a:stretch/>
        </p:blipFill>
        <p:spPr bwMode="auto">
          <a:xfrm>
            <a:off x="132734" y="443409"/>
            <a:ext cx="946917" cy="876158"/>
          </a:xfrm>
          <a:prstGeom prst="rect">
            <a:avLst/>
          </a:prstGeom>
          <a:noFill/>
          <a:ln w="9525">
            <a:noFill/>
            <a:miter lim="800000"/>
            <a:headEnd/>
            <a:tailEnd/>
          </a:ln>
          <a:effectLst/>
        </p:spPr>
      </p:pic>
      <p:pic>
        <p:nvPicPr>
          <p:cNvPr id="9" name="Picture 7">
            <a:extLst>
              <a:ext uri="{FF2B5EF4-FFF2-40B4-BE49-F238E27FC236}">
                <a16:creationId xmlns:a16="http://schemas.microsoft.com/office/drawing/2014/main" id="{3B89CFEA-D19F-5643-DFDD-DB400514C160}"/>
              </a:ext>
            </a:extLst>
          </p:cNvPr>
          <p:cNvPicPr>
            <a:picLocks noGrp="1" noRo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a:stretch/>
        </p:blipFill>
        <p:spPr bwMode="auto">
          <a:xfrm>
            <a:off x="10500850" y="654314"/>
            <a:ext cx="1493901" cy="665253"/>
          </a:xfrm>
          <a:prstGeom prst="rect">
            <a:avLst/>
          </a:prstGeom>
          <a:noFill/>
          <a:ln w="9525">
            <a:noFill/>
            <a:miter lim="800000"/>
            <a:headEnd/>
            <a:tailEnd/>
          </a:ln>
          <a:effectLst/>
        </p:spPr>
      </p:pic>
    </p:spTree>
    <p:extLst>
      <p:ext uri="{BB962C8B-B14F-4D97-AF65-F5344CB8AC3E}">
        <p14:creationId xmlns:p14="http://schemas.microsoft.com/office/powerpoint/2010/main" val="2996208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24EC04E-2235-07DF-F7EF-D447E28A3214}"/>
              </a:ext>
            </a:extLst>
          </p:cNvPr>
          <p:cNvGrpSpPr>
            <a:grpSpLocks noGrp="1" noUngrp="1" noRot="1" noMove="1" noResize="1"/>
          </p:cNvGrpSpPr>
          <p:nvPr/>
        </p:nvGrpSpPr>
        <p:grpSpPr>
          <a:xfrm>
            <a:off x="0" y="0"/>
            <a:ext cx="12192000" cy="625651"/>
            <a:chOff x="0" y="0"/>
            <a:chExt cx="12192000" cy="625651"/>
          </a:xfrm>
        </p:grpSpPr>
        <p:sp>
          <p:nvSpPr>
            <p:cNvPr id="15" name="Flowchart: Process 14">
              <a:extLst>
                <a:ext uri="{FF2B5EF4-FFF2-40B4-BE49-F238E27FC236}">
                  <a16:creationId xmlns:a16="http://schemas.microsoft.com/office/drawing/2014/main" id="{B6DDA543-B6B2-D125-A388-A2D190145AC7}"/>
                </a:ext>
              </a:extLst>
            </p:cNvPr>
            <p:cNvSpPr>
              <a:spLocks noGrp="1" noRot="1" noMove="1" noResize="1" noEditPoints="1" noAdjustHandles="1" noChangeArrowheads="1" noChangeShapeType="1"/>
            </p:cNvSpPr>
            <p:nvPr/>
          </p:nvSpPr>
          <p:spPr>
            <a:xfrm>
              <a:off x="0" y="0"/>
              <a:ext cx="12192000" cy="441885"/>
            </a:xfrm>
            <a:prstGeom prst="flowChartProcess">
              <a:avLst/>
            </a:prstGeom>
            <a:solidFill>
              <a:srgbClr val="FAA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Process 15">
              <a:extLst>
                <a:ext uri="{FF2B5EF4-FFF2-40B4-BE49-F238E27FC236}">
                  <a16:creationId xmlns:a16="http://schemas.microsoft.com/office/drawing/2014/main" id="{F916BCE6-A639-3541-4F25-5A338081D72C}"/>
                </a:ext>
              </a:extLst>
            </p:cNvPr>
            <p:cNvSpPr>
              <a:spLocks noGrp="1" noRot="1" noMove="1" noResize="1" noEditPoints="1" noAdjustHandles="1" noChangeArrowheads="1" noChangeShapeType="1"/>
            </p:cNvSpPr>
            <p:nvPr/>
          </p:nvSpPr>
          <p:spPr>
            <a:xfrm>
              <a:off x="7199086" y="441885"/>
              <a:ext cx="4992913" cy="183766"/>
            </a:xfrm>
            <a:prstGeom prst="flowChartProcess">
              <a:avLst/>
            </a:prstGeom>
            <a:solidFill>
              <a:srgbClr val="4544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Content Placeholder 11"/>
          <p:cNvSpPr>
            <a:spLocks noGrp="1"/>
          </p:cNvSpPr>
          <p:nvPr>
            <p:ph idx="1"/>
          </p:nvPr>
        </p:nvSpPr>
        <p:spPr>
          <a:xfrm>
            <a:off x="609600" y="2249424"/>
            <a:ext cx="10972800" cy="3453957"/>
          </a:xfrm>
        </p:spPr>
        <p:txBody>
          <a:bodyPr>
            <a:normAutofit/>
          </a:bodyPr>
          <a:lstStyle/>
          <a:p>
            <a:pPr>
              <a:buFont typeface="Arial" pitchFamily="34" charset="0"/>
              <a:buChar char="•"/>
              <a:defRPr/>
            </a:pPr>
            <a:endParaRPr lang="en-US" dirty="0">
              <a:solidFill>
                <a:schemeClr val="tx1"/>
              </a:solidFill>
              <a:latin typeface="Times New Roman" pitchFamily="18" charset="0"/>
              <a:cs typeface="Times New Roman" pitchFamily="18" charset="0"/>
            </a:endParaRPr>
          </a:p>
          <a:p>
            <a:pPr>
              <a:buFont typeface="Arial" pitchFamily="34" charset="0"/>
              <a:buChar char="•"/>
              <a:defRPr/>
            </a:pPr>
            <a:endParaRPr lang="en-US" dirty="0">
              <a:solidFill>
                <a:schemeClr val="tx1"/>
              </a:solidFill>
              <a:latin typeface="Times New Roman" pitchFamily="18" charset="0"/>
              <a:cs typeface="Times New Roman" pitchFamily="18" charset="0"/>
            </a:endParaRPr>
          </a:p>
          <a:p>
            <a:pPr>
              <a:buFont typeface="Arial" pitchFamily="34" charset="0"/>
              <a:buChar char="•"/>
              <a:defRPr/>
            </a:pPr>
            <a:endParaRPr lang="en-US" dirty="0">
              <a:solidFill>
                <a:schemeClr val="tx1"/>
              </a:solidFill>
              <a:latin typeface="Times New Roman" pitchFamily="18" charset="0"/>
              <a:cs typeface="Times New Roman" pitchFamily="18" charset="0"/>
            </a:endParaRPr>
          </a:p>
          <a:p>
            <a:pPr>
              <a:buFont typeface="Arial" pitchFamily="34" charset="0"/>
              <a:buChar char="•"/>
              <a:defRPr/>
            </a:pPr>
            <a:endParaRPr lang="en-US" dirty="0">
              <a:solidFill>
                <a:schemeClr val="tx1"/>
              </a:solidFill>
              <a:latin typeface="Times New Roman" pitchFamily="18" charset="0"/>
              <a:cs typeface="Times New Roman" pitchFamily="18" charset="0"/>
            </a:endParaRPr>
          </a:p>
          <a:p>
            <a:pPr>
              <a:buFont typeface="Arial" pitchFamily="34" charset="0"/>
              <a:buChar char="•"/>
              <a:defRPr/>
            </a:pPr>
            <a:endParaRPr lang="en-US" dirty="0">
              <a:solidFill>
                <a:schemeClr val="tx1"/>
              </a:solidFill>
              <a:latin typeface="Times New Roman" pitchFamily="18" charset="0"/>
              <a:cs typeface="Times New Roman" pitchFamily="18" charset="0"/>
            </a:endParaRPr>
          </a:p>
          <a:p>
            <a:pPr>
              <a:buFont typeface="Arial" pitchFamily="34" charset="0"/>
              <a:buChar char="•"/>
              <a:defRPr/>
            </a:pPr>
            <a:endParaRPr lang="en-US" dirty="0">
              <a:solidFill>
                <a:schemeClr val="tx1"/>
              </a:solidFill>
              <a:latin typeface="Times New Roman" pitchFamily="18" charset="0"/>
              <a:cs typeface="Times New Roman" pitchFamily="18" charset="0"/>
            </a:endParaRPr>
          </a:p>
          <a:p>
            <a:pPr>
              <a:buFont typeface="Arial" pitchFamily="34" charset="0"/>
              <a:buChar char="•"/>
              <a:defRPr/>
            </a:pPr>
            <a:endParaRPr lang="en-US" dirty="0">
              <a:solidFill>
                <a:schemeClr val="tx1"/>
              </a:solidFill>
              <a:latin typeface="Times New Roman" pitchFamily="18" charset="0"/>
              <a:cs typeface="Times New Roman" pitchFamily="18" charset="0"/>
            </a:endParaRPr>
          </a:p>
          <a:p>
            <a:endParaRPr lang="en-US" dirty="0"/>
          </a:p>
        </p:txBody>
      </p:sp>
      <p:pic>
        <p:nvPicPr>
          <p:cNvPr id="3" name="Picture 2">
            <a:extLst>
              <a:ext uri="{FF2B5EF4-FFF2-40B4-BE49-F238E27FC236}">
                <a16:creationId xmlns:a16="http://schemas.microsoft.com/office/drawing/2014/main" id="{A3B236BD-4951-71CA-AFC7-67D090224820}"/>
              </a:ext>
            </a:extLst>
          </p:cNvPr>
          <p:cNvPicPr>
            <a:picLocks noChangeAspect="1"/>
          </p:cNvPicPr>
          <p:nvPr/>
        </p:nvPicPr>
        <p:blipFill>
          <a:blip r:embed="rId3"/>
          <a:stretch>
            <a:fillRect/>
          </a:stretch>
        </p:blipFill>
        <p:spPr>
          <a:xfrm>
            <a:off x="44604" y="6327933"/>
            <a:ext cx="12102790" cy="524107"/>
          </a:xfrm>
          <a:prstGeom prst="rect">
            <a:avLst/>
          </a:prstGeom>
        </p:spPr>
      </p:pic>
      <p:sp>
        <p:nvSpPr>
          <p:cNvPr id="2" name="Title 12"/>
          <p:cNvSpPr txBox="1">
            <a:spLocks/>
          </p:cNvSpPr>
          <p:nvPr/>
        </p:nvSpPr>
        <p:spPr>
          <a:xfrm>
            <a:off x="1839924" y="2201500"/>
            <a:ext cx="7880272" cy="2372106"/>
          </a:xfrm>
          <a:prstGeom prst="rect">
            <a:avLst/>
          </a:prstGeom>
        </p:spPr>
        <p:txBody>
          <a:bodyPr vert="horz" anchor="ctr">
            <a:normAutofit fontScale="97500"/>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10700" b="1" dirty="0">
                <a:solidFill>
                  <a:srgbClr val="002060"/>
                </a:solidFill>
                <a:effectLst>
                  <a:outerShdw blurRad="38100" dist="38100" dir="2700000" algn="tl">
                    <a:srgbClr val="000000">
                      <a:alpha val="43137"/>
                    </a:srgbClr>
                  </a:outerShdw>
                </a:effectLst>
                <a:latin typeface="Edwardian Script ITC" pitchFamily="66" charset="0"/>
              </a:rPr>
              <a:t>Thank You !</a:t>
            </a:r>
          </a:p>
        </p:txBody>
      </p:sp>
      <p:graphicFrame>
        <p:nvGraphicFramePr>
          <p:cNvPr id="4" name="Table 3">
            <a:extLst>
              <a:ext uri="{FF2B5EF4-FFF2-40B4-BE49-F238E27FC236}">
                <a16:creationId xmlns:a16="http://schemas.microsoft.com/office/drawing/2014/main" id="{AC2A217B-B757-7B93-E925-CC67C7A08DA7}"/>
              </a:ext>
            </a:extLst>
          </p:cNvPr>
          <p:cNvGraphicFramePr>
            <a:graphicFrameLocks noGrp="1" noDrilldown="1" noMove="1" noResize="1"/>
          </p:cNvGraphicFramePr>
          <p:nvPr>
            <p:extLst>
              <p:ext uri="{D42A27DB-BD31-4B8C-83A1-F6EECF244321}">
                <p14:modId xmlns:p14="http://schemas.microsoft.com/office/powerpoint/2010/main" val="451006202"/>
              </p:ext>
            </p:extLst>
          </p:nvPr>
        </p:nvGraphicFramePr>
        <p:xfrm>
          <a:off x="44604" y="6330906"/>
          <a:ext cx="12102790" cy="579120"/>
        </p:xfrm>
        <a:graphic>
          <a:graphicData uri="http://schemas.openxmlformats.org/drawingml/2006/table">
            <a:tbl>
              <a:tblPr firstRow="1" bandRow="1">
                <a:tableStyleId>{3B4B98B0-60AC-42C2-AFA5-B58CD77FA1E5}</a:tableStyleId>
              </a:tblPr>
              <a:tblGrid>
                <a:gridCol w="12102790">
                  <a:extLst>
                    <a:ext uri="{9D8B030D-6E8A-4147-A177-3AD203B41FA5}">
                      <a16:colId xmlns:a16="http://schemas.microsoft.com/office/drawing/2014/main" val="3674735876"/>
                    </a:ext>
                  </a:extLst>
                </a:gridCol>
              </a:tblGrid>
              <a:tr h="524108">
                <a:tc>
                  <a:txBody>
                    <a:bodyPr/>
                    <a:lstStyle/>
                    <a:p>
                      <a:pPr algn="ctr"/>
                      <a:r>
                        <a:rPr lang="en-US" sz="1600" dirty="0">
                          <a:solidFill>
                            <a:schemeClr val="bg1"/>
                          </a:solidFill>
                          <a:latin typeface="Helvetica" pitchFamily="2" charset="0"/>
                        </a:rPr>
                        <a:t>CUET IT Business Incubator, Chattogram, Bangladesh</a:t>
                      </a:r>
                    </a:p>
                    <a:p>
                      <a:pPr algn="ctr"/>
                      <a:r>
                        <a:rPr lang="en-US" sz="1600" dirty="0">
                          <a:solidFill>
                            <a:schemeClr val="bg1"/>
                          </a:solidFill>
                          <a:latin typeface="Helvetica" pitchFamily="2" charset="0"/>
                        </a:rPr>
                        <a:t>25</a:t>
                      </a:r>
                      <a:r>
                        <a:rPr lang="en-US" sz="1600" baseline="30000" dirty="0">
                          <a:solidFill>
                            <a:schemeClr val="bg1"/>
                          </a:solidFill>
                          <a:latin typeface="Helvetica" pitchFamily="2" charset="0"/>
                        </a:rPr>
                        <a:t>th</a:t>
                      </a:r>
                      <a:r>
                        <a:rPr lang="en-US" sz="1600" dirty="0">
                          <a:solidFill>
                            <a:schemeClr val="bg1"/>
                          </a:solidFill>
                          <a:latin typeface="Helvetica" pitchFamily="2" charset="0"/>
                        </a:rPr>
                        <a:t> &amp; 26</a:t>
                      </a:r>
                      <a:r>
                        <a:rPr lang="en-US" sz="1600" baseline="30000" dirty="0">
                          <a:solidFill>
                            <a:schemeClr val="bg1"/>
                          </a:solidFill>
                          <a:latin typeface="Helvetica" pitchFamily="2" charset="0"/>
                        </a:rPr>
                        <a:t>th</a:t>
                      </a:r>
                      <a:r>
                        <a:rPr lang="en-US" sz="1600" dirty="0">
                          <a:solidFill>
                            <a:schemeClr val="bg1"/>
                          </a:solidFill>
                          <a:latin typeface="Helvetica" pitchFamily="2" charset="0"/>
                        </a:rPr>
                        <a:t> September 2024</a:t>
                      </a:r>
                    </a:p>
                  </a:txBody>
                  <a:tcPr>
                    <a:lnL>
                      <a:noFill/>
                    </a:lnL>
                    <a:lnR>
                      <a:noFill/>
                    </a:lnR>
                    <a:lnT w="12700" cmpd="sng">
                      <a:noFill/>
                    </a:lnT>
                    <a:lnB w="12700" cmpd="sng">
                      <a:noFill/>
                    </a:lnB>
                    <a:lnTlToBr w="12700" cmpd="sng">
                      <a:noFill/>
                      <a:prstDash val="solid"/>
                    </a:lnTlToBr>
                    <a:lnBlToTr w="12700" cmpd="sng">
                      <a:noFill/>
                      <a:prstDash val="solid"/>
                    </a:lnBlToTr>
                    <a:solidFill>
                      <a:srgbClr val="286AB3"/>
                    </a:solidFill>
                  </a:tcPr>
                </a:tc>
                <a:extLst>
                  <a:ext uri="{0D108BD9-81ED-4DB2-BD59-A6C34878D82A}">
                    <a16:rowId xmlns:a16="http://schemas.microsoft.com/office/drawing/2014/main" val="2193435611"/>
                  </a:ext>
                </a:extLst>
              </a:tr>
            </a:tbl>
          </a:graphicData>
        </a:graphic>
      </p:graphicFrame>
      <p:sp>
        <p:nvSpPr>
          <p:cNvPr id="17" name="Date Placeholder 6">
            <a:extLst>
              <a:ext uri="{FF2B5EF4-FFF2-40B4-BE49-F238E27FC236}">
                <a16:creationId xmlns:a16="http://schemas.microsoft.com/office/drawing/2014/main" id="{CA1743BE-6884-F4E1-51CB-FF0AD4E3C08B}"/>
              </a:ext>
            </a:extLst>
          </p:cNvPr>
          <p:cNvSpPr>
            <a:spLocks noGrp="1"/>
          </p:cNvSpPr>
          <p:nvPr>
            <p:ph type="dt" sz="half" idx="10"/>
          </p:nvPr>
        </p:nvSpPr>
        <p:spPr>
          <a:xfrm>
            <a:off x="44604" y="5915810"/>
            <a:ext cx="2876396" cy="412123"/>
          </a:xfrm>
          <a:ln>
            <a:noFill/>
          </a:ln>
        </p:spPr>
        <p:txBody>
          <a:bodyPr/>
          <a:lstStyle/>
          <a:p>
            <a:pPr algn="ctr"/>
            <a:r>
              <a:rPr lang="en-US" sz="20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September 2024</a:t>
            </a:r>
          </a:p>
        </p:txBody>
      </p:sp>
      <p:pic>
        <p:nvPicPr>
          <p:cNvPr id="6" name="Picture 2">
            <a:extLst>
              <a:ext uri="{FF2B5EF4-FFF2-40B4-BE49-F238E27FC236}">
                <a16:creationId xmlns:a16="http://schemas.microsoft.com/office/drawing/2014/main" id="{498DDC10-5AD2-91A9-51F2-486C744C2F93}"/>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a:stretch/>
        </p:blipFill>
        <p:spPr bwMode="auto">
          <a:xfrm>
            <a:off x="132734" y="443409"/>
            <a:ext cx="946917" cy="876158"/>
          </a:xfrm>
          <a:prstGeom prst="rect">
            <a:avLst/>
          </a:prstGeom>
          <a:noFill/>
          <a:ln w="9525">
            <a:noFill/>
            <a:miter lim="800000"/>
            <a:headEnd/>
            <a:tailEnd/>
          </a:ln>
          <a:effectLst/>
        </p:spPr>
      </p:pic>
      <p:pic>
        <p:nvPicPr>
          <p:cNvPr id="9" name="Picture 7">
            <a:extLst>
              <a:ext uri="{FF2B5EF4-FFF2-40B4-BE49-F238E27FC236}">
                <a16:creationId xmlns:a16="http://schemas.microsoft.com/office/drawing/2014/main" id="{5DC7DD5F-2E5C-2481-76B1-68D6D4DC9B91}"/>
              </a:ext>
            </a:extLst>
          </p:cNvPr>
          <p:cNvPicPr>
            <a:picLocks noGrp="1" noRo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a:stretch/>
        </p:blipFill>
        <p:spPr bwMode="auto">
          <a:xfrm>
            <a:off x="10500850" y="654314"/>
            <a:ext cx="1493901" cy="665253"/>
          </a:xfrm>
          <a:prstGeom prst="rect">
            <a:avLst/>
          </a:prstGeom>
          <a:noFill/>
          <a:ln w="9525">
            <a:noFill/>
            <a:miter lim="800000"/>
            <a:headEnd/>
            <a:tailEnd/>
          </a:ln>
          <a:effectLst/>
        </p:spPr>
      </p:pic>
    </p:spTree>
    <p:extLst>
      <p:ext uri="{BB962C8B-B14F-4D97-AF65-F5344CB8AC3E}">
        <p14:creationId xmlns:p14="http://schemas.microsoft.com/office/powerpoint/2010/main" val="1839429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2DA7-15D7-929B-B18C-B739281E2C34}"/>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09C1726B-245D-39F7-3BB9-1A4CADC22891}"/>
              </a:ext>
            </a:extLst>
          </p:cNvPr>
          <p:cNvGrpSpPr>
            <a:grpSpLocks noGrp="1" noUngrp="1" noRot="1" noMove="1" noResize="1"/>
          </p:cNvGrpSpPr>
          <p:nvPr/>
        </p:nvGrpSpPr>
        <p:grpSpPr>
          <a:xfrm>
            <a:off x="0" y="0"/>
            <a:ext cx="12192000" cy="625651"/>
            <a:chOff x="0" y="0"/>
            <a:chExt cx="12192000" cy="625651"/>
          </a:xfrm>
        </p:grpSpPr>
        <p:sp>
          <p:nvSpPr>
            <p:cNvPr id="15" name="Flowchart: Process 14">
              <a:extLst>
                <a:ext uri="{FF2B5EF4-FFF2-40B4-BE49-F238E27FC236}">
                  <a16:creationId xmlns:a16="http://schemas.microsoft.com/office/drawing/2014/main" id="{A745BFDD-276D-519B-8823-08B9DEDE4322}"/>
                </a:ext>
              </a:extLst>
            </p:cNvPr>
            <p:cNvSpPr>
              <a:spLocks noGrp="1" noRot="1" noMove="1" noResize="1" noEditPoints="1" noAdjustHandles="1" noChangeArrowheads="1" noChangeShapeType="1"/>
            </p:cNvSpPr>
            <p:nvPr/>
          </p:nvSpPr>
          <p:spPr>
            <a:xfrm>
              <a:off x="0" y="0"/>
              <a:ext cx="12192000" cy="441885"/>
            </a:xfrm>
            <a:prstGeom prst="flowChartProcess">
              <a:avLst/>
            </a:prstGeom>
            <a:solidFill>
              <a:srgbClr val="FAA4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Process 15">
              <a:extLst>
                <a:ext uri="{FF2B5EF4-FFF2-40B4-BE49-F238E27FC236}">
                  <a16:creationId xmlns:a16="http://schemas.microsoft.com/office/drawing/2014/main" id="{0033DF3D-B1D0-ED88-6E35-CD0AF2357D56}"/>
                </a:ext>
              </a:extLst>
            </p:cNvPr>
            <p:cNvSpPr>
              <a:spLocks noGrp="1" noRot="1" noMove="1" noResize="1" noEditPoints="1" noAdjustHandles="1" noChangeArrowheads="1" noChangeShapeType="1"/>
            </p:cNvSpPr>
            <p:nvPr/>
          </p:nvSpPr>
          <p:spPr>
            <a:xfrm>
              <a:off x="7199086" y="441885"/>
              <a:ext cx="4992913" cy="183766"/>
            </a:xfrm>
            <a:prstGeom prst="flowChartProcess">
              <a:avLst/>
            </a:prstGeom>
            <a:solidFill>
              <a:srgbClr val="4544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Content Placeholder 11">
            <a:extLst>
              <a:ext uri="{FF2B5EF4-FFF2-40B4-BE49-F238E27FC236}">
                <a16:creationId xmlns:a16="http://schemas.microsoft.com/office/drawing/2014/main" id="{B50EEDF7-70CE-6981-3916-EEAF9D816F88}"/>
              </a:ext>
            </a:extLst>
          </p:cNvPr>
          <p:cNvSpPr>
            <a:spLocks noGrp="1"/>
          </p:cNvSpPr>
          <p:nvPr>
            <p:ph idx="1"/>
          </p:nvPr>
        </p:nvSpPr>
        <p:spPr>
          <a:xfrm>
            <a:off x="609600" y="2249424"/>
            <a:ext cx="10972800" cy="3453957"/>
          </a:xfrm>
        </p:spPr>
        <p:txBody>
          <a:bodyPr>
            <a:normAutofit/>
          </a:bodyPr>
          <a:lstStyle/>
          <a:p>
            <a:pPr>
              <a:buFont typeface="Arial" pitchFamily="34" charset="0"/>
              <a:buChar char="•"/>
              <a:defRPr/>
            </a:pPr>
            <a:endParaRPr lang="en-US" dirty="0">
              <a:solidFill>
                <a:schemeClr val="tx1"/>
              </a:solidFill>
              <a:latin typeface="Times New Roman" pitchFamily="18" charset="0"/>
              <a:cs typeface="Times New Roman" pitchFamily="18" charset="0"/>
            </a:endParaRPr>
          </a:p>
          <a:p>
            <a:pPr>
              <a:buFont typeface="Arial" pitchFamily="34" charset="0"/>
              <a:buChar char="•"/>
              <a:defRPr/>
            </a:pPr>
            <a:endParaRPr lang="en-US" dirty="0">
              <a:solidFill>
                <a:schemeClr val="tx1"/>
              </a:solidFill>
              <a:latin typeface="Times New Roman" pitchFamily="18" charset="0"/>
              <a:cs typeface="Times New Roman" pitchFamily="18" charset="0"/>
            </a:endParaRPr>
          </a:p>
          <a:p>
            <a:pPr>
              <a:buFont typeface="Arial" pitchFamily="34" charset="0"/>
              <a:buChar char="•"/>
              <a:defRPr/>
            </a:pPr>
            <a:endParaRPr lang="en-US" sz="8800" b="1" dirty="0">
              <a:solidFill>
                <a:srgbClr val="002060"/>
              </a:solidFill>
              <a:effectLst>
                <a:outerShdw blurRad="38100" dist="38100" dir="2700000" algn="tl">
                  <a:srgbClr val="000000">
                    <a:alpha val="43137"/>
                  </a:srgbClr>
                </a:outerShdw>
              </a:effectLst>
              <a:latin typeface="Kalpurush" panose="02000600000000000000" pitchFamily="2" charset="0"/>
              <a:ea typeface="+mj-ea"/>
              <a:cs typeface="Kalpurush" panose="02000600000000000000" pitchFamily="2" charset="0"/>
            </a:endParaRPr>
          </a:p>
          <a:p>
            <a:pPr>
              <a:buFont typeface="Arial" pitchFamily="34" charset="0"/>
              <a:buChar char="•"/>
              <a:defRPr/>
            </a:pPr>
            <a:endParaRPr lang="en-US" dirty="0">
              <a:solidFill>
                <a:schemeClr val="tx1"/>
              </a:solidFill>
              <a:latin typeface="Times New Roman" pitchFamily="18" charset="0"/>
              <a:cs typeface="Times New Roman" pitchFamily="18" charset="0"/>
            </a:endParaRPr>
          </a:p>
          <a:p>
            <a:pPr>
              <a:buFont typeface="Arial" pitchFamily="34" charset="0"/>
              <a:buChar char="•"/>
              <a:defRPr/>
            </a:pPr>
            <a:endParaRPr lang="en-US" dirty="0">
              <a:solidFill>
                <a:schemeClr val="tx1"/>
              </a:solidFill>
              <a:latin typeface="Times New Roman" pitchFamily="18" charset="0"/>
              <a:cs typeface="Times New Roman" pitchFamily="18" charset="0"/>
            </a:endParaRPr>
          </a:p>
          <a:p>
            <a:pPr>
              <a:buFont typeface="Arial" pitchFamily="34" charset="0"/>
              <a:buChar char="•"/>
              <a:defRPr/>
            </a:pPr>
            <a:endParaRPr lang="en-US" dirty="0">
              <a:solidFill>
                <a:schemeClr val="tx1"/>
              </a:solidFill>
              <a:latin typeface="Times New Roman" pitchFamily="18" charset="0"/>
              <a:cs typeface="Times New Roman" pitchFamily="18" charset="0"/>
            </a:endParaRPr>
          </a:p>
          <a:p>
            <a:pPr>
              <a:buFont typeface="Arial" pitchFamily="34" charset="0"/>
              <a:buChar char="•"/>
              <a:defRPr/>
            </a:pPr>
            <a:endParaRPr lang="en-US" dirty="0">
              <a:solidFill>
                <a:schemeClr val="tx1"/>
              </a:solidFill>
              <a:latin typeface="Times New Roman" pitchFamily="18" charset="0"/>
              <a:cs typeface="Times New Roman" pitchFamily="18" charset="0"/>
            </a:endParaRPr>
          </a:p>
          <a:p>
            <a:endParaRPr lang="en-US" dirty="0"/>
          </a:p>
        </p:txBody>
      </p:sp>
      <p:pic>
        <p:nvPicPr>
          <p:cNvPr id="3" name="Picture 2">
            <a:extLst>
              <a:ext uri="{FF2B5EF4-FFF2-40B4-BE49-F238E27FC236}">
                <a16:creationId xmlns:a16="http://schemas.microsoft.com/office/drawing/2014/main" id="{3E89ED13-80C9-2C41-913B-B3785FA69F09}"/>
              </a:ext>
            </a:extLst>
          </p:cNvPr>
          <p:cNvPicPr>
            <a:picLocks noChangeAspect="1"/>
          </p:cNvPicPr>
          <p:nvPr/>
        </p:nvPicPr>
        <p:blipFill>
          <a:blip r:embed="rId3"/>
          <a:stretch>
            <a:fillRect/>
          </a:stretch>
        </p:blipFill>
        <p:spPr>
          <a:xfrm>
            <a:off x="44604" y="6327933"/>
            <a:ext cx="12102790" cy="524107"/>
          </a:xfrm>
          <a:prstGeom prst="rect">
            <a:avLst/>
          </a:prstGeom>
        </p:spPr>
      </p:pic>
      <p:sp>
        <p:nvSpPr>
          <p:cNvPr id="2" name="Title 12">
            <a:extLst>
              <a:ext uri="{FF2B5EF4-FFF2-40B4-BE49-F238E27FC236}">
                <a16:creationId xmlns:a16="http://schemas.microsoft.com/office/drawing/2014/main" id="{204CA7F7-898E-40DC-F8F3-C11EB983021B}"/>
              </a:ext>
            </a:extLst>
          </p:cNvPr>
          <p:cNvSpPr txBox="1">
            <a:spLocks/>
          </p:cNvSpPr>
          <p:nvPr/>
        </p:nvSpPr>
        <p:spPr>
          <a:xfrm>
            <a:off x="1839924" y="2201500"/>
            <a:ext cx="7880272" cy="2372106"/>
          </a:xfrm>
          <a:prstGeom prst="rect">
            <a:avLst/>
          </a:prstGeom>
        </p:spPr>
        <p:txBody>
          <a:bodyPr vert="horz" anchor="ctr">
            <a:normAutofit fontScale="97500"/>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10400" b="1" dirty="0">
                <a:solidFill>
                  <a:srgbClr val="002060"/>
                </a:solidFill>
                <a:effectLst>
                  <a:outerShdw blurRad="38100" dist="38100" dir="2700000" algn="tl">
                    <a:srgbClr val="000000">
                      <a:alpha val="43137"/>
                    </a:srgbClr>
                  </a:outerShdw>
                </a:effectLst>
                <a:latin typeface="Edwardian Script ITC" pitchFamily="66" charset="0"/>
              </a:rPr>
              <a:t>Any Question !</a:t>
            </a:r>
          </a:p>
        </p:txBody>
      </p:sp>
      <p:graphicFrame>
        <p:nvGraphicFramePr>
          <p:cNvPr id="4" name="Table 3">
            <a:extLst>
              <a:ext uri="{FF2B5EF4-FFF2-40B4-BE49-F238E27FC236}">
                <a16:creationId xmlns:a16="http://schemas.microsoft.com/office/drawing/2014/main" id="{AB50E146-B1AF-0BA9-8CF2-B2671DE4F67C}"/>
              </a:ext>
            </a:extLst>
          </p:cNvPr>
          <p:cNvGraphicFramePr>
            <a:graphicFrameLocks noGrp="1" noDrilldown="1" noMove="1" noResize="1"/>
          </p:cNvGraphicFramePr>
          <p:nvPr/>
        </p:nvGraphicFramePr>
        <p:xfrm>
          <a:off x="44604" y="6330906"/>
          <a:ext cx="12102790" cy="579120"/>
        </p:xfrm>
        <a:graphic>
          <a:graphicData uri="http://schemas.openxmlformats.org/drawingml/2006/table">
            <a:tbl>
              <a:tblPr firstRow="1" bandRow="1">
                <a:tableStyleId>{3B4B98B0-60AC-42C2-AFA5-B58CD77FA1E5}</a:tableStyleId>
              </a:tblPr>
              <a:tblGrid>
                <a:gridCol w="12102790">
                  <a:extLst>
                    <a:ext uri="{9D8B030D-6E8A-4147-A177-3AD203B41FA5}">
                      <a16:colId xmlns:a16="http://schemas.microsoft.com/office/drawing/2014/main" val="3674735876"/>
                    </a:ext>
                  </a:extLst>
                </a:gridCol>
              </a:tblGrid>
              <a:tr h="524108">
                <a:tc>
                  <a:txBody>
                    <a:bodyPr/>
                    <a:lstStyle/>
                    <a:p>
                      <a:pPr algn="ctr"/>
                      <a:r>
                        <a:rPr lang="en-US" sz="1600" dirty="0">
                          <a:solidFill>
                            <a:schemeClr val="bg1"/>
                          </a:solidFill>
                          <a:latin typeface="Helvetica" pitchFamily="2" charset="0"/>
                        </a:rPr>
                        <a:t>CUET IT Business Incubator, Chattogram, Bangladesh</a:t>
                      </a:r>
                    </a:p>
                    <a:p>
                      <a:pPr algn="ctr"/>
                      <a:r>
                        <a:rPr lang="en-US" sz="1600" dirty="0">
                          <a:solidFill>
                            <a:schemeClr val="bg1"/>
                          </a:solidFill>
                          <a:latin typeface="Helvetica" pitchFamily="2" charset="0"/>
                        </a:rPr>
                        <a:t>25</a:t>
                      </a:r>
                      <a:r>
                        <a:rPr lang="en-US" sz="1600" baseline="30000" dirty="0">
                          <a:solidFill>
                            <a:schemeClr val="bg1"/>
                          </a:solidFill>
                          <a:latin typeface="Helvetica" pitchFamily="2" charset="0"/>
                        </a:rPr>
                        <a:t>th</a:t>
                      </a:r>
                      <a:r>
                        <a:rPr lang="en-US" sz="1600" dirty="0">
                          <a:solidFill>
                            <a:schemeClr val="bg1"/>
                          </a:solidFill>
                          <a:latin typeface="Helvetica" pitchFamily="2" charset="0"/>
                        </a:rPr>
                        <a:t> &amp; 26</a:t>
                      </a:r>
                      <a:r>
                        <a:rPr lang="en-US" sz="1600" baseline="30000" dirty="0">
                          <a:solidFill>
                            <a:schemeClr val="bg1"/>
                          </a:solidFill>
                          <a:latin typeface="Helvetica" pitchFamily="2" charset="0"/>
                        </a:rPr>
                        <a:t>th</a:t>
                      </a:r>
                      <a:r>
                        <a:rPr lang="en-US" sz="1600" dirty="0">
                          <a:solidFill>
                            <a:schemeClr val="bg1"/>
                          </a:solidFill>
                          <a:latin typeface="Helvetica" pitchFamily="2" charset="0"/>
                        </a:rPr>
                        <a:t> September 2024</a:t>
                      </a:r>
                    </a:p>
                  </a:txBody>
                  <a:tcPr>
                    <a:lnL>
                      <a:noFill/>
                    </a:lnL>
                    <a:lnR>
                      <a:noFill/>
                    </a:lnR>
                    <a:lnT w="12700" cmpd="sng">
                      <a:noFill/>
                    </a:lnT>
                    <a:lnB w="12700" cmpd="sng">
                      <a:noFill/>
                    </a:lnB>
                    <a:lnTlToBr w="12700" cmpd="sng">
                      <a:noFill/>
                      <a:prstDash val="solid"/>
                    </a:lnTlToBr>
                    <a:lnBlToTr w="12700" cmpd="sng">
                      <a:noFill/>
                      <a:prstDash val="solid"/>
                    </a:lnBlToTr>
                    <a:solidFill>
                      <a:srgbClr val="286AB3"/>
                    </a:solidFill>
                  </a:tcPr>
                </a:tc>
                <a:extLst>
                  <a:ext uri="{0D108BD9-81ED-4DB2-BD59-A6C34878D82A}">
                    <a16:rowId xmlns:a16="http://schemas.microsoft.com/office/drawing/2014/main" val="2193435611"/>
                  </a:ext>
                </a:extLst>
              </a:tr>
            </a:tbl>
          </a:graphicData>
        </a:graphic>
      </p:graphicFrame>
      <p:sp>
        <p:nvSpPr>
          <p:cNvPr id="17" name="Date Placeholder 6">
            <a:extLst>
              <a:ext uri="{FF2B5EF4-FFF2-40B4-BE49-F238E27FC236}">
                <a16:creationId xmlns:a16="http://schemas.microsoft.com/office/drawing/2014/main" id="{5F551B1B-F272-A151-F4DD-69F125AE4FE6}"/>
              </a:ext>
            </a:extLst>
          </p:cNvPr>
          <p:cNvSpPr>
            <a:spLocks noGrp="1"/>
          </p:cNvSpPr>
          <p:nvPr>
            <p:ph type="dt" sz="half" idx="10"/>
          </p:nvPr>
        </p:nvSpPr>
        <p:spPr>
          <a:xfrm>
            <a:off x="44604" y="5915810"/>
            <a:ext cx="2876396" cy="412123"/>
          </a:xfrm>
          <a:ln>
            <a:noFill/>
          </a:ln>
        </p:spPr>
        <p:txBody>
          <a:bodyPr/>
          <a:lstStyle/>
          <a:p>
            <a:pPr algn="ctr"/>
            <a:r>
              <a:rPr lang="en-US" sz="20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September 2024</a:t>
            </a:r>
          </a:p>
        </p:txBody>
      </p:sp>
      <p:pic>
        <p:nvPicPr>
          <p:cNvPr id="6" name="Picture 2">
            <a:extLst>
              <a:ext uri="{FF2B5EF4-FFF2-40B4-BE49-F238E27FC236}">
                <a16:creationId xmlns:a16="http://schemas.microsoft.com/office/drawing/2014/main" id="{2DABCD9F-490A-3D92-B9F4-75460CCC33B3}"/>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a:stretch/>
        </p:blipFill>
        <p:spPr bwMode="auto">
          <a:xfrm>
            <a:off x="132734" y="443409"/>
            <a:ext cx="946917" cy="876158"/>
          </a:xfrm>
          <a:prstGeom prst="rect">
            <a:avLst/>
          </a:prstGeom>
          <a:noFill/>
          <a:ln w="9525">
            <a:noFill/>
            <a:miter lim="800000"/>
            <a:headEnd/>
            <a:tailEnd/>
          </a:ln>
          <a:effectLst/>
        </p:spPr>
      </p:pic>
      <p:pic>
        <p:nvPicPr>
          <p:cNvPr id="9" name="Picture 7">
            <a:extLst>
              <a:ext uri="{FF2B5EF4-FFF2-40B4-BE49-F238E27FC236}">
                <a16:creationId xmlns:a16="http://schemas.microsoft.com/office/drawing/2014/main" id="{57E6ACF6-B383-3B57-737D-73220256F3AF}"/>
              </a:ext>
            </a:extLst>
          </p:cNvPr>
          <p:cNvPicPr>
            <a:picLocks noGrp="1" noRo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a:stretch/>
        </p:blipFill>
        <p:spPr bwMode="auto">
          <a:xfrm>
            <a:off x="10500850" y="654314"/>
            <a:ext cx="1493901" cy="665253"/>
          </a:xfrm>
          <a:prstGeom prst="rect">
            <a:avLst/>
          </a:prstGeom>
          <a:noFill/>
          <a:ln w="9525">
            <a:noFill/>
            <a:miter lim="800000"/>
            <a:headEnd/>
            <a:tailEnd/>
          </a:ln>
          <a:effectLst/>
        </p:spPr>
      </p:pic>
    </p:spTree>
    <p:extLst>
      <p:ext uri="{BB962C8B-B14F-4D97-AF65-F5344CB8AC3E}">
        <p14:creationId xmlns:p14="http://schemas.microsoft.com/office/powerpoint/2010/main" val="375282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f03460604_win32">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Training presentation.potx" id="{7B9FCAFE-DDE5-4198-9987-54DFCAD80598}" vid="{6015A8B0-C387-4E39-945C-0F39E3EB10B6}"/>
    </a:ext>
  </a:extLst>
</a:theme>
</file>

<file path=ppt/theme/theme2.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tf03460604_win32</Template>
  <TotalTime>1729</TotalTime>
  <Words>1576</Words>
  <Application>Microsoft Office PowerPoint</Application>
  <PresentationFormat>Widescreen</PresentationFormat>
  <Paragraphs>236</Paragraphs>
  <Slides>13</Slides>
  <Notes>12</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13</vt:i4>
      </vt:variant>
    </vt:vector>
  </HeadingPairs>
  <TitlesOfParts>
    <vt:vector size="28" baseType="lpstr">
      <vt:lpstr>Arial</vt:lpstr>
      <vt:lpstr>Bahnschrift</vt:lpstr>
      <vt:lpstr>Baskerville Old Face</vt:lpstr>
      <vt:lpstr>Calibri</vt:lpstr>
      <vt:lpstr>Edwardian Script ITC</vt:lpstr>
      <vt:lpstr>Garamond</vt:lpstr>
      <vt:lpstr>Georgia</vt:lpstr>
      <vt:lpstr>Gotham</vt:lpstr>
      <vt:lpstr>Helvetica</vt:lpstr>
      <vt:lpstr>Kalpurush</vt:lpstr>
      <vt:lpstr>Poppins</vt:lpstr>
      <vt:lpstr>Times New Roman</vt:lpstr>
      <vt:lpstr>Wingdings</vt:lpstr>
      <vt:lpstr>Wingdings 2</vt:lpstr>
      <vt:lpstr>tf03460604_win32</vt:lpstr>
      <vt:lpstr>PowerPoint Presentation</vt:lpstr>
      <vt:lpstr>Outline of Presentation</vt:lpstr>
      <vt:lpstr>Abstract</vt:lpstr>
      <vt:lpstr>Introduction </vt:lpstr>
      <vt:lpstr>Literature Review </vt:lpstr>
      <vt:lpstr>Methodology</vt:lpstr>
      <vt:lpstr>PowerPoint Presentation</vt:lpstr>
      <vt:lpstr>Result and Discussion </vt:lpstr>
      <vt:lpstr>Result and Discussion </vt:lpstr>
      <vt:lpstr>Conclusion</vt:lpstr>
      <vt:lpstr>Reference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Training Presentation</dc:title>
  <dc:creator>joo</dc:creator>
  <cp:lastModifiedBy>DCL</cp:lastModifiedBy>
  <cp:revision>57</cp:revision>
  <dcterms:created xsi:type="dcterms:W3CDTF">2021-03-30T06:05:31Z</dcterms:created>
  <dcterms:modified xsi:type="dcterms:W3CDTF">2024-09-24T14:08:03Z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